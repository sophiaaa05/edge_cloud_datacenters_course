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</p:sldMasterIdLst>
  <p:notesMasterIdLst>
    <p:notesMasterId r:id="rId77"/>
  </p:notesMasterIdLst>
  <p:handoutMasterIdLst>
    <p:handoutMasterId r:id="rId78"/>
  </p:handoutMasterIdLst>
  <p:sldIdLst>
    <p:sldId id="300" r:id="rId3"/>
    <p:sldId id="383" r:id="rId4"/>
    <p:sldId id="499" r:id="rId5"/>
    <p:sldId id="500" r:id="rId6"/>
    <p:sldId id="501" r:id="rId7"/>
    <p:sldId id="342" r:id="rId8"/>
    <p:sldId id="502" r:id="rId9"/>
    <p:sldId id="503" r:id="rId10"/>
    <p:sldId id="521" r:id="rId11"/>
    <p:sldId id="522" r:id="rId12"/>
    <p:sldId id="504" r:id="rId13"/>
    <p:sldId id="505" r:id="rId14"/>
    <p:sldId id="506" r:id="rId15"/>
    <p:sldId id="523" r:id="rId16"/>
    <p:sldId id="507" r:id="rId17"/>
    <p:sldId id="508" r:id="rId18"/>
    <p:sldId id="509" r:id="rId19"/>
    <p:sldId id="510" r:id="rId20"/>
    <p:sldId id="511" r:id="rId21"/>
    <p:sldId id="524" r:id="rId22"/>
    <p:sldId id="525" r:id="rId23"/>
    <p:sldId id="512" r:id="rId24"/>
    <p:sldId id="513" r:id="rId25"/>
    <p:sldId id="514" r:id="rId26"/>
    <p:sldId id="515" r:id="rId27"/>
    <p:sldId id="526" r:id="rId28"/>
    <p:sldId id="516" r:id="rId29"/>
    <p:sldId id="517" r:id="rId30"/>
    <p:sldId id="558" r:id="rId31"/>
    <p:sldId id="562" r:id="rId32"/>
    <p:sldId id="518" r:id="rId33"/>
    <p:sldId id="519" r:id="rId34"/>
    <p:sldId id="527" r:id="rId35"/>
    <p:sldId id="414" r:id="rId36"/>
    <p:sldId id="416" r:id="rId37"/>
    <p:sldId id="497" r:id="rId38"/>
    <p:sldId id="520" r:id="rId39"/>
    <p:sldId id="528" r:id="rId40"/>
    <p:sldId id="529" r:id="rId41"/>
    <p:sldId id="530" r:id="rId42"/>
    <p:sldId id="531" r:id="rId43"/>
    <p:sldId id="481" r:id="rId44"/>
    <p:sldId id="452" r:id="rId45"/>
    <p:sldId id="532" r:id="rId46"/>
    <p:sldId id="533" r:id="rId47"/>
    <p:sldId id="534" r:id="rId48"/>
    <p:sldId id="535" r:id="rId49"/>
    <p:sldId id="539" r:id="rId50"/>
    <p:sldId id="540" r:id="rId51"/>
    <p:sldId id="545" r:id="rId52"/>
    <p:sldId id="548" r:id="rId53"/>
    <p:sldId id="549" r:id="rId54"/>
    <p:sldId id="550" r:id="rId55"/>
    <p:sldId id="551" r:id="rId56"/>
    <p:sldId id="552" r:id="rId57"/>
    <p:sldId id="538" r:id="rId58"/>
    <p:sldId id="541" r:id="rId59"/>
    <p:sldId id="543" r:id="rId60"/>
    <p:sldId id="544" r:id="rId61"/>
    <p:sldId id="559" r:id="rId62"/>
    <p:sldId id="537" r:id="rId63"/>
    <p:sldId id="542" r:id="rId64"/>
    <p:sldId id="546" r:id="rId65"/>
    <p:sldId id="547" r:id="rId66"/>
    <p:sldId id="553" r:id="rId67"/>
    <p:sldId id="560" r:id="rId68"/>
    <p:sldId id="561" r:id="rId69"/>
    <p:sldId id="555" r:id="rId70"/>
    <p:sldId id="556" r:id="rId71"/>
    <p:sldId id="557" r:id="rId72"/>
    <p:sldId id="563" r:id="rId73"/>
    <p:sldId id="564" r:id="rId74"/>
    <p:sldId id="565" r:id="rId75"/>
    <p:sldId id="496" r:id="rId76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CE5"/>
    <a:srgbClr val="FFE7D1"/>
    <a:srgbClr val="E3D6E6"/>
    <a:srgbClr val="73FBA9"/>
    <a:srgbClr val="0066FF"/>
    <a:srgbClr val="928CFF"/>
    <a:srgbClr val="0732EF"/>
    <a:srgbClr val="663300"/>
    <a:srgbClr val="9966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F3D91-7DEB-4E82-ABDD-6D7DB7EBE192}" v="266" dt="2022-12-21T22:15:25.381"/>
    <p1510:client id="{B7086759-65AE-4857-8EC6-9EB847B97786}" v="1187" dt="2022-12-21T10:53:26.158"/>
    <p1510:client id="{E3E75DDE-9678-B74F-A860-46CD1ABEB370}" v="2907" dt="2022-12-22T06:45:20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9"/>
    <p:restoredTop sz="94581"/>
  </p:normalViewPr>
  <p:slideViewPr>
    <p:cSldViewPr snapToGrid="0" showGuides="1">
      <p:cViewPr varScale="1">
        <p:scale>
          <a:sx n="134" d="100"/>
          <a:sy n="134" d="100"/>
        </p:scale>
        <p:origin x="648" y="192"/>
      </p:cViewPr>
      <p:guideLst>
        <p:guide orient="horz" pos="2160"/>
        <p:guide pos="3840"/>
        <p:guide pos="7310"/>
        <p:guide orient="horz" pos="1003"/>
        <p:guide pos="384"/>
        <p:guide orient="horz" pos="3906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80" d="100"/>
        <a:sy n="80" d="100"/>
      </p:scale>
      <p:origin x="0" y="-5772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5CC615-A48C-B213-4338-677C794A0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397000" y="533400"/>
            <a:ext cx="44704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700"/>
            </a:lvl1pPr>
          </a:lstStyle>
          <a:p>
            <a:r>
              <a:rPr lang="en-US" altLang="it-IT"/>
              <a:t>039-dht-06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F471BD-BF47-4E30-2D57-B7C69E853F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3F9CF192-ADC7-4FC1-B19F-17EF1AAC6161}" type="datetimeFigureOut">
              <a:rPr lang="en-US" altLang="it-IT"/>
              <a:pPr/>
              <a:t>2/22/25</a:t>
            </a:fld>
            <a:endParaRPr lang="en-US" altLang="it-IT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CEBAD64-17E7-7B8B-7226-EC5F8DBBA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9BAEF20-81C0-0DD7-A8B5-277EAFA66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44638" y="8640763"/>
            <a:ext cx="4549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700"/>
            </a:lvl1pPr>
          </a:lstStyle>
          <a:p>
            <a:fld id="{E3D32A34-E545-444B-97D2-A903681B932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06F36B-539B-517C-2053-4D063C5BF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r>
              <a:rPr lang="en-US" altLang="it-IT"/>
              <a:t>039-dht-06537-dht-03.ppt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F1A8C8-CF7F-6555-FD74-6F6734ECEC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06979D8C-C40B-4750-9CD4-4E61283F77CC}" type="datetimeFigureOut">
              <a:rPr lang="en-US" altLang="it-IT"/>
              <a:pPr/>
              <a:t>2/22/25</a:t>
            </a:fld>
            <a:endParaRPr lang="en-US" altLang="it-IT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6ACAAA5-E535-4F23-92B1-160167FE82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7472CD-F18E-CA2F-EC6C-F83EDD0C57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1FB2FD-B94C-7FDE-FD3C-53D746D7B0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AE1444-BF4A-158F-7306-4BD395090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D83145EB-FB6E-4963-8A81-34F86828D003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68601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3479-BDBF-83DB-4583-3CC69842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EDF5A-895D-E53E-02CC-E11C5AD19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E3E1E-336B-E41C-9263-233EEC78A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B663F9D-E6AE-7ADC-E231-1A9F5759FFA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F3FDB-D837-B7CA-216B-FFED673D4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77195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BCBA-0636-2674-2C60-7C4A899C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12D34-6D38-68C4-0C00-7D9A4545A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BB12D-6BCB-D404-5752-FABE70E23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E528F37-0564-C645-9C87-73887BF3383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61763-A189-E2A8-6C59-925657270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83766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F2BD-61E3-5822-C2D9-9AAACEBB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0519A-FE99-6412-963F-29E981BCA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EAD4D-1D5E-D814-8F92-3469E8A8D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1CA0D18-D70E-4348-D507-CE014383E61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09C17-50E5-D961-AF1E-B1C5CA69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40955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965C-7077-8789-EB9B-CB43F7A4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B08BF-EFE9-8A8F-A2EF-E5C7D148D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390CD-7565-8DFD-00BC-D24BD523A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AD472F-4F1C-335A-ABEE-4ADADDEA2D7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15AD6-1D1A-33D0-05D8-485B1D26E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3186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724D-D32A-3732-5CEB-D9F8FC9C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6D5AD-FBC3-1925-EC38-CE2A022D1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D3622-5023-CF87-1987-FC4123EE8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579173-AA8F-45DE-94F2-DAB9224098C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781B2-A505-2CC8-829D-7EEC59B2A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93472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6A7B-FDB5-89AB-B117-464FE500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686FD-9A1F-5EB1-E28D-516C89BA5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8D22E-2C38-F963-38D7-AC0986E15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082B5F0-1721-ADC4-31BF-EDBCB524B2B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C346E-75CF-8AA9-3B10-00BA779C0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6705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68B0-1284-2840-5A51-DDF376BF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16BED-78A3-3C20-42DD-4765BC2A4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37ED6-3BC3-B8B4-FA79-970AA962E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41B98E4-C340-9468-C6AB-45205BB7B8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73435-D96B-46B2-D24B-03F285735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34311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AFFE-8C32-4F8A-1416-FB85EA24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2A5AF-D69A-22B1-04A5-0C284E291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B2DF0-CA18-4B11-E823-72959ADD5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C606B1-C6F5-927C-F18D-8313E9D973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89DBA-C929-4589-CFA0-2617AFB27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66093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E3BC-7E8F-8D3F-8B4B-8CEA53BA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48FC0-6855-CB01-60BD-FF03B155D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97ADD-F6B6-4BBF-3B33-3FBFCFFDE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A18D12-DE58-2077-48BC-8A1952A301E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D6015-FDD3-CD92-A70A-A9CC57D46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60964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6E63-AF8A-3989-DE53-F9D72972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DB2F2-56AE-F869-EE8A-10189D186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5B947-55AE-04FC-AB30-3F004A140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6A3F702-C38A-27D5-C698-FA9DF1D5BC5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6FE6B-B1C0-B7BB-C5C3-867490B71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84224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74B0-F87A-8880-02B8-CA8382A9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7E62D-DEDA-B946-1CCD-FDB4BC88A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E14B9-E030-07FF-A190-23F0DFA9C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709D81-7F61-B2F5-5731-27745D90B5D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E7A48-755B-572D-E107-293FE29AE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15640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80AC-8EFE-249F-18FA-97FA41B1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0A6BC-AE6D-5748-11AC-36733637B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C908F-8A26-FB12-476E-8A186A9BE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7219B7-C0E4-BF0C-3249-3BB1397031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BFE4C-EA6E-C255-3E23-0178A2660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64239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29A0-3ADD-2F2C-581A-7B3DBED8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ABD48-ABF4-FF0B-A754-4C4078717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A0605-BC38-6187-1B9D-2BEF5B94F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4087AC9-9CE0-8503-4412-236CB288237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FAEE8-E7C6-718E-8D77-023A3DF84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7712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CB73-ADFB-F8BC-D6A6-6927AD8A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92396-4F0F-5F83-10D7-F37362C8F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874A2-1145-B9DA-B1E4-4EF3373BA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A08409D-6511-ABAE-CCA5-1D73E07074B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154E5-5543-EF2F-4B16-3E15F8655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40785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5209-2AED-AAB3-1BA4-754BD9BF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0940E-9640-0CB8-C5A4-52BB75DE1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0FA9C-7660-A364-847A-E38D56874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0EECD51-5BFD-F97F-2104-9B67649B00F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5A137-2B50-2153-768B-F5217EDB2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92587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7BA5-EFF1-F2E5-3A15-0D2B126D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25899-F385-7EF8-5DCD-E8BF3AF67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2FB8E-0AF3-7B7E-F3BA-C70A44F8D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C3AC31B-9EC4-EB58-7DDB-9DFB3ECC674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24BD9-31B3-E480-D91A-DC53F5C73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58056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B9DF1-DB77-B0E9-07EF-897DF929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06DE3-413F-16DB-A5B0-9CC40CD81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57E8C-99F9-A9E6-13DB-420ADE951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345772D-555D-62C2-58E4-676E21F162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93B2A-D50C-9CE2-4C2B-639FF1F66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06484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ADA94-A148-1F46-CAEB-3D0F1091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30BBF-13AF-B854-3509-CA60DE4FA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271A4-1A4D-086B-A1B8-0CF1B97D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ECAFFBA-3727-632F-76F1-A8391A98AE6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C6C4B-4350-A8E7-6968-5D0FD2A38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73656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4252-9DCD-D782-0E1B-2631536C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A4E74-A019-E2E5-6600-774A06495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BE82F-2219-0B8F-F29E-870473823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55B3E68-B62E-0249-482C-B5262DBF2F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75EC5-39CB-3AF9-1D47-0A82496D2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80720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2622-8552-FFC2-3D86-0AC26F1B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E6692-D50B-6542-002B-C23B4F82C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352A6-A8B5-E680-9254-8009EBFBE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378F453-DF86-F9E0-3C6B-253B19A40D4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80DE6-A594-FD5D-935F-04235AE54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00884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B9E18-E11E-E76D-48F6-20F8CF17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1B258-BDBA-9D3F-F4C1-4DE4043AF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FF219-5097-4073-24FB-6DEE1D807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76F498-04C0-D2E6-9973-9A27DF39C3A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38DB-195E-8D20-09C3-4FD5864D6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62687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FFC4-0492-8FA5-C9DF-CFC4E55B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DD8B5-6F20-A8D2-521F-E647AEB26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A268C-9D54-1AAE-FFAB-75D861359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88486B1-8EB7-2DB7-56C5-F335971EF3C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30C9B-7853-968F-942C-47D4A7D26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724398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12BE-53B7-7B2A-501E-25FF757F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EDC23-D32D-1BBB-FCE0-A9AA5F77F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9F888-6C74-C5F1-F1A0-88AA7C1D3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624CD82-C2E5-FDEE-C862-AD73A3D62E1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AB680-6053-A638-B09C-B2A6C6718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26308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1516-AD08-33D1-A9AF-58F9387A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7223-59F1-9564-45F1-9B53DF160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0247D-182C-20CE-2C96-E5AE7842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95110AC-2D3B-AA68-6258-5E829DC468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05BAD-368F-01CB-2E96-52C293CA0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293923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1C94-D65F-3B78-597D-9CA333F4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794DF-0731-791C-0C7E-7F0953D3A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1015D-8B76-7B86-1270-D4C06834C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E9F070E-CFD8-17AD-122B-85B69056F18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7DD1C-60E4-729C-7380-518B5428D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76476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B35A-F4CE-B1C5-8B7E-24A14DA2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62D71-C248-E535-6281-A8AA4E2AA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34BFC-83FB-5581-DC72-224AABBD9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B98C1EB-EF11-BE11-CD1E-1A54B48CC61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E3D50-A60C-544B-C937-95ABB3997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217897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434A-A660-5F0C-CAC6-EF843C14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834B3-418C-1208-E627-695DAC1B4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041D8-A3E5-F7D6-A992-E13A39EB8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111B9A8-8D4C-DF0F-7C6E-B05D3AA014C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905-1B9C-DAD4-D5AC-7316B7CAB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937739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D182-FC23-F615-6E80-02CCA3A8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F99D9-205D-AD28-9019-BD4370FB1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73917-C74C-C0E6-C67F-7BA5467EC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0127DA7-0CE9-7814-2A42-3B06EAD740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55B07-4735-A03A-78AE-C74FB1F53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937037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CA33-6D0D-E1D2-775A-43BE686D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036CD-C38E-0C14-5638-CFA14FFF8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93D2A-DFD9-EE47-B964-48BDD4B4C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6F36956-4511-F523-2025-2193FF2369C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D361B-0CAE-8E2A-438E-CD14AFE16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67004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E6BB-F0E0-6106-761F-591D408F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3E4E3-59D5-5925-E423-87AB39B8F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D84F9-EFC3-2DD7-778F-49D90BDD0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788AE4-7D49-21BB-734F-732D30ACA81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AD8D7-E11B-CC29-A4C7-2391474DB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55512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1480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CFA8-7E1C-7A88-940B-B3B384F8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541F8-F75E-CE1A-AFDC-639646AA7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96C67-69E0-CFE0-EA61-94441AEC7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9A14144-3CEF-510B-432A-DF419D6FC41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ED231-E331-A4AA-D839-84C97E6F6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922628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93E1-3E20-7CE1-D929-ABD76418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6110A-8AD3-E8EE-A44B-305C5199B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75955-AFB4-9E6E-CD4C-2F6C48B95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B3A599-905D-D0AD-5789-E49557B4AEC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BFDEA-B2D1-F0CF-BDED-E89C39D88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338512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0FE-F508-6E82-991A-541F8747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0E106-C255-4DB4-5980-D7EDE6CE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A5942-917B-C507-85D2-07D707169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D36C24-7F3D-110D-81E9-BE961F3440A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CED7E-A17D-070D-4CDE-B3BE9E8B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478370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27754-128B-5687-D84A-C527960C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B08FD-00A2-CC41-528E-DAA4ED2EE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7AE64-043F-BFEA-7D0B-CB1FF599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37795ED-CAD4-589E-7C78-52CA8FB7002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2209A-3C1D-2975-1769-91EFDA5D9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762564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0105-340C-D96D-49DD-5A4ED020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67302-307A-87EE-F78C-1249BD6F2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4871E-9ED8-6C5D-91C1-BD0B6F40D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3273EB6-CC43-9145-475F-F236650E045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AB064-0649-D031-2A09-875912AF5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07299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F6E-8357-B114-9151-23984792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0FC-9D8D-2467-6677-62201A7A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237A1-DA99-452C-78AB-9B279B72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7E07DD-8141-6EC1-DFF2-3786188949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F9A2-5B96-5973-93B1-0A951793A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212416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3EE8-E4C1-864F-11E2-0FED0DD3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91DC-1E79-94D0-0A8B-6CE68E7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2623F-895F-2ECA-3D6A-B64E199D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1EBF0C-9DFA-3E3B-B71D-D19FEB4ABF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1B7F5-84E4-8363-1C94-BB57E2B7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45093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A61C-8B69-9AE1-F4A8-56DF0D1F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F5E20-4930-BA00-3399-81A55190E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27B63-28CA-F0AD-09F7-3F8FA215E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85329C7-12D9-81FC-0CF8-8BBDD90DC9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015D2-6CB4-445C-EBAC-301D69160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32712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6DC9-23AF-D9B1-10D9-206A1860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41189-3ACE-91EA-4019-D146BFAC6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46E18-CB62-7CFD-246A-5030B4C8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C70A09B-2821-4FEF-FC10-D1378896EA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F7027-FCA3-7E3D-64E7-BC9113D01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958133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A7A6-0169-D383-B79E-5FCE9892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99A80-B5D6-D013-32C6-E30D9CA05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D9B6C-9263-365C-68E8-10D34CDD1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9579D2C-440C-E081-3C19-5E022B35EA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3B814-7FEC-1D80-00BF-A5CB43032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194805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498C-52DD-A4A5-DDE1-68BF119E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80F60-DCFE-D368-3F88-6C053ABB0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83CF-4DDC-2DFC-5752-950AC6364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6B49E9-CC09-DF4B-A96C-41EB3B22671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4D684-0BAB-AA45-569E-F1C2A5F2B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714130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0507-1442-A611-10EA-F0938293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85508-5104-3839-0C35-908BE9DA8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A40B2-401A-9A8F-1EF8-3EE5F3B15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1CD3F5-BEDA-21F2-74E1-0D8E2D47EF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82577-FF3B-2808-0767-E57068907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111299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E382-33F0-2A5C-B83D-A02BC2EC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BFA86-4DF6-37E6-988C-EF08275C5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4B8D6-E8E7-074A-7092-B1A8687B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B84909-88CE-6D2C-35BA-061F0498C0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70370-2095-E27B-4DCA-85A8AAF5E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07281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D45D-77BD-12A5-1F13-E0F35ECB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6151D-69B0-EBBE-1B96-115948C14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0AFAB-121F-2A3E-83D3-926853827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50B6E0-6444-2E4F-1C64-2945C6792E2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64547-06D6-E6DD-17E4-127BD3DA4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828135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3539-9380-CF6C-728D-8C03B71A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7D522-799C-4FC7-9CF2-BA5B821FB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69A12-E968-7E3A-FD95-D94A78129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99264B4-5911-2227-B201-8D188A8C7F6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4B56D-D24A-3A23-B99B-3324495A9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344029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D386-3148-4078-1735-1D545948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29978-BB79-CD13-5EDE-D5E1F9344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94F6B-CC89-4D3F-AEC7-21B02526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738DA69-F2D2-FFD4-B2B8-14F26919A7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BF59B-181E-6E82-9740-E7F2E7C81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275734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E24F-FAD2-2C4B-B232-6D0E8842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99126-5583-EE62-5AAA-36BDE7903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001DA-EDE8-97F2-710D-02B117A54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1C2FC5-8592-E9AC-991F-377179044B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B909B-CD05-4920-BEE2-E00C59672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671283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C3FC-8D4D-9A35-B24C-26A699D8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581B4-DDC9-FF5F-8AC2-F01BA76C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985F1-E310-DB52-AED1-7B2754DD3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E416F5E-880A-01C2-FCF2-1E4C3ED5C63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41A14-818A-28FF-672F-2EC1F6B9B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236451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12CC-A9E7-24DB-BE76-024A8D38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E03E6-248B-26FA-F9AB-F9A10AFC4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2D7ED-D0BF-FD59-2BA4-39C4B9835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A2C0076-514B-4548-D9BC-D62B8CE6875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B32B1-6969-054C-0811-CB1FE4B9A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988900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E01A-CED8-FB4E-6121-1DF1D11F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DC657-5CE2-4668-830D-F759B74C0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8966F-4811-D0C2-E1C9-0715BCF28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AF93FA-D68E-6267-3EC6-5BD10A5BB8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27D0A-6B3A-22AE-49BE-3CEA6CB8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89037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9E7-E23C-D507-65C9-A24F911F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81A6C-BBA7-D88F-CEA8-DE645013D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10160-0B5E-BC78-75B7-59A8BF672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E14706-7C67-0F14-8C8A-EEDDD51F5D8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09E04-14F7-10FC-5A01-E79826432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417842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135EB-BE39-881D-0D95-CF575D5A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4F1D5-A995-712A-2352-46B5A0A18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E4C68-9FCC-D3C1-3841-A1E64B91B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256D71C-BD7A-D7E5-BE93-D0AE87C3CD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B264D-2E2D-FC3B-A6D5-642CBBDA5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894918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9CD83-F59E-1654-BB9D-30AB5E33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8B70B-5D63-B773-40F9-858A55B11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AE7B7-BFA9-9364-CD45-D9F4F0D29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BA1D908-A0A2-ABBF-B9D3-874284ACADE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53C8B-9B00-10F9-4A19-CFE3F051B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503279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2D5F-35E3-4BAC-2751-D3661BDB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08377-0FAF-01CC-639F-835761F75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8B9CE-FB37-2C28-ACB1-7B3BC053E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82FCEE7-DFED-F831-D804-EC4EB2C5110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D8B10-361F-5423-6063-6556F6E01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367696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DE23-334E-70FA-51F3-0B96360B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11FCA-A1EE-9103-3146-F91572352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9B484-57E5-9F36-95BC-02B08A5A7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9F042F5-D252-7C64-7CF4-C2CE5F7C3AD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0BF61-F034-CA5C-BA56-22EC55E71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0059434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0308-78DD-E45F-94BC-F0E009E1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5144A-33C9-5E1E-BC75-6EDABD202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BF11F-DAEE-0F11-A056-B0C112E5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E038F90-00ED-6A81-26F9-78B945EA17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17467-0A95-2956-85B9-A42A0807D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971941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FD37-CFB1-CBB0-C371-E2192A58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13AF1-C271-5818-2334-C0862C8BF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A8F87-FFB4-D2E6-9735-6DE591D63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8BF997B-6F88-0258-9B36-E1995F3517E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EC71E-E737-5F09-4153-98D3841C5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448396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9CBC-5A83-ECF4-6420-3C42C610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2D0C8-C6B9-9DD2-AD52-82F90EF3F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D609B-7749-C40E-A6CE-4ED436C17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5CFE147-1B48-F8B7-03C5-07FACFC383D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3FC8F-85EC-6AF1-8C66-E28B1C7DB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6739508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7E4E-0B38-8B82-48AA-DA7D249A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B6F18-17F2-E5AF-4D18-B0DCBEDB5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AE87C-83F3-F934-74C3-A021D706B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16D3842-2F28-D52F-7A43-4747FBE466D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39CEA-1AAA-6F42-8917-3582779A2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563078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13A7-9892-2CED-5FDC-47CBE561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A62B4-198E-A719-B32E-6FA6DC4C6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3FD7D-19AF-BD6D-5219-E64268591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53E1970-E8B9-7044-34A6-D76D6057694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A72EE-23DD-726A-C867-76E1DDF70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400424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EB86E-D3C2-20D2-0B48-645FAC3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103DE-2831-63B2-6DE9-6B3551539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CFF93-2BD4-A320-17CA-44F4DD26E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19048A0-AF6D-4A45-70AC-96EE1233073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47A3A-5C8A-70BE-BFD4-356934E18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38914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26C6-B0A7-70C9-62EC-479158E7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A28A2-ABB2-0CE0-2190-739C6B88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EEBAF-2450-6909-C377-E910FFA8A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C0F4163-F8E9-E2E8-EE17-30986937D6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C1A67-5A74-391C-A424-E4C9D12EF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583639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7E0B-D5A4-254F-80E8-F937C91C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75EB4-461C-A1AE-FB15-5125BFDE5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ECC32-7946-2265-EA8A-52A350EA1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2D1C947-148D-03E4-2824-18A3115E240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7174E-F9E2-4D95-44DB-0693D49A7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061044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ED8A-BBDD-1A94-7E9F-3A725473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9906D-D1B9-989F-2B44-04B42A29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6057E-81C1-F5BF-2BA0-8518AE418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D61F434-A003-2B53-0B3B-EDE8FE036D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56D9C-6E9B-84DD-5A68-B19968A58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531456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4720-5AB9-FFF8-221B-8E4BE2B5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EEA3C-8139-CAA1-4C41-1E3E18A73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26959-7F37-638C-29E0-8156F980F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71F7BB1-3A22-B706-1693-C3FC10671D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18FBA-1C6C-0D5E-5F2C-201A55B7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275032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EB4A-7639-4DFE-9447-62EEFAE3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92F8C-02DE-DED8-FF17-A9D2C5569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AA7E2-9412-C984-65BC-9C3ED4D7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8E1796-8FA0-FEC5-CDE0-0E3FA6D8904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12B68-6C0B-30A9-F538-B77F3947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792885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833F-B41C-D1F4-8E47-338224CE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3D557-FF5D-90C8-58B6-7F4C3DF10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4BA3A-5E74-D4A0-D61F-D98589AE0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8545BD3-42E8-2264-5D83-E267884C4E5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C05C3-B093-3EF7-98E6-8892B89FD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9170258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5C-2E21-AF5B-F85B-70091D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FFBD-D6FB-8EA0-D281-5114FB12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33A-72F0-06AA-6555-E1D3D283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288DBEB-377E-BA7E-7440-4329A85733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DB81-B829-AE24-03D0-FA1255AEA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0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F79B3-FA6A-4D4C-8B22-54EE57D9F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2974"/>
            <a:ext cx="2376264" cy="1219692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F48521B5-EF4B-4AA9-A186-D237E00E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332656"/>
            <a:ext cx="51214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Università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degli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Studi</a:t>
            </a:r>
            <a:r>
              <a:rPr lang="en-US" altLang="it-IT" sz="2400">
                <a:latin typeface="Tahoma" panose="020B0604030504040204" pitchFamily="34" charset="0"/>
              </a:rPr>
              <a:t> Roma Tre</a:t>
            </a:r>
          </a:p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Dipartimento</a:t>
            </a:r>
            <a:r>
              <a:rPr lang="en-US" altLang="it-IT" sz="2400">
                <a:latin typeface="Tahoma" panose="020B0604030504040204" pitchFamily="34" charset="0"/>
              </a:rPr>
              <a:t> di </a:t>
            </a:r>
            <a:r>
              <a:rPr lang="en-US" altLang="it-IT" sz="2400" err="1">
                <a:latin typeface="Tahoma" panose="020B0604030504040204" pitchFamily="34" charset="0"/>
              </a:rPr>
              <a:t>Ingegneria</a:t>
            </a:r>
            <a:endParaRPr lang="en-US" altLang="it-IT" sz="2400">
              <a:latin typeface="Tahoma" panose="020B0604030504040204" pitchFamily="34" charset="0"/>
            </a:endParaRPr>
          </a:p>
          <a:p>
            <a:pPr eaLnBrk="1" hangingPunct="1"/>
            <a:r>
              <a:rPr lang="en-US" altLang="it-IT" sz="2400">
                <a:latin typeface="Tahoma" panose="020B0604030504040204" pitchFamily="34" charset="0"/>
              </a:rPr>
              <a:t>Computer Networks Research Group</a:t>
            </a:r>
            <a:endParaRPr lang="en-US" altLang="it-IT" sz="2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93013-B607-C3C4-39CB-6F82F1B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54604-3C50-BE7A-3DA2-69091792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417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copyright </a:t>
            </a:r>
            <a:r>
              <a:rPr lang="it-IT" altLang="it-IT" err="1"/>
              <a:t>notice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US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it-IT" sz="1800"/>
              <a:t>Fifth level</a:t>
            </a:r>
            <a:endParaRPr lang="it-IT" altLang="it-IT" sz="1800"/>
          </a:p>
        </p:txBody>
      </p:sp>
    </p:spTree>
    <p:extLst>
      <p:ext uri="{BB962C8B-B14F-4D97-AF65-F5344CB8AC3E}">
        <p14:creationId xmlns:p14="http://schemas.microsoft.com/office/powerpoint/2010/main" val="37191261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439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684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5710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694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694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2FD7C9-33FA-4567-92E1-5709B74F7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5C0F4D-D9F2-43D0-AB84-9597AD32B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746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04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03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2423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570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331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39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3514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8624955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70335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6994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59030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0695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9225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47320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4979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0983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328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5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pPr>
              <a:defRPr/>
            </a:pPr>
            <a:r>
              <a:rPr lang="it-IT"/>
              <a:t>Footer</a:t>
            </a:r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8.sv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0B38D1E-4B67-FAB1-116F-56C58C1F2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901058"/>
            <a:ext cx="10363200" cy="3055883"/>
          </a:xfrm>
        </p:spPr>
        <p:txBody>
          <a:bodyPr/>
          <a:lstStyle/>
          <a:p>
            <a:pPr eaLnBrk="1" hangingPunct="1"/>
            <a:r>
              <a:rPr lang="it-IT" altLang="it-IT" sz="5400" dirty="0"/>
              <a:t>IK2227 – Lab 3:</a:t>
            </a:r>
            <a:br>
              <a:rPr lang="it-IT" altLang="it-IT" sz="5400" dirty="0"/>
            </a:br>
            <a:r>
              <a:rPr lang="it-IT" altLang="it-IT" dirty="0" err="1"/>
              <a:t>Kubernetes</a:t>
            </a:r>
            <a:endParaRPr lang="it-IT" altLang="it-IT" dirty="0"/>
          </a:p>
        </p:txBody>
      </p:sp>
      <p:pic>
        <p:nvPicPr>
          <p:cNvPr id="2" name="Picture 1" descr="A cartoon of hands holding a sword&#10;&#10;Description automatically generated">
            <a:extLst>
              <a:ext uri="{FF2B5EF4-FFF2-40B4-BE49-F238E27FC236}">
                <a16:creationId xmlns:a16="http://schemas.microsoft.com/office/drawing/2014/main" id="{A84B7804-A455-D0D8-14DA-95BAFAC5C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" t="3115" r="1092" b="4423"/>
          <a:stretch/>
        </p:blipFill>
        <p:spPr>
          <a:xfrm>
            <a:off x="8860221" y="3492857"/>
            <a:ext cx="2995254" cy="2928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2F505F-DCBC-8D62-8CE3-8CC6374A03FE}"/>
              </a:ext>
            </a:extLst>
          </p:cNvPr>
          <p:cNvSpPr txBox="1"/>
          <p:nvPr/>
        </p:nvSpPr>
        <p:spPr>
          <a:xfrm>
            <a:off x="4515439" y="5570483"/>
            <a:ext cx="316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Scazzariello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DC04-95E5-0E1F-768E-D5697CAB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recap on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B1DB-3A6E-AF69-DDBF-15EF2A98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Kubernetes (in short, K8s) is a production-grade container orchestrator</a:t>
            </a:r>
          </a:p>
          <a:p>
            <a:r>
              <a:rPr lang="en-US" noProof="0"/>
              <a:t>initially developed by Google</a:t>
            </a:r>
          </a:p>
          <a:p>
            <a:pPr lvl="1"/>
            <a:r>
              <a:rPr lang="en-US" noProof="0"/>
              <a:t>based on 15 years of experience in container orchestration</a:t>
            </a:r>
          </a:p>
          <a:p>
            <a:r>
              <a:rPr lang="en-US" noProof="0"/>
              <a:t>open-sourced in 2014</a:t>
            </a:r>
          </a:p>
          <a:p>
            <a:pPr lvl="1"/>
            <a:r>
              <a:rPr lang="en-US" noProof="0"/>
              <a:t>maintained by the Cloud Native Computing Foundation</a:t>
            </a:r>
          </a:p>
          <a:p>
            <a:r>
              <a:rPr lang="en-US" noProof="0"/>
              <a:t>K8s can manage clusters composed of up to 5000 nodes</a:t>
            </a:r>
          </a:p>
          <a:p>
            <a:pPr lvl="1"/>
            <a:r>
              <a:rPr lang="en-US" noProof="0"/>
              <a:t>it can efficiently orchestrate </a:t>
            </a:r>
            <a:r>
              <a:rPr lang="en-US" b="1" noProof="0"/>
              <a:t>millions of containers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4747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8180B-3F18-1AB7-5F25-4425022B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E49B-5672-C727-EFC0-B2EFF102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Kubernetes at high-level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02F7-DCA4-8355-2027-139F1DE95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K8s resources define the </a:t>
            </a:r>
            <a:r>
              <a:rPr lang="en-US" b="1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desired state</a:t>
            </a:r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cluster</a:t>
            </a:r>
          </a:p>
          <a:p>
            <a:pPr lvl="1"/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application to run, number of replicas, etc.</a:t>
            </a:r>
          </a:p>
          <a:p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setting the desired state, the </a:t>
            </a:r>
            <a:r>
              <a:rPr lang="en-US" b="1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Kubernetes Control Plane</a:t>
            </a:r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ensures that the cluster maintains this state</a:t>
            </a:r>
          </a:p>
          <a:p>
            <a:pPr lvl="1"/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automatically executes tasks such as launching/restarting containers or scaling the number of replicas as needed</a:t>
            </a:r>
          </a:p>
          <a:p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 Kubernetes Control Plane consists of multiple processes running within the cluster</a:t>
            </a:r>
          </a:p>
          <a:p>
            <a:pPr lvl="1"/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distributed across </a:t>
            </a:r>
            <a:r>
              <a:rPr lang="en-US" b="1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controller</a:t>
            </a:r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b="1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</a:t>
            </a:r>
            <a:r>
              <a:rPr lang="en-US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nodes</a:t>
            </a:r>
            <a:endParaRPr lang="en-US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52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80A6-8450-C139-DFE2-6A885AD1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2116-132F-7499-2768-361FB6B1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Kubernetes Controller node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A2AF3C-8F20-2B82-8E39-7AD15E6C4C02}"/>
              </a:ext>
            </a:extLst>
          </p:cNvPr>
          <p:cNvGrpSpPr/>
          <p:nvPr/>
        </p:nvGrpSpPr>
        <p:grpSpPr>
          <a:xfrm>
            <a:off x="3897409" y="1114351"/>
            <a:ext cx="4397182" cy="1233840"/>
            <a:chOff x="3366718" y="1216473"/>
            <a:chExt cx="5337544" cy="14977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28B338-BD71-1FFB-EC9C-4E13A07BCCA8}"/>
                </a:ext>
              </a:extLst>
            </p:cNvPr>
            <p:cNvSpPr/>
            <p:nvPr/>
          </p:nvSpPr>
          <p:spPr>
            <a:xfrm>
              <a:off x="3366718" y="1216473"/>
              <a:ext cx="5337544" cy="14977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6BDB93-BC9B-BF52-D3C6-78CBDB5486B5}"/>
                </a:ext>
              </a:extLst>
            </p:cNvPr>
            <p:cNvSpPr/>
            <p:nvPr/>
          </p:nvSpPr>
          <p:spPr>
            <a:xfrm>
              <a:off x="5247572" y="1514184"/>
              <a:ext cx="1575836" cy="4253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API server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021032-F298-30A0-5163-6732BB7EDD8B}"/>
                </a:ext>
              </a:extLst>
            </p:cNvPr>
            <p:cNvSpPr/>
            <p:nvPr/>
          </p:nvSpPr>
          <p:spPr>
            <a:xfrm>
              <a:off x="3519227" y="2198205"/>
              <a:ext cx="1575836" cy="42530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scheduler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7D23D8-120C-E499-DD40-AC32CD55A271}"/>
                </a:ext>
              </a:extLst>
            </p:cNvPr>
            <p:cNvSpPr/>
            <p:nvPr/>
          </p:nvSpPr>
          <p:spPr>
            <a:xfrm>
              <a:off x="5247572" y="2198206"/>
              <a:ext cx="1575836" cy="4253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controller manager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A77092-A3BA-8FDF-7F07-1345CB202922}"/>
                </a:ext>
              </a:extLst>
            </p:cNvPr>
            <p:cNvSpPr/>
            <p:nvPr/>
          </p:nvSpPr>
          <p:spPr>
            <a:xfrm>
              <a:off x="6975917" y="2198205"/>
              <a:ext cx="1575836" cy="42530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etcd</a:t>
              </a:r>
              <a:endParaRPr lang="en-US" sz="12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5D07861-6DB0-81E2-3E95-3ADA9EA97A2A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4307145" y="1880599"/>
              <a:ext cx="928686" cy="31760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EE275CA-19D2-F49C-C042-EDA679543A86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6035490" y="1957443"/>
              <a:ext cx="0" cy="24076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8557934-E261-D06D-548D-EA5A8A55AE62}"/>
                </a:ext>
              </a:extLst>
            </p:cNvPr>
            <p:cNvCxnSpPr>
              <a:cxnSpLocks/>
            </p:cNvCxnSpPr>
            <p:nvPr/>
          </p:nvCxnSpPr>
          <p:spPr>
            <a:xfrm>
              <a:off x="6726606" y="1948464"/>
              <a:ext cx="567015" cy="2317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C89395-AF7D-D1DB-4476-60C210591960}"/>
                </a:ext>
              </a:extLst>
            </p:cNvPr>
            <p:cNvSpPr/>
            <p:nvPr/>
          </p:nvSpPr>
          <p:spPr>
            <a:xfrm>
              <a:off x="7094310" y="1498081"/>
              <a:ext cx="1575836" cy="42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cloud controller manager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AA502C-8E4B-1035-B575-5949B656AED1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 flipV="1">
              <a:off x="6835149" y="1710732"/>
              <a:ext cx="259161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769FF6-81DB-906E-6FC1-54705C579E73}"/>
                </a:ext>
              </a:extLst>
            </p:cNvPr>
            <p:cNvSpPr txBox="1"/>
            <p:nvPr/>
          </p:nvSpPr>
          <p:spPr>
            <a:xfrm>
              <a:off x="3408139" y="1224910"/>
              <a:ext cx="1839433" cy="372178"/>
            </a:xfrm>
            <a:prstGeom prst="rect">
              <a:avLst/>
            </a:prstGeom>
          </p:spPr>
          <p:txBody>
            <a:bodyPr wrap="square" rtlCol="0">
              <a:normAutofit/>
            </a:bodyPr>
            <a:lstStyle/>
            <a:p>
              <a:pPr marL="0" indent="0" algn="l">
                <a:buNone/>
              </a:pPr>
              <a:r>
                <a:rPr lang="en-US" sz="1200" noProof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controller</a:t>
              </a:r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591CB14-BAAB-95B7-A4C0-7620BA87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92407"/>
            <a:ext cx="10972800" cy="3971424"/>
          </a:xfrm>
        </p:spPr>
        <p:txBody>
          <a:bodyPr/>
          <a:lstStyle/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nodes responsible </a:t>
            </a:r>
            <a:r>
              <a:rPr lang="en-US" sz="24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managing the cluster </a:t>
            </a:r>
          </a:p>
          <a:p>
            <a:r>
              <a:rPr lang="en-US" sz="24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several key processes:</a:t>
            </a:r>
            <a:endParaRPr lang="en-US" sz="2400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b="1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Server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RESTful interface that enables users to modify the cluster's state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manages communication among K8s components</a:t>
            </a:r>
          </a:p>
          <a:p>
            <a:pPr lvl="1"/>
            <a:r>
              <a:rPr lang="en-US" sz="2000" b="1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Scheduler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identifies the most appropriate worker node for deploying a given resource, considering factors such as resource utilization and user-defined constraints</a:t>
            </a:r>
          </a:p>
          <a:p>
            <a:pPr lvl="1"/>
            <a:r>
              <a:rPr lang="en-US" sz="2000" b="1" noProof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Controller Manager</a:t>
            </a:r>
            <a:r>
              <a:rPr lang="en-US" sz="2000" noProof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daemon that continuously monitors the system, adjusting its current state to match the desired state based on requests from the API Server</a:t>
            </a:r>
          </a:p>
          <a:p>
            <a:pPr lvl="1">
              <a:spcBef>
                <a:spcPts val="600"/>
              </a:spcBef>
            </a:pPr>
            <a:r>
              <a:rPr lang="en-US" sz="2000" b="1" noProof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etcd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distributed data store that persistently manages cluster configuration and state</a:t>
            </a:r>
          </a:p>
          <a:p>
            <a:pPr lvl="1">
              <a:spcBef>
                <a:spcPts val="600"/>
              </a:spcBef>
            </a:pPr>
            <a:r>
              <a:rPr lang="en-US" sz="2000" b="1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Controller Manager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connects the cluster to proprietary cloud provider's APIs</a:t>
            </a:r>
          </a:p>
          <a:p>
            <a:pPr lvl="2">
              <a:spcBef>
                <a:spcPts val="600"/>
              </a:spcBef>
            </a:pPr>
            <a:r>
              <a:rPr lang="en-US" sz="18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for cloud deployments, not in this lab</a:t>
            </a:r>
          </a:p>
        </p:txBody>
      </p:sp>
    </p:spTree>
    <p:extLst>
      <p:ext uri="{BB962C8B-B14F-4D97-AF65-F5344CB8AC3E}">
        <p14:creationId xmlns:p14="http://schemas.microsoft.com/office/powerpoint/2010/main" val="153773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DC5-80ED-B7A9-0602-64EBC28C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348C-CA11-BE41-675B-E8692C93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Kubernetes Worker node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C7380B-9D6D-6637-BE39-07512265B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14" y="2780740"/>
            <a:ext cx="10972800" cy="3971424"/>
          </a:xfrm>
        </p:spPr>
        <p:txBody>
          <a:bodyPr/>
          <a:lstStyle/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 (virtual or physical machine) that host application workloads</a:t>
            </a:r>
          </a:p>
          <a:p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executes tasks assigned by the control plane</a:t>
            </a:r>
          </a:p>
          <a:p>
            <a:pPr lvl="1"/>
            <a:r>
              <a:rPr lang="en-US" sz="20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users do not interact with workers</a:t>
            </a:r>
          </a:p>
          <a:p>
            <a:r>
              <a:rPr lang="en-US" sz="2400" b="0" i="0" u="none" strike="noStrike" noProof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worker continuously runs a process called </a:t>
            </a:r>
            <a:r>
              <a:rPr lang="en-US" sz="2400" b="1" i="0" u="none" strike="noStrike" noProof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kubelet</a:t>
            </a:r>
            <a:endParaRPr lang="en-US" sz="2400" b="1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responsible for monitoring and ensuring that all containers associated with its assigned K8s resources (from the control plane) are running correctly</a:t>
            </a:r>
          </a:p>
          <a:p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containers are managed through a </a:t>
            </a:r>
            <a:r>
              <a:rPr lang="en-US" sz="2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 runtime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part of K8s but required to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 containers</a:t>
            </a:r>
          </a:p>
          <a:p>
            <a:pPr>
              <a:spcBef>
                <a:spcPts val="400"/>
              </a:spcBef>
            </a:pPr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lastly, each worker runs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</a:t>
            </a:r>
            <a:r>
              <a:rPr lang="en-GB" sz="2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-proxy </a:t>
            </a:r>
          </a:p>
          <a:p>
            <a:pPr lvl="1">
              <a:spcBef>
                <a:spcPts val="400"/>
              </a:spcBef>
            </a:pP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proxy that forwards and load balances traffic between containers in the cluster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F22E00-5C18-E515-6665-7CF3953D66B6}"/>
              </a:ext>
            </a:extLst>
          </p:cNvPr>
          <p:cNvGrpSpPr/>
          <p:nvPr/>
        </p:nvGrpSpPr>
        <p:grpSpPr>
          <a:xfrm>
            <a:off x="2576752" y="1125997"/>
            <a:ext cx="7397314" cy="1563323"/>
            <a:chOff x="1799688" y="1078417"/>
            <a:chExt cx="8524755" cy="180159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A1401D-DE83-026B-B718-5D391F626B7F}"/>
                </a:ext>
              </a:extLst>
            </p:cNvPr>
            <p:cNvSpPr/>
            <p:nvPr/>
          </p:nvSpPr>
          <p:spPr>
            <a:xfrm>
              <a:off x="6613681" y="1097183"/>
              <a:ext cx="3710762" cy="1497703"/>
            </a:xfrm>
            <a:prstGeom prst="rect">
              <a:avLst/>
            </a:prstGeom>
            <a:solidFill>
              <a:srgbClr val="F4DE9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BCFBD8-F5C9-BE8C-66B5-5F1CEE880375}"/>
                </a:ext>
              </a:extLst>
            </p:cNvPr>
            <p:cNvSpPr/>
            <p:nvPr/>
          </p:nvSpPr>
          <p:spPr>
            <a:xfrm>
              <a:off x="6492682" y="1213329"/>
              <a:ext cx="3710762" cy="1497703"/>
            </a:xfrm>
            <a:prstGeom prst="rect">
              <a:avLst/>
            </a:prstGeom>
            <a:solidFill>
              <a:srgbClr val="F4DE9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4907E2-C368-0238-9FD8-9B2181610D76}"/>
                </a:ext>
              </a:extLst>
            </p:cNvPr>
            <p:cNvSpPr/>
            <p:nvPr/>
          </p:nvSpPr>
          <p:spPr>
            <a:xfrm>
              <a:off x="1799688" y="1098929"/>
              <a:ext cx="3710762" cy="14977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ABAFE6-EF34-F333-491B-C3EE857AB352}"/>
                </a:ext>
              </a:extLst>
            </p:cNvPr>
            <p:cNvSpPr/>
            <p:nvPr/>
          </p:nvSpPr>
          <p:spPr>
            <a:xfrm>
              <a:off x="3680542" y="1396640"/>
              <a:ext cx="1575836" cy="4253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API server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BD87B3-D7C8-6501-6E5E-4DAD79030BC0}"/>
                </a:ext>
              </a:extLst>
            </p:cNvPr>
            <p:cNvSpPr/>
            <p:nvPr/>
          </p:nvSpPr>
          <p:spPr>
            <a:xfrm>
              <a:off x="1952197" y="2080661"/>
              <a:ext cx="1112763" cy="42530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scheduler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88C7CA6-EF5C-6515-4679-AEDC380ED5A2}"/>
                </a:ext>
              </a:extLst>
            </p:cNvPr>
            <p:cNvSpPr/>
            <p:nvPr/>
          </p:nvSpPr>
          <p:spPr>
            <a:xfrm>
              <a:off x="3159543" y="2080662"/>
              <a:ext cx="1065640" cy="4253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controller manager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BD4304B-F920-DFF7-A262-C49E19FD0B3D}"/>
                </a:ext>
              </a:extLst>
            </p:cNvPr>
            <p:cNvSpPr/>
            <p:nvPr/>
          </p:nvSpPr>
          <p:spPr>
            <a:xfrm>
              <a:off x="4324361" y="2080661"/>
              <a:ext cx="704295" cy="42530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etcd</a:t>
              </a:r>
              <a:endParaRPr lang="en-US" sz="12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A2963AC-8EE7-9FCE-B509-A7783175E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546" y="1821943"/>
              <a:ext cx="759674" cy="2407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12752DE-483E-2F66-E158-98F550622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5685" y="1839899"/>
              <a:ext cx="1" cy="2407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383B3AE-AE64-5EFF-F07B-037E3D91D94E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676509" y="1839898"/>
              <a:ext cx="0" cy="24076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B86246-6825-3544-F297-BD953412EA91}"/>
                </a:ext>
              </a:extLst>
            </p:cNvPr>
            <p:cNvSpPr/>
            <p:nvPr/>
          </p:nvSpPr>
          <p:spPr>
            <a:xfrm>
              <a:off x="1862709" y="1379704"/>
              <a:ext cx="1575836" cy="42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cloud controller manager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AC6C7A-84DD-D4BC-FD42-CE98F29C7F8D}"/>
                </a:ext>
              </a:extLst>
            </p:cNvPr>
            <p:cNvCxnSpPr>
              <a:cxnSpLocks/>
              <a:stCxn id="26" idx="3"/>
              <a:endCxn id="6" idx="1"/>
            </p:cNvCxnSpPr>
            <p:nvPr/>
          </p:nvCxnSpPr>
          <p:spPr>
            <a:xfrm>
              <a:off x="3438545" y="1592356"/>
              <a:ext cx="241997" cy="1693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D0E972-B257-CD5D-F116-6F975B4B4A6F}"/>
                </a:ext>
              </a:extLst>
            </p:cNvPr>
            <p:cNvSpPr txBox="1"/>
            <p:nvPr/>
          </p:nvSpPr>
          <p:spPr>
            <a:xfrm>
              <a:off x="4008708" y="1078417"/>
              <a:ext cx="1839433" cy="372178"/>
            </a:xfrm>
            <a:prstGeom prst="rect">
              <a:avLst/>
            </a:prstGeom>
          </p:spPr>
          <p:txBody>
            <a:bodyPr wrap="square" rtlCol="0">
              <a:normAutofit/>
            </a:bodyPr>
            <a:lstStyle/>
            <a:p>
              <a:pPr marL="0" indent="0" algn="l">
                <a:buNone/>
              </a:pPr>
              <a:r>
                <a:rPr lang="en-US" sz="1200" noProof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 plane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00C7E2-58B3-33AA-FD0D-5F392632EB3F}"/>
                </a:ext>
              </a:extLst>
            </p:cNvPr>
            <p:cNvSpPr/>
            <p:nvPr/>
          </p:nvSpPr>
          <p:spPr>
            <a:xfrm>
              <a:off x="6371683" y="1331809"/>
              <a:ext cx="3710762" cy="1497703"/>
            </a:xfrm>
            <a:prstGeom prst="rect">
              <a:avLst/>
            </a:prstGeom>
            <a:solidFill>
              <a:srgbClr val="F4DE9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BA0B87D-9D48-9CE3-4710-06DEE03043E6}"/>
                </a:ext>
              </a:extLst>
            </p:cNvPr>
            <p:cNvSpPr/>
            <p:nvPr/>
          </p:nvSpPr>
          <p:spPr>
            <a:xfrm>
              <a:off x="6495610" y="1509604"/>
              <a:ext cx="1575836" cy="215388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kube</a:t>
              </a:r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-proxy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C3FE0F-39EC-4717-17A8-AE419A528DC4}"/>
                </a:ext>
              </a:extLst>
            </p:cNvPr>
            <p:cNvSpPr/>
            <p:nvPr/>
          </p:nvSpPr>
          <p:spPr>
            <a:xfrm>
              <a:off x="6492293" y="2313541"/>
              <a:ext cx="1112763" cy="425303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container runtime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A77E29C-C68D-2C22-6D6D-A6EBDDF7562E}"/>
                </a:ext>
              </a:extLst>
            </p:cNvPr>
            <p:cNvSpPr/>
            <p:nvPr/>
          </p:nvSpPr>
          <p:spPr>
            <a:xfrm>
              <a:off x="6517988" y="1885277"/>
              <a:ext cx="1065640" cy="215388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kubelet</a:t>
              </a:r>
              <a:endParaRPr lang="en-US" sz="120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FE48C75-2E2A-2010-0735-49AD5BF0534A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 flipV="1">
              <a:off x="5279082" y="1488707"/>
              <a:ext cx="1216528" cy="12859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D3E3EDA-5EBE-260D-AA26-1B4626A9F075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 flipV="1">
              <a:off x="5253056" y="1727677"/>
              <a:ext cx="1264932" cy="2652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0D01A9-DE58-C816-BC86-FFBB91F7FA0E}"/>
                </a:ext>
              </a:extLst>
            </p:cNvPr>
            <p:cNvSpPr txBox="1"/>
            <p:nvPr/>
          </p:nvSpPr>
          <p:spPr>
            <a:xfrm>
              <a:off x="7684693" y="2507831"/>
              <a:ext cx="1839433" cy="372178"/>
            </a:xfrm>
            <a:prstGeom prst="rect">
              <a:avLst/>
            </a:prstGeom>
          </p:spPr>
          <p:txBody>
            <a:bodyPr wrap="square" rtlCol="0">
              <a:normAutofit/>
            </a:bodyPr>
            <a:lstStyle/>
            <a:p>
              <a:pPr marL="0" indent="0" algn="l">
                <a:buNone/>
              </a:pPr>
              <a:r>
                <a:rPr lang="en-US" sz="1200" noProof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worker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52155DE-7A03-0227-976F-E9B27E6C69CC}"/>
                </a:ext>
              </a:extLst>
            </p:cNvPr>
            <p:cNvCxnSpPr>
              <a:cxnSpLocks/>
              <a:stCxn id="32" idx="2"/>
              <a:endCxn id="31" idx="0"/>
            </p:cNvCxnSpPr>
            <p:nvPr/>
          </p:nvCxnSpPr>
          <p:spPr>
            <a:xfrm flipH="1">
              <a:off x="7048675" y="2100665"/>
              <a:ext cx="2133" cy="21287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2466E4-1123-AA9F-3B4A-23586EA1BC83}"/>
                </a:ext>
              </a:extLst>
            </p:cNvPr>
            <p:cNvSpPr/>
            <p:nvPr/>
          </p:nvSpPr>
          <p:spPr>
            <a:xfrm>
              <a:off x="8401060" y="1488707"/>
              <a:ext cx="721208" cy="1106179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91DA697-44E0-A6BE-F5F3-418EC4DA2A18}"/>
                </a:ext>
              </a:extLst>
            </p:cNvPr>
            <p:cNvSpPr/>
            <p:nvPr/>
          </p:nvSpPr>
          <p:spPr>
            <a:xfrm>
              <a:off x="9201905" y="1488707"/>
              <a:ext cx="721208" cy="1106179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b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05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Pod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ADD4C78-EAC1-18DF-9757-2829AC74623A}"/>
                </a:ext>
              </a:extLst>
            </p:cNvPr>
            <p:cNvSpPr/>
            <p:nvPr/>
          </p:nvSpPr>
          <p:spPr>
            <a:xfrm>
              <a:off x="8440562" y="1617298"/>
              <a:ext cx="649807" cy="295403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container 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BBA85F-DDB7-D550-AF47-8BCCBCB335A2}"/>
                </a:ext>
              </a:extLst>
            </p:cNvPr>
            <p:cNvSpPr/>
            <p:nvPr/>
          </p:nvSpPr>
          <p:spPr>
            <a:xfrm>
              <a:off x="8440562" y="1982221"/>
              <a:ext cx="649807" cy="295403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container 2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757C424-F75C-F404-8DF1-6C60837E4FCA}"/>
                </a:ext>
              </a:extLst>
            </p:cNvPr>
            <p:cNvSpPr/>
            <p:nvPr/>
          </p:nvSpPr>
          <p:spPr>
            <a:xfrm>
              <a:off x="9242381" y="1609292"/>
              <a:ext cx="649807" cy="295403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container 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4FC10D8-ED94-0C59-F94C-D571E7DFD3CF}"/>
                </a:ext>
              </a:extLst>
            </p:cNvPr>
            <p:cNvSpPr/>
            <p:nvPr/>
          </p:nvSpPr>
          <p:spPr>
            <a:xfrm>
              <a:off x="9242381" y="1974215"/>
              <a:ext cx="649807" cy="295403"/>
            </a:xfrm>
            <a:prstGeom prst="rect">
              <a:avLst/>
            </a:prstGeom>
            <a:solidFill>
              <a:srgbClr val="E5CE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container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84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/>
              <a:t>main Kubernetes resources</a:t>
            </a:r>
          </a:p>
        </p:txBody>
      </p:sp>
    </p:spTree>
    <p:extLst>
      <p:ext uri="{BB962C8B-B14F-4D97-AF65-F5344CB8AC3E}">
        <p14:creationId xmlns:p14="http://schemas.microsoft.com/office/powerpoint/2010/main" val="351043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47E7-2053-2CB6-46A7-2B7AA8B3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7208-62E9-E1D4-250A-DCAA02E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Pod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0F513BD-3331-7C8C-5845-782ACF45E41A}"/>
              </a:ext>
            </a:extLst>
          </p:cNvPr>
          <p:cNvGrpSpPr/>
          <p:nvPr/>
        </p:nvGrpSpPr>
        <p:grpSpPr>
          <a:xfrm>
            <a:off x="4694219" y="1287975"/>
            <a:ext cx="2803561" cy="1290602"/>
            <a:chOff x="4486002" y="1186525"/>
            <a:chExt cx="3219995" cy="1482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C7C1A6-3E97-999F-301C-26CBCCF6845D}"/>
                </a:ext>
              </a:extLst>
            </p:cNvPr>
            <p:cNvSpPr/>
            <p:nvPr/>
          </p:nvSpPr>
          <p:spPr>
            <a:xfrm>
              <a:off x="4486002" y="1186525"/>
              <a:ext cx="3219995" cy="1299625"/>
            </a:xfrm>
            <a:prstGeom prst="rect">
              <a:avLst/>
            </a:prstGeom>
            <a:solidFill>
              <a:srgbClr val="73FBA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1ED9998-4FEA-DEA0-B907-87A4C68936F9}"/>
                </a:ext>
              </a:extLst>
            </p:cNvPr>
            <p:cNvSpPr/>
            <p:nvPr/>
          </p:nvSpPr>
          <p:spPr>
            <a:xfrm>
              <a:off x="4837853" y="1302361"/>
              <a:ext cx="495656" cy="478564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6C3FBEAE-0FB9-A47B-B93A-8E283EB77534}"/>
                </a:ext>
              </a:extLst>
            </p:cNvPr>
            <p:cNvSpPr/>
            <p:nvPr/>
          </p:nvSpPr>
          <p:spPr>
            <a:xfrm>
              <a:off x="5450792" y="1597055"/>
              <a:ext cx="495656" cy="478564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6E8E7C4-D557-171F-2A35-D05336CA73FB}"/>
                </a:ext>
              </a:extLst>
            </p:cNvPr>
            <p:cNvSpPr/>
            <p:nvPr/>
          </p:nvSpPr>
          <p:spPr>
            <a:xfrm>
              <a:off x="4720569" y="1921961"/>
              <a:ext cx="495656" cy="478564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4" name="Can 63">
              <a:extLst>
                <a:ext uri="{FF2B5EF4-FFF2-40B4-BE49-F238E27FC236}">
                  <a16:creationId xmlns:a16="http://schemas.microsoft.com/office/drawing/2014/main" id="{26F40321-CB2B-5089-0171-49DC99152291}"/>
                </a:ext>
              </a:extLst>
            </p:cNvPr>
            <p:cNvSpPr/>
            <p:nvPr/>
          </p:nvSpPr>
          <p:spPr>
            <a:xfrm>
              <a:off x="6427535" y="1302360"/>
              <a:ext cx="398687" cy="478565"/>
            </a:xfrm>
            <a:prstGeom prst="can">
              <a:avLst/>
            </a:prstGeom>
            <a:solidFill>
              <a:schemeClr val="tx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6" name="Can 65">
              <a:extLst>
                <a:ext uri="{FF2B5EF4-FFF2-40B4-BE49-F238E27FC236}">
                  <a16:creationId xmlns:a16="http://schemas.microsoft.com/office/drawing/2014/main" id="{6DE3463B-A3E3-CCCA-9802-2AD743DC2023}"/>
                </a:ext>
              </a:extLst>
            </p:cNvPr>
            <p:cNvSpPr/>
            <p:nvPr/>
          </p:nvSpPr>
          <p:spPr>
            <a:xfrm>
              <a:off x="6955083" y="1790196"/>
              <a:ext cx="398687" cy="478565"/>
            </a:xfrm>
            <a:prstGeom prst="can">
              <a:avLst/>
            </a:prstGeom>
            <a:solidFill>
              <a:schemeClr val="tx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3B0341D-E868-B15C-0A30-51DFE5F5EDC4}"/>
                </a:ext>
              </a:extLst>
            </p:cNvPr>
            <p:cNvSpPr/>
            <p:nvPr/>
          </p:nvSpPr>
          <p:spPr>
            <a:xfrm>
              <a:off x="5638279" y="2303471"/>
              <a:ext cx="915441" cy="3653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10.10.10.4</a:t>
              </a:r>
            </a:p>
          </p:txBody>
        </p:sp>
      </p:grp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9A146095-0EE8-32A4-C8E7-34009B174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14" y="2904450"/>
            <a:ext cx="10972800" cy="3847713"/>
          </a:xfrm>
        </p:spPr>
        <p:txBody>
          <a:bodyPr/>
          <a:lstStyle/>
          <a:p>
            <a:r>
              <a:rPr lang="en-US" sz="2400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smallest deployable unit in Kubernetes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consists of one/more containers sharing the network namespace and storage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all containers to communicate using </a:t>
            </a:r>
            <a:r>
              <a:rPr lang="en-US" sz="2000" noProof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localhost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and access common data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a container binds to a specific port, no other container in the same Pod can bind to  that port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containers inside a Pod do not need to be identical </a:t>
            </a:r>
          </a:p>
          <a:p>
            <a:pPr lvl="1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</a:t>
            </a:r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run different images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Pod serves as a logical host, grouping services that often need to share data or communicate closely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67CD951-FF8A-FA23-9E61-D936D83DA282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3956028" y="1590743"/>
            <a:ext cx="9541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DDB4314-425C-26C0-6F05-B93BD05CFEA1}"/>
              </a:ext>
            </a:extLst>
          </p:cNvPr>
          <p:cNvSpPr txBox="1"/>
          <p:nvPr/>
        </p:nvSpPr>
        <p:spPr>
          <a:xfrm>
            <a:off x="2706968" y="1406077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A14D7D9-46CD-5A65-3DFE-9F58385400B8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6960198" y="1573390"/>
            <a:ext cx="10920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A83ABAD-E93F-864B-AEEE-9EB3A4DE6783}"/>
              </a:ext>
            </a:extLst>
          </p:cNvPr>
          <p:cNvSpPr txBox="1"/>
          <p:nvPr/>
        </p:nvSpPr>
        <p:spPr>
          <a:xfrm>
            <a:off x="8052268" y="1388724"/>
            <a:ext cx="102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volumes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ECE1ADD-218C-B32C-CC61-98E9409400FF}"/>
              </a:ext>
            </a:extLst>
          </p:cNvPr>
          <p:cNvCxnSpPr>
            <a:cxnSpLocks/>
            <a:stCxn id="81" idx="1"/>
            <a:endCxn id="67" idx="3"/>
          </p:cNvCxnSpPr>
          <p:nvPr/>
        </p:nvCxnSpPr>
        <p:spPr>
          <a:xfrm flipH="1" flipV="1">
            <a:off x="6494524" y="2419523"/>
            <a:ext cx="1646870" cy="2194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0C99FE7-81EC-9630-C7AE-78CF716C1957}"/>
              </a:ext>
            </a:extLst>
          </p:cNvPr>
          <p:cNvSpPr txBox="1"/>
          <p:nvPr/>
        </p:nvSpPr>
        <p:spPr>
          <a:xfrm>
            <a:off x="8141394" y="2454340"/>
            <a:ext cx="844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IP</a:t>
            </a:r>
          </a:p>
        </p:txBody>
      </p:sp>
    </p:spTree>
    <p:extLst>
      <p:ext uri="{BB962C8B-B14F-4D97-AF65-F5344CB8AC3E}">
        <p14:creationId xmlns:p14="http://schemas.microsoft.com/office/powerpoint/2010/main" val="118603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386D-6C4F-F2FA-A115-ACECF813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5944-9E83-B86F-7DE6-3F02D56A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Pod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4C8BAB-37B3-34E8-3188-3A0601D4945C}"/>
              </a:ext>
            </a:extLst>
          </p:cNvPr>
          <p:cNvSpPr/>
          <p:nvPr/>
        </p:nvSpPr>
        <p:spPr>
          <a:xfrm>
            <a:off x="4694219" y="5218866"/>
            <a:ext cx="2803561" cy="1131548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C4DE9FD9-245A-577C-1FB4-BB293CD4AA33}"/>
              </a:ext>
            </a:extLst>
          </p:cNvPr>
          <p:cNvSpPr/>
          <p:nvPr/>
        </p:nvSpPr>
        <p:spPr>
          <a:xfrm>
            <a:off x="5031544" y="5827479"/>
            <a:ext cx="431554" cy="41667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2" name="Cube 61">
            <a:extLst>
              <a:ext uri="{FF2B5EF4-FFF2-40B4-BE49-F238E27FC236}">
                <a16:creationId xmlns:a16="http://schemas.microsoft.com/office/drawing/2014/main" id="{EEBE77DC-2144-8706-2949-6C412AEC2B87}"/>
              </a:ext>
            </a:extLst>
          </p:cNvPr>
          <p:cNvSpPr/>
          <p:nvPr/>
        </p:nvSpPr>
        <p:spPr>
          <a:xfrm>
            <a:off x="5856595" y="5319721"/>
            <a:ext cx="431554" cy="41667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Can 63">
            <a:extLst>
              <a:ext uri="{FF2B5EF4-FFF2-40B4-BE49-F238E27FC236}">
                <a16:creationId xmlns:a16="http://schemas.microsoft.com/office/drawing/2014/main" id="{B9E2F76A-B156-ACD1-0103-26BB45B58A51}"/>
              </a:ext>
            </a:extLst>
          </p:cNvPr>
          <p:cNvSpPr/>
          <p:nvPr/>
        </p:nvSpPr>
        <p:spPr>
          <a:xfrm>
            <a:off x="6739661" y="5714816"/>
            <a:ext cx="347126" cy="416674"/>
          </a:xfrm>
          <a:prstGeom prst="can">
            <a:avLst/>
          </a:prstGeom>
          <a:solidFill>
            <a:schemeClr val="tx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F8B45FD-4E4E-1CBB-6578-EED6A88F1FEE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3890827" y="6029392"/>
            <a:ext cx="105031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390AD9A-DC17-9707-C5AF-4B28D107CF88}"/>
              </a:ext>
            </a:extLst>
          </p:cNvPr>
          <p:cNvSpPr txBox="1"/>
          <p:nvPr/>
        </p:nvSpPr>
        <p:spPr>
          <a:xfrm>
            <a:off x="2834126" y="5844726"/>
            <a:ext cx="1056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8448B90-260D-A1FC-64CF-45C928089BFC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7315201" y="5899377"/>
            <a:ext cx="8146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548DE5C-F88F-8241-9F68-E27DB3CA87A6}"/>
              </a:ext>
            </a:extLst>
          </p:cNvPr>
          <p:cNvSpPr txBox="1"/>
          <p:nvPr/>
        </p:nvSpPr>
        <p:spPr>
          <a:xfrm>
            <a:off x="8129856" y="5714711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F0ABC5-5E73-4481-44CC-73605518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4948"/>
            <a:ext cx="10972800" cy="1944620"/>
          </a:xfrm>
        </p:spPr>
        <p:txBody>
          <a:bodyPr/>
          <a:lstStyle/>
          <a:p>
            <a:r>
              <a:rPr lang="en-US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application </a:t>
            </a:r>
          </a:p>
          <a:p>
            <a:r>
              <a:rPr lang="en-US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Redis (in-memory database) </a:t>
            </a:r>
          </a:p>
          <a:p>
            <a:pPr lvl="1"/>
            <a:r>
              <a:rPr lang="en-US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acts as a cache for the application</a:t>
            </a:r>
          </a:p>
          <a:p>
            <a:r>
              <a:rPr lang="en-US" noProof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we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app can connect to Redis using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localhost</a:t>
            </a:r>
          </a:p>
          <a:p>
            <a:pPr lvl="1"/>
            <a:r>
              <a:rPr lang="en-US" noProof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without additional networking configurations</a:t>
            </a:r>
            <a:endParaRPr lang="en-US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DEC16-F026-73ED-7ADB-E2332C893FFE}"/>
              </a:ext>
            </a:extLst>
          </p:cNvPr>
          <p:cNvSpPr txBox="1"/>
          <p:nvPr/>
        </p:nvSpPr>
        <p:spPr>
          <a:xfrm>
            <a:off x="5746172" y="4308440"/>
            <a:ext cx="728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Redis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822358-6743-DF1F-9E7E-A45515D40C1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110535" y="4677772"/>
            <a:ext cx="0" cy="5759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A40FE6-814C-70B3-B611-54A94939EE3B}"/>
              </a:ext>
            </a:extLst>
          </p:cNvPr>
          <p:cNvCxnSpPr>
            <a:cxnSpLocks/>
            <a:stCxn id="61" idx="0"/>
            <a:endCxn id="62" idx="2"/>
          </p:cNvCxnSpPr>
          <p:nvPr/>
        </p:nvCxnSpPr>
        <p:spPr>
          <a:xfrm flipV="1">
            <a:off x="5299405" y="5580142"/>
            <a:ext cx="557190" cy="24733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1838A9-AC98-7501-D107-DA3DFEAE845E}"/>
              </a:ext>
            </a:extLst>
          </p:cNvPr>
          <p:cNvCxnSpPr>
            <a:cxnSpLocks/>
            <a:stCxn id="61" idx="5"/>
            <a:endCxn id="64" idx="2"/>
          </p:cNvCxnSpPr>
          <p:nvPr/>
        </p:nvCxnSpPr>
        <p:spPr>
          <a:xfrm flipV="1">
            <a:off x="5463098" y="5923153"/>
            <a:ext cx="1276563" cy="6057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85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3C5C-5217-C6B8-ACC4-24745FB3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BDCE-D5D4-E00B-18F2-A9A8F532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Pod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DEB12-20C6-B8D0-62E4-E4B4FDA8AE6F}"/>
              </a:ext>
            </a:extLst>
          </p:cNvPr>
          <p:cNvSpPr txBox="1"/>
          <p:nvPr/>
        </p:nvSpPr>
        <p:spPr>
          <a:xfrm>
            <a:off x="984326" y="1546091"/>
            <a:ext cx="60995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Pod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web-app-with-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labels: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app: web-app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containers: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- name: web-app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image: httpd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- name: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image: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6379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5CD0A-F133-44F6-C682-98CABF9B3B05}"/>
              </a:ext>
            </a:extLst>
          </p:cNvPr>
          <p:cNvSpPr txBox="1"/>
          <p:nvPr/>
        </p:nvSpPr>
        <p:spPr>
          <a:xfrm>
            <a:off x="6783219" y="1795519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5DAD65-9248-5F11-C1D7-7C5BA193A84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904566" y="1980185"/>
            <a:ext cx="3878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C3B49F-E406-DE2C-443E-6F534E162A69}"/>
              </a:ext>
            </a:extLst>
          </p:cNvPr>
          <p:cNvSpPr txBox="1"/>
          <p:nvPr/>
        </p:nvSpPr>
        <p:spPr>
          <a:xfrm>
            <a:off x="6783219" y="2392763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Pod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578A09-1C1E-87FF-53C0-E07452A9E6D3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5077611" y="2577429"/>
            <a:ext cx="170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AE4218D-BA71-AFAA-689C-F0C4C1DBF39B}"/>
              </a:ext>
            </a:extLst>
          </p:cNvPr>
          <p:cNvSpPr txBox="1"/>
          <p:nvPr/>
        </p:nvSpPr>
        <p:spPr>
          <a:xfrm>
            <a:off x="6783219" y="2931333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labels to identify the Pod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35CB2C-714E-E240-35B1-D502F48F8A6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775935" y="3115999"/>
            <a:ext cx="3007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46900E02-4033-A296-35EF-D4849C04C76A}"/>
              </a:ext>
            </a:extLst>
          </p:cNvPr>
          <p:cNvSpPr/>
          <p:nvPr/>
        </p:nvSpPr>
        <p:spPr>
          <a:xfrm>
            <a:off x="5161243" y="3256938"/>
            <a:ext cx="215153" cy="271714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22216-FFB7-E40E-5D6A-9BA2F1E7849D}"/>
              </a:ext>
            </a:extLst>
          </p:cNvPr>
          <p:cNvSpPr txBox="1"/>
          <p:nvPr/>
        </p:nvSpPr>
        <p:spPr>
          <a:xfrm>
            <a:off x="6783219" y="4412094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containers composing the Pod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1C0302-BFF3-CA49-E982-38CE51B5D940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376396" y="4596760"/>
            <a:ext cx="1406823" cy="185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88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6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3E8B-9903-22B7-E0FD-9B5B858D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BED0-A734-4A60-875B-C5477253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Pod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303E0-83AA-FD02-E2F3-F5D4B9350460}"/>
              </a:ext>
            </a:extLst>
          </p:cNvPr>
          <p:cNvSpPr txBox="1"/>
          <p:nvPr/>
        </p:nvSpPr>
        <p:spPr>
          <a:xfrm>
            <a:off x="984326" y="1546091"/>
            <a:ext cx="60995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Pod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web-app-with-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labels: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app: web-app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containers: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- name: web-app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image: httpd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- name: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image: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6379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114AD-07DD-77F3-155F-0176168B3176}"/>
              </a:ext>
            </a:extLst>
          </p:cNvPr>
          <p:cNvSpPr txBox="1"/>
          <p:nvPr/>
        </p:nvSpPr>
        <p:spPr>
          <a:xfrm>
            <a:off x="6494985" y="3744485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first container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89A41A-CA66-348E-6C73-3A95CD668A13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789377" y="3929151"/>
            <a:ext cx="170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83539B-EFF6-1D41-755B-84D6FACFCAB7}"/>
              </a:ext>
            </a:extLst>
          </p:cNvPr>
          <p:cNvSpPr txBox="1"/>
          <p:nvPr/>
        </p:nvSpPr>
        <p:spPr>
          <a:xfrm>
            <a:off x="6494985" y="4215611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container image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B380DC-522B-AD0C-BF2E-355891547D5C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19261" y="4215611"/>
            <a:ext cx="1475724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3067FC-285F-3119-A5C6-2600905D28F4}"/>
              </a:ext>
            </a:extLst>
          </p:cNvPr>
          <p:cNvSpPr txBox="1"/>
          <p:nvPr/>
        </p:nvSpPr>
        <p:spPr>
          <a:xfrm>
            <a:off x="6494985" y="4686736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 exposed by the first container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0BAEA1-CE34-D485-643F-DBE9EBF4274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273826" y="4728976"/>
            <a:ext cx="2221159" cy="142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00A54F5-E061-A128-F9F2-FBB24E01DF93}"/>
              </a:ext>
            </a:extLst>
          </p:cNvPr>
          <p:cNvSpPr txBox="1"/>
          <p:nvPr/>
        </p:nvSpPr>
        <p:spPr>
          <a:xfrm>
            <a:off x="6494985" y="5200101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second container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BD218F-DC00-9531-5447-73DDC07A9EB9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3102864" y="5004816"/>
            <a:ext cx="3392121" cy="379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F6EE0A9-2AA8-6FEE-F1FC-8C4FBE915BC2}"/>
              </a:ext>
            </a:extLst>
          </p:cNvPr>
          <p:cNvSpPr txBox="1"/>
          <p:nvPr/>
        </p:nvSpPr>
        <p:spPr>
          <a:xfrm>
            <a:off x="6494985" y="5671227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second container image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61D3E1-2141-5A97-295D-663284F425A2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3182112" y="5311909"/>
            <a:ext cx="3312873" cy="54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E3A5CE-8EC3-0A66-364A-D4D9BB1BB22A}"/>
              </a:ext>
            </a:extLst>
          </p:cNvPr>
          <p:cNvSpPr txBox="1"/>
          <p:nvPr/>
        </p:nvSpPr>
        <p:spPr>
          <a:xfrm>
            <a:off x="6494985" y="6142352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 exposed by the second container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4324BF-9342-26C1-E8AF-A10F1EE6EF00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4273826" y="5855893"/>
            <a:ext cx="2221159" cy="4711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  <p:bldP spid="9" grpId="0" animBg="1"/>
      <p:bldP spid="25" grpId="0" animBg="1"/>
      <p:bldP spid="27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BB02-E33A-0413-85E0-951D29C4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612E-7858-3F4A-135C-621D569D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Deployment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36DDC53-BDF3-4817-7F97-B3F1F5A8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instantiate/manage individual Pods (so-called “naked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Pods) is discouraged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“naked” Pods are not automatically rescheduled if a container crashes or the node fails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leads to potential service downtime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object ensures high availability 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managing multiple identical Pod replicas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automatically replaces failing or unresponsive instances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ensures that there is always at least one active service instance to handle user requests</a:t>
            </a:r>
          </a:p>
          <a:p>
            <a:r>
              <a:rPr lang="en-US" sz="24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updating a Deployment, K8s incrementally replaces old Pods with new ones in a controlled manner</a:t>
            </a:r>
          </a:p>
          <a:p>
            <a:pPr lvl="1"/>
            <a:r>
              <a:rPr lang="en-US" sz="20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prevents downtime and ensures a smooth transition between the two versions</a:t>
            </a:r>
          </a:p>
        </p:txBody>
      </p:sp>
    </p:spTree>
    <p:extLst>
      <p:ext uri="{BB962C8B-B14F-4D97-AF65-F5344CB8AC3E}">
        <p14:creationId xmlns:p14="http://schemas.microsoft.com/office/powerpoint/2010/main" val="247257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1092-340B-3BAD-B83C-EE772208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F7F1-0FB5-6742-9107-02761FA7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Deployment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6EAF3C-7C76-D596-0668-E93AE4527F95}"/>
              </a:ext>
            </a:extLst>
          </p:cNvPr>
          <p:cNvSpPr/>
          <p:nvPr/>
        </p:nvSpPr>
        <p:spPr>
          <a:xfrm>
            <a:off x="3083092" y="3543425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601E5-2058-5953-F97F-9DE741033A5A}"/>
              </a:ext>
            </a:extLst>
          </p:cNvPr>
          <p:cNvSpPr/>
          <p:nvPr/>
        </p:nvSpPr>
        <p:spPr>
          <a:xfrm>
            <a:off x="5514398" y="3543420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50F17-6332-4C56-7446-4F99FF74224A}"/>
              </a:ext>
            </a:extLst>
          </p:cNvPr>
          <p:cNvSpPr/>
          <p:nvPr/>
        </p:nvSpPr>
        <p:spPr>
          <a:xfrm>
            <a:off x="7945700" y="3543421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4D38D9-C35A-DAB9-17E2-AA4D883378BA}"/>
              </a:ext>
            </a:extLst>
          </p:cNvPr>
          <p:cNvSpPr/>
          <p:nvPr/>
        </p:nvSpPr>
        <p:spPr>
          <a:xfrm>
            <a:off x="3083090" y="2251332"/>
            <a:ext cx="6025819" cy="716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“I want three replicas of my web app Pods running”</a:t>
            </a:r>
            <a:endParaRPr lang="en-US" sz="16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BB47330-0157-A921-BDE9-14ED69897D86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4592336" y="2039759"/>
            <a:ext cx="576027" cy="2431303"/>
          </a:xfrm>
          <a:prstGeom prst="bentConnector3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8F08879-845B-EA2E-7F95-E0C10282715E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rot="16200000" flipH="1">
            <a:off x="5807991" y="3255407"/>
            <a:ext cx="576022" cy="3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6262487-E81C-F84D-88E7-F4C34316CFE6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7023641" y="2039755"/>
            <a:ext cx="576024" cy="2431305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56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8A43-DD6D-3885-427A-1AB7B9AA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6CF8-B866-6B82-2D31-8F2093D1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Deployment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D3FE55-1FF5-5E55-8D47-6DAA0909B66C}"/>
              </a:ext>
            </a:extLst>
          </p:cNvPr>
          <p:cNvSpPr/>
          <p:nvPr/>
        </p:nvSpPr>
        <p:spPr>
          <a:xfrm>
            <a:off x="3083092" y="3543425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0EF19-BB58-1BBC-FBD5-D52FD19E066B}"/>
              </a:ext>
            </a:extLst>
          </p:cNvPr>
          <p:cNvSpPr/>
          <p:nvPr/>
        </p:nvSpPr>
        <p:spPr>
          <a:xfrm>
            <a:off x="5514398" y="3543420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DB2D4-08AA-9712-0AA8-BDDD2AAA989F}"/>
              </a:ext>
            </a:extLst>
          </p:cNvPr>
          <p:cNvSpPr/>
          <p:nvPr/>
        </p:nvSpPr>
        <p:spPr>
          <a:xfrm>
            <a:off x="7945700" y="3543421"/>
            <a:ext cx="1163209" cy="106324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8397D-53B5-7297-76B2-BF8533E07202}"/>
              </a:ext>
            </a:extLst>
          </p:cNvPr>
          <p:cNvSpPr/>
          <p:nvPr/>
        </p:nvSpPr>
        <p:spPr>
          <a:xfrm>
            <a:off x="3083090" y="2251332"/>
            <a:ext cx="6025819" cy="716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“I want three replicas of my </a:t>
            </a:r>
            <a:r>
              <a:rPr lang="en-US" sz="1600" u="sng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</a:t>
            </a:r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 app Pods running”</a:t>
            </a:r>
            <a:endParaRPr lang="en-US" sz="16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7D341E2E-E05A-0845-614A-6D68432FE5A1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4592336" y="2039759"/>
            <a:ext cx="576027" cy="2431303"/>
          </a:xfrm>
          <a:prstGeom prst="bentConnector3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FD154D2-96DC-2F1E-F3AC-5F2B4433C579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rot="16200000" flipH="1">
            <a:off x="5807991" y="3255407"/>
            <a:ext cx="576022" cy="3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22DC87AA-514D-28D2-53B0-D37B32F7CA9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7023641" y="2039755"/>
            <a:ext cx="576024" cy="2431305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1BF5E-517D-8DF5-3ECE-786312122365}"/>
              </a:ext>
            </a:extLst>
          </p:cNvPr>
          <p:cNvSpPr/>
          <p:nvPr/>
        </p:nvSpPr>
        <p:spPr>
          <a:xfrm>
            <a:off x="3083090" y="4760832"/>
            <a:ext cx="1163209" cy="1063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668DF1-2194-C64C-64DD-EF25F91626EA}"/>
              </a:ext>
            </a:extLst>
          </p:cNvPr>
          <p:cNvSpPr/>
          <p:nvPr/>
        </p:nvSpPr>
        <p:spPr>
          <a:xfrm>
            <a:off x="5514394" y="4760831"/>
            <a:ext cx="1163209" cy="1063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51B76-7018-A633-4581-5DCB6CB9C4A4}"/>
              </a:ext>
            </a:extLst>
          </p:cNvPr>
          <p:cNvSpPr/>
          <p:nvPr/>
        </p:nvSpPr>
        <p:spPr>
          <a:xfrm>
            <a:off x="7945700" y="4760831"/>
            <a:ext cx="1163209" cy="1063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87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7.40741E-7 L -8.33333E-7 -0.1775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17755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7.40741E-7 L 1.04167E-6 -0.17755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CAC8-57B8-92C0-A6AC-B528F528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E602-F127-856F-1F12-8CACA521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Deployment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11F6E-1C1C-0478-78CD-CF310134865E}"/>
              </a:ext>
            </a:extLst>
          </p:cNvPr>
          <p:cNvSpPr txBox="1"/>
          <p:nvPr/>
        </p:nvSpPr>
        <p:spPr>
          <a:xfrm>
            <a:off x="609600" y="1259632"/>
            <a:ext cx="6097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kind: Deployment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name: web-app-deployment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selector: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matchLabels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app: frontend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replicas: 3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metadata: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labels: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app: frontend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- name: web-app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image: httpd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ports: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F1CA4-D042-F561-C2EE-F1BDA6F0958B}"/>
              </a:ext>
            </a:extLst>
          </p:cNvPr>
          <p:cNvSpPr txBox="1"/>
          <p:nvPr/>
        </p:nvSpPr>
        <p:spPr>
          <a:xfrm>
            <a:off x="6852812" y="1537102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AE023B-5D67-0427-227B-516E7583AB3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974159" y="1721768"/>
            <a:ext cx="3878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90DA0B-D72A-6902-B79D-304D0FDB3BD3}"/>
              </a:ext>
            </a:extLst>
          </p:cNvPr>
          <p:cNvSpPr txBox="1"/>
          <p:nvPr/>
        </p:nvSpPr>
        <p:spPr>
          <a:xfrm>
            <a:off x="6852812" y="2086810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Deployment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8DBC88-3D27-69EE-2484-E6AF71A0716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084983" y="2271476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D3FDE1-4256-52CC-5471-9E4D170F1E8D}"/>
              </a:ext>
            </a:extLst>
          </p:cNvPr>
          <p:cNvSpPr txBox="1"/>
          <p:nvPr/>
        </p:nvSpPr>
        <p:spPr>
          <a:xfrm>
            <a:off x="6852812" y="2754703"/>
            <a:ext cx="45840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labels that a Pod must have to be managed by the Deployment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487B1C-E0FC-0778-A092-58DF6CF9353D}"/>
              </a:ext>
            </a:extLst>
          </p:cNvPr>
          <p:cNvCxnSpPr>
            <a:cxnSpLocks/>
            <a:stCxn id="21" idx="1"/>
            <a:endCxn id="23" idx="1"/>
          </p:cNvCxnSpPr>
          <p:nvPr/>
        </p:nvCxnSpPr>
        <p:spPr>
          <a:xfrm flipH="1">
            <a:off x="3497900" y="3077869"/>
            <a:ext cx="3354912" cy="116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8EBA500A-C420-9DA6-CC6E-5B690AE89EDB}"/>
              </a:ext>
            </a:extLst>
          </p:cNvPr>
          <p:cNvSpPr/>
          <p:nvPr/>
        </p:nvSpPr>
        <p:spPr>
          <a:xfrm>
            <a:off x="3282747" y="2750043"/>
            <a:ext cx="215153" cy="67895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DF8489-C5E3-FEA3-0875-2557A5925593}"/>
              </a:ext>
            </a:extLst>
          </p:cNvPr>
          <p:cNvSpPr txBox="1"/>
          <p:nvPr/>
        </p:nvSpPr>
        <p:spPr>
          <a:xfrm>
            <a:off x="6852812" y="3543069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desired number of replicas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1BA4D0-2195-A275-E36E-DD7C70F11641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2463501" y="3636085"/>
            <a:ext cx="4389311" cy="91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DC04EB4-ACF9-FFCF-7A7A-6D9A13C7D2CB}"/>
              </a:ext>
            </a:extLst>
          </p:cNvPr>
          <p:cNvSpPr txBox="1"/>
          <p:nvPr/>
        </p:nvSpPr>
        <p:spPr>
          <a:xfrm>
            <a:off x="6852812" y="5041509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template (same as a Pod definition)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C71530-EBA8-36C5-28EA-06E0BBD81134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5390509" y="5226175"/>
            <a:ext cx="14623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67E07400-923B-10DE-C816-2873BD8B6A1B}"/>
              </a:ext>
            </a:extLst>
          </p:cNvPr>
          <p:cNvSpPr/>
          <p:nvPr/>
        </p:nvSpPr>
        <p:spPr>
          <a:xfrm>
            <a:off x="5175356" y="3820751"/>
            <a:ext cx="215153" cy="279351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0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1" grpId="0" animBg="1"/>
      <p:bldP spid="23" grpId="0" animBg="1"/>
      <p:bldP spid="28" grpId="0" animBg="1"/>
      <p:bldP spid="32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86EC-19B8-F1FE-F4CF-E6EA41E8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0595-3CB4-6DB5-79D1-7C52169C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Service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CBBF301-CF50-1B26-7E41-2523E358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US" sz="28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Deployments, we have applications running in the cluster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(optionally) multiple replicas</a:t>
            </a:r>
          </a:p>
          <a:p>
            <a:r>
              <a:rPr lang="en-US" sz="28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applications are still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not exposed to end users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object is an abstraction that provides a stable way to expose and access applications running in the cluster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decouple applications from specific Pod instances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assigning a fixed IP address to a set of Pods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ensures that Pods remain always accessible, even if they are scaled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enables load balancing across multiple Pod replicas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running in different nodes</a:t>
            </a:r>
          </a:p>
        </p:txBody>
      </p:sp>
    </p:spTree>
    <p:extLst>
      <p:ext uri="{BB962C8B-B14F-4D97-AF65-F5344CB8AC3E}">
        <p14:creationId xmlns:p14="http://schemas.microsoft.com/office/powerpoint/2010/main" val="15289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EB5D-C349-C709-53E3-60C12DD7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F5C7-35E1-7ACD-9C27-E321DE6F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types of Service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AB20984-5B1F-5457-C7B2-68978733B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932390"/>
          </a:xfrm>
        </p:spPr>
        <p:txBody>
          <a:bodyPr/>
          <a:lstStyle/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ClusterIP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exposes the service internally within the cluster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basically, it is only for Pod-to-Pod communications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default used by K8s when deploying a Service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27E70-367E-44DC-732D-9094D597F6E0}"/>
              </a:ext>
            </a:extLst>
          </p:cNvPr>
          <p:cNvSpPr txBox="1"/>
          <p:nvPr/>
        </p:nvSpPr>
        <p:spPr>
          <a:xfrm>
            <a:off x="6184640" y="5757327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CEFE7-AFB9-C015-4903-4C30C0554CC9}"/>
              </a:ext>
            </a:extLst>
          </p:cNvPr>
          <p:cNvSpPr/>
          <p:nvPr/>
        </p:nvSpPr>
        <p:spPr>
          <a:xfrm>
            <a:off x="4611775" y="3715135"/>
            <a:ext cx="4108762" cy="19206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84AC2-3A7A-877B-E43C-C5786DFB3AAE}"/>
              </a:ext>
            </a:extLst>
          </p:cNvPr>
          <p:cNvSpPr/>
          <p:nvPr/>
        </p:nvSpPr>
        <p:spPr>
          <a:xfrm>
            <a:off x="7720628" y="4806595"/>
            <a:ext cx="782339" cy="715105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EF1E7-3B95-AFD5-89EE-D2FC1C36D38B}"/>
              </a:ext>
            </a:extLst>
          </p:cNvPr>
          <p:cNvSpPr/>
          <p:nvPr/>
        </p:nvSpPr>
        <p:spPr>
          <a:xfrm>
            <a:off x="7047575" y="4513912"/>
            <a:ext cx="1252242" cy="3896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port: 8000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56FC3026-48FA-B8BD-EE33-49E29D6E9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912" y="3470290"/>
            <a:ext cx="503456" cy="4896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A584D85-E084-B7A5-DC27-51EC37DEC6D9}"/>
              </a:ext>
            </a:extLst>
          </p:cNvPr>
          <p:cNvSpPr/>
          <p:nvPr/>
        </p:nvSpPr>
        <p:spPr>
          <a:xfrm>
            <a:off x="6184639" y="3946111"/>
            <a:ext cx="862935" cy="322956"/>
          </a:xfrm>
          <a:prstGeom prst="rect">
            <a:avLst/>
          </a:prstGeom>
          <a:solidFill>
            <a:srgbClr val="E3D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port: 80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03B48B-6A22-04BF-F096-DEA8C7EBA319}"/>
              </a:ext>
            </a:extLst>
          </p:cNvPr>
          <p:cNvCxnSpPr>
            <a:cxnSpLocks/>
            <a:stCxn id="11" idx="2"/>
            <a:endCxn id="8" idx="1"/>
          </p:cNvCxnSpPr>
          <p:nvPr/>
        </p:nvCxnSpPr>
        <p:spPr>
          <a:xfrm>
            <a:off x="6616107" y="4269067"/>
            <a:ext cx="431468" cy="43965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5CDCA44-C800-3FF4-3CCB-216A5FF42FB4}"/>
              </a:ext>
            </a:extLst>
          </p:cNvPr>
          <p:cNvSpPr/>
          <p:nvPr/>
        </p:nvSpPr>
        <p:spPr>
          <a:xfrm>
            <a:off x="3713883" y="3226686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F51BCB3D-6DD8-9474-4A9E-9E2F3ECE2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537" y="2941918"/>
            <a:ext cx="553759" cy="5390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F72EE1-ACB7-A46C-A3D6-6B9E031B41CC}"/>
              </a:ext>
            </a:extLst>
          </p:cNvPr>
          <p:cNvSpPr txBox="1"/>
          <p:nvPr/>
        </p:nvSpPr>
        <p:spPr>
          <a:xfrm>
            <a:off x="6184640" y="2821417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904BF234-8B8C-7858-5AC5-9E8E1024D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4501" y="4233725"/>
            <a:ext cx="693690" cy="6936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299AF25-3B03-FF6A-3F94-70DBDED6025D}"/>
              </a:ext>
            </a:extLst>
          </p:cNvPr>
          <p:cNvSpPr txBox="1"/>
          <p:nvPr/>
        </p:nvSpPr>
        <p:spPr>
          <a:xfrm>
            <a:off x="1649830" y="4841191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3D733A-C936-7099-0116-5AC4ED0453C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478191" y="4580570"/>
            <a:ext cx="6473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210812D1-7B50-318B-B978-08E236B46B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65033" y="4384496"/>
            <a:ext cx="422099" cy="42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4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 animBg="1"/>
      <p:bldP spid="11" grpId="0" animBg="1"/>
      <p:bldP spid="15" grpId="0" animBg="1"/>
      <p:bldP spid="17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2D101-3504-AF00-7CD0-DD784069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B3B4-4753-AA67-CDD0-E0624728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types of Service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89C5263-0F2F-7A99-19E9-706AAB1B6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932390"/>
          </a:xfrm>
        </p:spPr>
        <p:txBody>
          <a:bodyPr/>
          <a:lstStyle/>
          <a:p>
            <a:r>
              <a:rPr lang="en-US" sz="24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NodePort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exposes a specific port at the </a:t>
            </a:r>
            <a:r>
              <a:rPr lang="en-US" sz="2400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 level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within K8s</a:t>
            </a:r>
          </a:p>
          <a:p>
            <a:pPr lvl="1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traffic hitting the node port is forwarded to the Service, which routes it to the Pod</a:t>
            </a:r>
            <a:endParaRPr lang="en-US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5918A-5636-74DA-72CB-A1751BF270CB}"/>
              </a:ext>
            </a:extLst>
          </p:cNvPr>
          <p:cNvSpPr txBox="1"/>
          <p:nvPr/>
        </p:nvSpPr>
        <p:spPr>
          <a:xfrm>
            <a:off x="6184640" y="5259558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95757-0F70-520D-56BD-B2713B3DFE4E}"/>
              </a:ext>
            </a:extLst>
          </p:cNvPr>
          <p:cNvSpPr/>
          <p:nvPr/>
        </p:nvSpPr>
        <p:spPr>
          <a:xfrm>
            <a:off x="4611775" y="3217366"/>
            <a:ext cx="4108762" cy="19206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AAA40-EE33-B3BB-794D-46BAACFEF23D}"/>
              </a:ext>
            </a:extLst>
          </p:cNvPr>
          <p:cNvSpPr/>
          <p:nvPr/>
        </p:nvSpPr>
        <p:spPr>
          <a:xfrm>
            <a:off x="7720628" y="4308826"/>
            <a:ext cx="782339" cy="715105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31AF81-291A-66F3-4EB4-FFCE49B52B99}"/>
              </a:ext>
            </a:extLst>
          </p:cNvPr>
          <p:cNvSpPr/>
          <p:nvPr/>
        </p:nvSpPr>
        <p:spPr>
          <a:xfrm>
            <a:off x="7047575" y="4002274"/>
            <a:ext cx="1252242" cy="4034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port: 8000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C5C793C7-9459-D144-8CD9-95ED8569A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912" y="2972521"/>
            <a:ext cx="503456" cy="4896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89DE8A-2248-05EF-D14B-AA2C37C58EE2}"/>
              </a:ext>
            </a:extLst>
          </p:cNvPr>
          <p:cNvSpPr/>
          <p:nvPr/>
        </p:nvSpPr>
        <p:spPr>
          <a:xfrm>
            <a:off x="6184639" y="3448342"/>
            <a:ext cx="862935" cy="322956"/>
          </a:xfrm>
          <a:prstGeom prst="rect">
            <a:avLst/>
          </a:prstGeom>
          <a:solidFill>
            <a:srgbClr val="E3D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port: 80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38A20F-67AB-6ABA-2DD6-6AFCA485E114}"/>
              </a:ext>
            </a:extLst>
          </p:cNvPr>
          <p:cNvCxnSpPr>
            <a:cxnSpLocks/>
            <a:stCxn id="11" idx="2"/>
            <a:endCxn id="8" idx="1"/>
          </p:cNvCxnSpPr>
          <p:nvPr/>
        </p:nvCxnSpPr>
        <p:spPr>
          <a:xfrm>
            <a:off x="6616107" y="3771298"/>
            <a:ext cx="431468" cy="4327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AAE67D0-F724-E1B0-8EA6-14529144A9AE}"/>
              </a:ext>
            </a:extLst>
          </p:cNvPr>
          <p:cNvSpPr/>
          <p:nvPr/>
        </p:nvSpPr>
        <p:spPr>
          <a:xfrm>
            <a:off x="3713883" y="2728917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129F92FC-3CC9-D96C-B29A-0F803D81F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537" y="2444149"/>
            <a:ext cx="553759" cy="5390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53D0361-F7E2-D0DF-CD5A-5F75F8E534AD}"/>
              </a:ext>
            </a:extLst>
          </p:cNvPr>
          <p:cNvSpPr txBox="1"/>
          <p:nvPr/>
        </p:nvSpPr>
        <p:spPr>
          <a:xfrm>
            <a:off x="6184640" y="2323648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F3FDC1A0-1A2E-AFD7-33E7-065BBEA2E7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1779" y="3735956"/>
            <a:ext cx="693690" cy="6936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281827B-A75A-8288-1011-D8C1B8C9FFDF}"/>
              </a:ext>
            </a:extLst>
          </p:cNvPr>
          <p:cNvSpPr txBox="1"/>
          <p:nvPr/>
        </p:nvSpPr>
        <p:spPr>
          <a:xfrm>
            <a:off x="2037108" y="4343422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A36C80-8EA5-67B8-A43A-C889E46DD615}"/>
              </a:ext>
            </a:extLst>
          </p:cNvPr>
          <p:cNvCxnSpPr>
            <a:cxnSpLocks/>
            <a:stCxn id="19" idx="3"/>
            <a:endCxn id="3" idx="1"/>
          </p:cNvCxnSpPr>
          <p:nvPr/>
        </p:nvCxnSpPr>
        <p:spPr>
          <a:xfrm>
            <a:off x="2865469" y="4082801"/>
            <a:ext cx="11692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5C603DE-9E8F-FA4F-494E-E28166B01D8B}"/>
              </a:ext>
            </a:extLst>
          </p:cNvPr>
          <p:cNvSpPr/>
          <p:nvPr/>
        </p:nvSpPr>
        <p:spPr>
          <a:xfrm>
            <a:off x="4034708" y="3896537"/>
            <a:ext cx="1154134" cy="372527"/>
          </a:xfrm>
          <a:prstGeom prst="rect">
            <a:avLst/>
          </a:prstGeom>
          <a:solidFill>
            <a:srgbClr val="FFE7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 port: 30000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34F19F-D5B7-3AA4-CFCB-1370E592247B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5188842" y="3609820"/>
            <a:ext cx="995797" cy="4729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8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 animBg="1"/>
      <p:bldP spid="11" grpId="0" animBg="1"/>
      <p:bldP spid="15" grpId="0" animBg="1"/>
      <p:bldP spid="17" grpId="0"/>
      <p:bldP spid="20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DD00-0A2D-240F-B9E1-2AC6F495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59BA-0624-4613-6362-09F79C06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/>
              <a:t>types of Service – </a:t>
            </a:r>
            <a:r>
              <a:rPr lang="en-US" sz="4000" noProof="0" err="1"/>
              <a:t>NodePort</a:t>
            </a:r>
            <a:r>
              <a:rPr lang="en-US" sz="4000" noProof="0"/>
              <a:t> drawbacks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A2DF1F2-E06F-3210-79ED-BF820599E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internal node IP address (inside the data center) must be reachable from outside the cluster</a:t>
            </a:r>
          </a:p>
          <a:p>
            <a:pPr lvl="1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IPs are never exposed on the Internet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load balancing policies</a:t>
            </a:r>
          </a:p>
          <a:p>
            <a:pPr lvl="1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same port is exposed across all nodes hosting that Service</a:t>
            </a:r>
          </a:p>
          <a:p>
            <a:pPr lvl="1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bottlenecks on a single node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usually used for development and testing scenarios</a:t>
            </a:r>
          </a:p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201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CB92-9593-EAB0-67A8-6967C69F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4F3C-EF07-CB84-E2C0-7E1A4F6E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types of Service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04D4885-2465-B0AE-4835-61C87AC9F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232380"/>
          </a:xfrm>
        </p:spPr>
        <p:txBody>
          <a:bodyPr/>
          <a:lstStyle/>
          <a:p>
            <a:r>
              <a:rPr lang="en-US" sz="24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LoadBalancer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facilitates user access through an </a:t>
            </a:r>
            <a:r>
              <a:rPr lang="en-US" sz="2400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load balancer</a:t>
            </a:r>
          </a:p>
          <a:p>
            <a:pPr lvl="1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external load balancer is managed by the cloud provider</a:t>
            </a:r>
          </a:p>
          <a:p>
            <a:pPr lvl="1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cloud provider has the responsibility of efficiently distributing traffic to the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CF04F-D867-8172-B311-B035E33F7B59}"/>
              </a:ext>
            </a:extLst>
          </p:cNvPr>
          <p:cNvSpPr txBox="1"/>
          <p:nvPr/>
        </p:nvSpPr>
        <p:spPr>
          <a:xfrm>
            <a:off x="6819341" y="5797441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93901-F677-043C-C966-5AEFF05E3C55}"/>
              </a:ext>
            </a:extLst>
          </p:cNvPr>
          <p:cNvSpPr/>
          <p:nvPr/>
        </p:nvSpPr>
        <p:spPr>
          <a:xfrm>
            <a:off x="5246476" y="3755249"/>
            <a:ext cx="4108762" cy="19206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89F8DB-495C-2E46-6B41-DA2BCA085869}"/>
              </a:ext>
            </a:extLst>
          </p:cNvPr>
          <p:cNvSpPr/>
          <p:nvPr/>
        </p:nvSpPr>
        <p:spPr>
          <a:xfrm>
            <a:off x="8355329" y="4846709"/>
            <a:ext cx="782339" cy="715105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app</a:t>
            </a:r>
            <a:b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18D7F2-E572-0A2B-FC33-BA8C0AF4BFAE}"/>
              </a:ext>
            </a:extLst>
          </p:cNvPr>
          <p:cNvSpPr/>
          <p:nvPr/>
        </p:nvSpPr>
        <p:spPr>
          <a:xfrm>
            <a:off x="7682276" y="4540157"/>
            <a:ext cx="1252242" cy="4034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port: 8000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3" name="Picture 22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965E1047-D7B4-6823-1F48-18628F6B3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613" y="3510404"/>
            <a:ext cx="503456" cy="4896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FF481A7-12B8-15A8-827A-A8B9FAF3C6AF}"/>
              </a:ext>
            </a:extLst>
          </p:cNvPr>
          <p:cNvSpPr/>
          <p:nvPr/>
        </p:nvSpPr>
        <p:spPr>
          <a:xfrm>
            <a:off x="6819340" y="3986225"/>
            <a:ext cx="862935" cy="322956"/>
          </a:xfrm>
          <a:prstGeom prst="rect">
            <a:avLst/>
          </a:prstGeom>
          <a:solidFill>
            <a:srgbClr val="E3D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port: 80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7FD8FB-DFD5-E2E4-9967-9530B5EFFA08}"/>
              </a:ext>
            </a:extLst>
          </p:cNvPr>
          <p:cNvCxnSpPr>
            <a:cxnSpLocks/>
            <a:stCxn id="24" idx="2"/>
            <a:endCxn id="18" idx="1"/>
          </p:cNvCxnSpPr>
          <p:nvPr/>
        </p:nvCxnSpPr>
        <p:spPr>
          <a:xfrm>
            <a:off x="7250808" y="4309181"/>
            <a:ext cx="431468" cy="4327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F579B36-7BE6-74A1-69B4-DF60650F991D}"/>
              </a:ext>
            </a:extLst>
          </p:cNvPr>
          <p:cNvSpPr/>
          <p:nvPr/>
        </p:nvSpPr>
        <p:spPr>
          <a:xfrm>
            <a:off x="4348584" y="3266800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26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564C6C1C-3DCD-E26C-CDBD-090DDF581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38" y="2982032"/>
            <a:ext cx="553759" cy="5390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C731F7D-137C-B692-C2FB-5CBBB6F6F742}"/>
              </a:ext>
            </a:extLst>
          </p:cNvPr>
          <p:cNvSpPr txBox="1"/>
          <p:nvPr/>
        </p:nvSpPr>
        <p:spPr>
          <a:xfrm>
            <a:off x="6819341" y="2861531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29" name="Graphic 28" descr="Laptop with solid fill">
            <a:extLst>
              <a:ext uri="{FF2B5EF4-FFF2-40B4-BE49-F238E27FC236}">
                <a16:creationId xmlns:a16="http://schemas.microsoft.com/office/drawing/2014/main" id="{24040CE8-BE79-3AEA-FA53-7E78D37F2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1927" y="4273839"/>
            <a:ext cx="693690" cy="69369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266871-7699-8450-ACAB-4F10B31B66B3}"/>
              </a:ext>
            </a:extLst>
          </p:cNvPr>
          <p:cNvSpPr txBox="1"/>
          <p:nvPr/>
        </p:nvSpPr>
        <p:spPr>
          <a:xfrm>
            <a:off x="1187256" y="4881305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277125-CDB9-16DE-ECB4-9ADBA55100FF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2015617" y="4620684"/>
            <a:ext cx="11692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blue circle with black squares and arrows&#10;&#10;Description automatically generated">
            <a:extLst>
              <a:ext uri="{FF2B5EF4-FFF2-40B4-BE49-F238E27FC236}">
                <a16:creationId xmlns:a16="http://schemas.microsoft.com/office/drawing/2014/main" id="{F272F747-BF3C-A9B8-9755-9377196145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760" y="4203473"/>
            <a:ext cx="834422" cy="83442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AB95AC8-5747-18DF-3038-D5330EDA87D4}"/>
              </a:ext>
            </a:extLst>
          </p:cNvPr>
          <p:cNvSpPr txBox="1"/>
          <p:nvPr/>
        </p:nvSpPr>
        <p:spPr>
          <a:xfrm>
            <a:off x="2962306" y="5056970"/>
            <a:ext cx="1393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</a:t>
            </a:r>
            <a:b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 balancer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2792C6-AFA4-D19A-28C5-14E768BFE3E3}"/>
              </a:ext>
            </a:extLst>
          </p:cNvPr>
          <p:cNvCxnSpPr>
            <a:cxnSpLocks/>
            <a:stCxn id="35" idx="3"/>
            <a:endCxn id="3" idx="1"/>
          </p:cNvCxnSpPr>
          <p:nvPr/>
        </p:nvCxnSpPr>
        <p:spPr>
          <a:xfrm>
            <a:off x="4076182" y="4620684"/>
            <a:ext cx="59322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9EC53FE-0191-A02D-8781-CF8D09B62702}"/>
              </a:ext>
            </a:extLst>
          </p:cNvPr>
          <p:cNvSpPr txBox="1"/>
          <p:nvPr/>
        </p:nvSpPr>
        <p:spPr>
          <a:xfrm>
            <a:off x="1118370" y="3094905"/>
            <a:ext cx="231169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>
                <a:latin typeface="Consolas" panose="020B0609020204030204" pitchFamily="49" charset="0"/>
                <a:cs typeface="Consolas" panose="020B0609020204030204" pitchFamily="49" charset="0"/>
              </a:rPr>
              <a:t>Service       IP</a:t>
            </a:r>
          </a:p>
          <a:p>
            <a:r>
              <a:rPr lang="en-GB" sz="160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600">
                <a:solidFill>
                  <a:srgbClr val="326CE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</a:t>
            </a:r>
            <a:r>
              <a:rPr lang="en-GB" sz="1600">
                <a:latin typeface="Consolas" panose="020B0609020204030204" pitchFamily="49" charset="0"/>
                <a:cs typeface="Consolas" panose="020B0609020204030204" pitchFamily="49" charset="0"/>
              </a:rPr>
              <a:t>     100.0.0.2</a:t>
            </a:r>
          </a:p>
          <a:p>
            <a:r>
              <a:rPr lang="en-GB" sz="1600">
                <a:latin typeface="Consolas" panose="020B0609020204030204" pitchFamily="49" charset="0"/>
                <a:cs typeface="Consolas" panose="020B0609020204030204" pitchFamily="49" charset="0"/>
              </a:rPr>
              <a:t>   …          …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870919-327D-1BEB-F36D-3D3580DB175B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2274216" y="3925902"/>
            <a:ext cx="1384755" cy="2775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7D5E87-C5E5-399C-836F-0EF844371E1D}"/>
              </a:ext>
            </a:extLst>
          </p:cNvPr>
          <p:cNvSpPr/>
          <p:nvPr/>
        </p:nvSpPr>
        <p:spPr>
          <a:xfrm>
            <a:off x="4669409" y="4434420"/>
            <a:ext cx="1154134" cy="372527"/>
          </a:xfrm>
          <a:prstGeom prst="rect">
            <a:avLst/>
          </a:prstGeom>
          <a:solidFill>
            <a:srgbClr val="FFE7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 port: 30000</a:t>
            </a:r>
            <a:endParaRPr lang="en-US" sz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0585B1-CD77-F1B1-693D-5160DF0D55CF}"/>
              </a:ext>
            </a:extLst>
          </p:cNvPr>
          <p:cNvCxnSpPr>
            <a:cxnSpLocks/>
            <a:stCxn id="3" idx="3"/>
            <a:endCxn id="24" idx="1"/>
          </p:cNvCxnSpPr>
          <p:nvPr/>
        </p:nvCxnSpPr>
        <p:spPr>
          <a:xfrm flipV="1">
            <a:off x="5823543" y="4147703"/>
            <a:ext cx="995797" cy="4729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02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8" grpId="0" animBg="1"/>
      <p:bldP spid="24" grpId="0" animBg="1"/>
      <p:bldP spid="26" grpId="0" animBg="1"/>
      <p:bldP spid="28" grpId="0"/>
      <p:bldP spid="30" grpId="0"/>
      <p:bldP spid="36" grpId="0"/>
      <p:bldP spid="40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28E9-A030-FAA6-9587-AABC05B5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C215-1B86-46FC-2E52-E04CBDDA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Service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08BDB-D856-7E20-DE86-10DC202089FF}"/>
              </a:ext>
            </a:extLst>
          </p:cNvPr>
          <p:cNvSpPr txBox="1"/>
          <p:nvPr/>
        </p:nvSpPr>
        <p:spPr>
          <a:xfrm>
            <a:off x="609600" y="1259632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Service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web-app-svc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nodePort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30000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port: 80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targetPort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protocol: TCP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selector: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app: frontend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type: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LoadBalancer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1C7F6-D7CD-647B-0AFA-F78AFF4D956C}"/>
              </a:ext>
            </a:extLst>
          </p:cNvPr>
          <p:cNvSpPr txBox="1"/>
          <p:nvPr/>
        </p:nvSpPr>
        <p:spPr>
          <a:xfrm>
            <a:off x="6852812" y="1537102"/>
            <a:ext cx="47295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53549D-D604-F86D-F290-CA6F7899C57E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974159" y="1721768"/>
            <a:ext cx="3878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11C075D-922C-7E9E-77A9-93346E17E80F}"/>
              </a:ext>
            </a:extLst>
          </p:cNvPr>
          <p:cNvSpPr txBox="1"/>
          <p:nvPr/>
        </p:nvSpPr>
        <p:spPr>
          <a:xfrm>
            <a:off x="6852812" y="2086810"/>
            <a:ext cx="47295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4A5C66-907F-26F9-9F30-A31F648DACC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084983" y="2271476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054B03-3F85-A84A-CFF2-FF96DE8A5916}"/>
              </a:ext>
            </a:extLst>
          </p:cNvPr>
          <p:cNvSpPr txBox="1"/>
          <p:nvPr/>
        </p:nvSpPr>
        <p:spPr>
          <a:xfrm>
            <a:off x="6852812" y="2506127"/>
            <a:ext cx="472958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listens for external request on </a:t>
            </a:r>
            <a:r>
              <a:rPr lang="en-US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nodeIp:nodePort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and forwards the request to </a:t>
            </a:r>
            <a:r>
              <a:rPr lang="en-US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port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(assigned by K8s if omitted)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8C0D8C0-7D5B-D08C-0C31-B07FC4339714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429000" y="2967792"/>
            <a:ext cx="3423812" cy="113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7870DF-CE32-DBD4-487C-A33EDB3D4E65}"/>
              </a:ext>
            </a:extLst>
          </p:cNvPr>
          <p:cNvSpPr txBox="1"/>
          <p:nvPr/>
        </p:nvSpPr>
        <p:spPr>
          <a:xfrm>
            <a:off x="6852812" y="3511518"/>
            <a:ext cx="472958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listens for incoming request from </a:t>
            </a:r>
            <a:r>
              <a:rPr lang="en-US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nodePort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forwards to </a:t>
            </a:r>
            <a:r>
              <a:rPr lang="en-US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targetPort</a:t>
            </a:r>
            <a:endParaRPr lang="en-GB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2667D1-5CF1-4374-3B25-4C4F7CC05FD2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329609" y="3352413"/>
            <a:ext cx="3523203" cy="4822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D777D2-3BCE-C8ED-A486-7F69D26BED4D}"/>
              </a:ext>
            </a:extLst>
          </p:cNvPr>
          <p:cNvSpPr txBox="1"/>
          <p:nvPr/>
        </p:nvSpPr>
        <p:spPr>
          <a:xfrm>
            <a:off x="6852812" y="4306620"/>
            <a:ext cx="472958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receives the request from </a:t>
            </a:r>
            <a:r>
              <a:rPr lang="en-US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port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forwards to this port (exposed by one of the containers in the Pod)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91B922-411F-217E-D628-364F26DEB02B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578087" y="3651945"/>
            <a:ext cx="3274725" cy="1116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FDFB8F-5FAB-3567-F975-CD0A7E81DE0E}"/>
              </a:ext>
            </a:extLst>
          </p:cNvPr>
          <p:cNvSpPr txBox="1"/>
          <p:nvPr/>
        </p:nvSpPr>
        <p:spPr>
          <a:xfrm>
            <a:off x="6852812" y="5340531"/>
            <a:ext cx="47295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forwards traffic for this protocol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F1CE13-F0D7-CFEE-3C0D-2BFBBD0849B4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160643" y="3902121"/>
            <a:ext cx="3692169" cy="16230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08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1" grpId="0" animBg="1"/>
      <p:bldP spid="28" grpId="0" animBg="1"/>
      <p:bldP spid="3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DF77-C54A-7857-5915-8DFFE369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4521-ACD1-35A7-799A-9B3B1CFC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Service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D93FD-5DEA-62CC-8508-7F36D20A5BAD}"/>
              </a:ext>
            </a:extLst>
          </p:cNvPr>
          <p:cNvSpPr txBox="1"/>
          <p:nvPr/>
        </p:nvSpPr>
        <p:spPr>
          <a:xfrm>
            <a:off x="609600" y="1259632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Service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web-app-svc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ports: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nodePort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30000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port: 80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targetPort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protocol: TCP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selector: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app: frontend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type: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LoadBalancer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CE78C-A754-37A8-4718-2FD1C5773B03}"/>
              </a:ext>
            </a:extLst>
          </p:cNvPr>
          <p:cNvSpPr txBox="1"/>
          <p:nvPr/>
        </p:nvSpPr>
        <p:spPr>
          <a:xfrm>
            <a:off x="6707256" y="4209800"/>
            <a:ext cx="472958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labels that a Pod must have to be associated with the Service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D39EE6-FED8-22AD-E4B8-E912BE5EAE2E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902226" y="4432852"/>
            <a:ext cx="3805030" cy="1001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5638A3-AEB1-3AF2-AD34-427F61705C31}"/>
              </a:ext>
            </a:extLst>
          </p:cNvPr>
          <p:cNvSpPr txBox="1"/>
          <p:nvPr/>
        </p:nvSpPr>
        <p:spPr>
          <a:xfrm>
            <a:off x="6707256" y="5012873"/>
            <a:ext cx="47295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Service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5E2562-6909-5CC8-F230-845679D3D2C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279913" y="4756018"/>
            <a:ext cx="3427343" cy="4415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36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171F8-F84D-C87C-ED3E-467FBF4F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4A2F-A7CD-EA20-0BE5-CF502DB4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Ingress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0D0B37A-9FE8-3F05-77A1-612F8D7F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routes HTTP(S) paths to Kubernetes services</a:t>
            </a:r>
          </a:p>
          <a:p>
            <a:pPr lvl="1"/>
            <a:r>
              <a:rPr lang="en-US" sz="24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reduces reliance on multiple </a:t>
            </a:r>
            <a:r>
              <a:rPr lang="en-US" sz="2400" b="0" i="0" u="none" strike="noStrike" err="1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LoadBalancer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services</a:t>
            </a:r>
          </a:p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offers </a:t>
            </a:r>
            <a:r>
              <a:rPr lang="en-US" sz="280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flexible routing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based on paths/domains</a:t>
            </a:r>
          </a:p>
          <a:p>
            <a:pPr lvl="1"/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exposes multiple services with a single </a:t>
            </a:r>
            <a:r>
              <a:rPr lang="en-US" sz="240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entrypoint</a:t>
            </a: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(IP address)</a:t>
            </a:r>
          </a:p>
          <a:p>
            <a:r>
              <a:rPr lang="en-US" sz="28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also provides other features (e.g., SSL termination)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relies on an </a:t>
            </a:r>
            <a:r>
              <a:rPr lang="en-US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Ingress Controller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handle traffic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processes Ingress rules and configures load balancing accordingly</a:t>
            </a:r>
          </a:p>
        </p:txBody>
      </p:sp>
    </p:spTree>
    <p:extLst>
      <p:ext uri="{BB962C8B-B14F-4D97-AF65-F5344CB8AC3E}">
        <p14:creationId xmlns:p14="http://schemas.microsoft.com/office/powerpoint/2010/main" val="4099727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1F7D-6546-C8DE-75A8-F77F2D62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4A28-8E69-A064-F6F5-9AB14004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Ingress</a:t>
            </a:r>
            <a:endParaRPr lang="en-US" noProof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017F5F-8826-B215-3260-EBDB4183C5DD}"/>
              </a:ext>
            </a:extLst>
          </p:cNvPr>
          <p:cNvSpPr/>
          <p:nvPr/>
        </p:nvSpPr>
        <p:spPr>
          <a:xfrm>
            <a:off x="3617064" y="2158763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6" name="Picture 45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CBBCD1E6-37C2-1C36-3410-B8FA7796B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718" y="1873995"/>
            <a:ext cx="553759" cy="53902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FE51AA0-6724-B5C1-666F-A57D27DB01DC}"/>
              </a:ext>
            </a:extLst>
          </p:cNvPr>
          <p:cNvSpPr txBox="1"/>
          <p:nvPr/>
        </p:nvSpPr>
        <p:spPr>
          <a:xfrm>
            <a:off x="6087821" y="1753494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48" name="Graphic 47" descr="Laptop with solid fill">
            <a:extLst>
              <a:ext uri="{FF2B5EF4-FFF2-40B4-BE49-F238E27FC236}">
                <a16:creationId xmlns:a16="http://schemas.microsoft.com/office/drawing/2014/main" id="{49E34EAC-DBD7-035D-45DF-EF2D84672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8832" y="3165802"/>
            <a:ext cx="693690" cy="69369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000793A-8079-2915-0C4B-94FB8091AB29}"/>
              </a:ext>
            </a:extLst>
          </p:cNvPr>
          <p:cNvSpPr txBox="1"/>
          <p:nvPr/>
        </p:nvSpPr>
        <p:spPr>
          <a:xfrm>
            <a:off x="1914161" y="3773268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76E1DF5-CD5A-2383-F74E-F55024F98E4C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 flipV="1">
            <a:off x="2742522" y="3511119"/>
            <a:ext cx="1394362" cy="15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A blue hexagon with white arrows&#10;&#10;Description automatically generated">
            <a:extLst>
              <a:ext uri="{FF2B5EF4-FFF2-40B4-BE49-F238E27FC236}">
                <a16:creationId xmlns:a16="http://schemas.microsoft.com/office/drawing/2014/main" id="{8635D582-49D4-9192-8815-6FF0D0EBD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84" y="3194706"/>
            <a:ext cx="650617" cy="632826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36060B-842B-02D8-315E-55111A991969}"/>
              </a:ext>
            </a:extLst>
          </p:cNvPr>
          <p:cNvCxnSpPr>
            <a:cxnSpLocks/>
            <a:stCxn id="51" idx="3"/>
            <a:endCxn id="55" idx="1"/>
          </p:cNvCxnSpPr>
          <p:nvPr/>
        </p:nvCxnSpPr>
        <p:spPr>
          <a:xfrm>
            <a:off x="4787501" y="3511119"/>
            <a:ext cx="15398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5086305-A6C9-6A38-B9F0-FFB02DFAC155}"/>
              </a:ext>
            </a:extLst>
          </p:cNvPr>
          <p:cNvSpPr/>
          <p:nvPr/>
        </p:nvSpPr>
        <p:spPr>
          <a:xfrm>
            <a:off x="7763988" y="2892770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5" name="Picture 54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2E8F30EC-4B3A-91F2-AEFF-A3EA0B7FD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18" y="3194706"/>
            <a:ext cx="650616" cy="632826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7BD4CB7F-3D50-8706-BB14-A1D42752E33B}"/>
              </a:ext>
            </a:extLst>
          </p:cNvPr>
          <p:cNvSpPr/>
          <p:nvPr/>
        </p:nvSpPr>
        <p:spPr>
          <a:xfrm>
            <a:off x="7763988" y="3498045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4F4A293-A830-8016-EF88-3B57EA963189}"/>
              </a:ext>
            </a:extLst>
          </p:cNvPr>
          <p:cNvCxnSpPr>
            <a:cxnSpLocks/>
            <a:stCxn id="55" idx="3"/>
            <a:endCxn id="54" idx="1"/>
          </p:cNvCxnSpPr>
          <p:nvPr/>
        </p:nvCxnSpPr>
        <p:spPr>
          <a:xfrm flipV="1">
            <a:off x="6977934" y="3159802"/>
            <a:ext cx="786054" cy="3513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2E02BF0-0376-FEE4-559F-377534B1864B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6977934" y="3511119"/>
            <a:ext cx="786054" cy="2539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D87500E-9BB7-0295-0201-3F8306EBED01}"/>
              </a:ext>
            </a:extLst>
          </p:cNvPr>
          <p:cNvSpPr txBox="1"/>
          <p:nvPr/>
        </p:nvSpPr>
        <p:spPr>
          <a:xfrm>
            <a:off x="4880664" y="3151330"/>
            <a:ext cx="1232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routing rule</a:t>
            </a:r>
          </a:p>
        </p:txBody>
      </p:sp>
    </p:spTree>
    <p:extLst>
      <p:ext uri="{BB962C8B-B14F-4D97-AF65-F5344CB8AC3E}">
        <p14:creationId xmlns:p14="http://schemas.microsoft.com/office/powerpoint/2010/main" val="1967279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B13F-6AF8-C466-7791-628EFBC0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831D-B6EF-987B-A228-E4F32EC5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Ingress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6810C-BC80-7DDD-0C3D-85269C13F6EA}"/>
              </a:ext>
            </a:extLst>
          </p:cNvPr>
          <p:cNvSpPr/>
          <p:nvPr/>
        </p:nvSpPr>
        <p:spPr>
          <a:xfrm>
            <a:off x="3617064" y="2158763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1FE97E8A-D31A-70EA-D8AA-877D253D2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718" y="1873995"/>
            <a:ext cx="553759" cy="5390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D40B49-D431-A283-ECE5-F2EACBA9D88D}"/>
              </a:ext>
            </a:extLst>
          </p:cNvPr>
          <p:cNvSpPr txBox="1"/>
          <p:nvPr/>
        </p:nvSpPr>
        <p:spPr>
          <a:xfrm>
            <a:off x="6087821" y="1753494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18" name="Graphic 17" descr="Laptop with solid fill">
            <a:extLst>
              <a:ext uri="{FF2B5EF4-FFF2-40B4-BE49-F238E27FC236}">
                <a16:creationId xmlns:a16="http://schemas.microsoft.com/office/drawing/2014/main" id="{87340068-CD84-D579-ECA8-5F13836B6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8832" y="3165802"/>
            <a:ext cx="693690" cy="69369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1B19FA7-BD24-2755-CA2E-C11D5E8226D0}"/>
              </a:ext>
            </a:extLst>
          </p:cNvPr>
          <p:cNvSpPr txBox="1"/>
          <p:nvPr/>
        </p:nvSpPr>
        <p:spPr>
          <a:xfrm>
            <a:off x="1914161" y="3773268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78E45F-5933-A78E-8881-B87FCDFA6AEE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2742522" y="3511119"/>
            <a:ext cx="1394362" cy="15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blue hexagon with white arrows&#10;&#10;Description automatically generated">
            <a:extLst>
              <a:ext uri="{FF2B5EF4-FFF2-40B4-BE49-F238E27FC236}">
                <a16:creationId xmlns:a16="http://schemas.microsoft.com/office/drawing/2014/main" id="{642540D7-AB8D-CBC9-79F5-FB32089E7E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84" y="3194706"/>
            <a:ext cx="650617" cy="632826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A79B34-9B02-50EC-21A4-230803A4854B}"/>
              </a:ext>
            </a:extLst>
          </p:cNvPr>
          <p:cNvCxnSpPr>
            <a:cxnSpLocks/>
            <a:stCxn id="24" idx="3"/>
            <a:endCxn id="38" idx="1"/>
          </p:cNvCxnSpPr>
          <p:nvPr/>
        </p:nvCxnSpPr>
        <p:spPr>
          <a:xfrm>
            <a:off x="4787501" y="3511119"/>
            <a:ext cx="15398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62AF50-519C-2BE2-3DCA-0681E2F5064E}"/>
              </a:ext>
            </a:extLst>
          </p:cNvPr>
          <p:cNvSpPr txBox="1"/>
          <p:nvPr/>
        </p:nvSpPr>
        <p:spPr>
          <a:xfrm>
            <a:off x="4950875" y="3565286"/>
            <a:ext cx="1091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path: /foo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85E3E4-9437-7B72-25B3-F3ECFFCCC876}"/>
              </a:ext>
            </a:extLst>
          </p:cNvPr>
          <p:cNvSpPr/>
          <p:nvPr/>
        </p:nvSpPr>
        <p:spPr>
          <a:xfrm>
            <a:off x="7763988" y="2892770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8" name="Picture 37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10356C93-BC13-ECFC-EB26-F05C3F1B23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18" y="3194706"/>
            <a:ext cx="650616" cy="63282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6F40001-23FA-CCE0-C609-9D0B7830A430}"/>
              </a:ext>
            </a:extLst>
          </p:cNvPr>
          <p:cNvSpPr/>
          <p:nvPr/>
        </p:nvSpPr>
        <p:spPr>
          <a:xfrm>
            <a:off x="7763988" y="3498045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893C62-F59A-A4FA-E56F-5607C7F0EA26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 flipV="1">
            <a:off x="6977934" y="3159802"/>
            <a:ext cx="786054" cy="3513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D3BFA7-C0B0-78BE-90E7-D720F330BCF6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6977934" y="3511119"/>
            <a:ext cx="786054" cy="2539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42869E5-786E-12C6-7F53-4E8E0F7D9D6D}"/>
              </a:ext>
            </a:extLst>
          </p:cNvPr>
          <p:cNvSpPr txBox="1"/>
          <p:nvPr/>
        </p:nvSpPr>
        <p:spPr>
          <a:xfrm>
            <a:off x="4880664" y="3151330"/>
            <a:ext cx="1232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routing rule</a:t>
            </a:r>
          </a:p>
        </p:txBody>
      </p:sp>
    </p:spTree>
    <p:extLst>
      <p:ext uri="{BB962C8B-B14F-4D97-AF65-F5344CB8AC3E}">
        <p14:creationId xmlns:p14="http://schemas.microsoft.com/office/powerpoint/2010/main" val="2882178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D153-4634-B1CF-7103-14966032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3667-3EBF-1102-7D03-A3F4596E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Ingress</a:t>
            </a:r>
            <a:endParaRPr lang="en-US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774ECB-B1D9-794E-46BE-57065C015615}"/>
              </a:ext>
            </a:extLst>
          </p:cNvPr>
          <p:cNvSpPr/>
          <p:nvPr/>
        </p:nvSpPr>
        <p:spPr>
          <a:xfrm>
            <a:off x="3617064" y="2158763"/>
            <a:ext cx="5804448" cy="30307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26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168CA270-9C47-5A8C-D8CA-E84E0AF12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718" y="1873995"/>
            <a:ext cx="553759" cy="5390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490685-F49F-0A8E-790D-ADC310012206}"/>
              </a:ext>
            </a:extLst>
          </p:cNvPr>
          <p:cNvSpPr txBox="1"/>
          <p:nvPr/>
        </p:nvSpPr>
        <p:spPr>
          <a:xfrm>
            <a:off x="6087821" y="1753494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</a:t>
            </a:r>
          </a:p>
        </p:txBody>
      </p:sp>
      <p:pic>
        <p:nvPicPr>
          <p:cNvPr id="29" name="Graphic 28" descr="Laptop with solid fill">
            <a:extLst>
              <a:ext uri="{FF2B5EF4-FFF2-40B4-BE49-F238E27FC236}">
                <a16:creationId xmlns:a16="http://schemas.microsoft.com/office/drawing/2014/main" id="{9B5FCFBA-463F-A48F-02B6-0EDDB5C1C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8832" y="3165802"/>
            <a:ext cx="693690" cy="69369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08B8E74-32E1-3230-B6C7-BB8D0D991C95}"/>
              </a:ext>
            </a:extLst>
          </p:cNvPr>
          <p:cNvSpPr txBox="1"/>
          <p:nvPr/>
        </p:nvSpPr>
        <p:spPr>
          <a:xfrm>
            <a:off x="1914161" y="3773268"/>
            <a:ext cx="963031" cy="322956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marL="0" indent="0" algn="ctr">
              <a:buNone/>
            </a:pPr>
            <a:r>
              <a:rPr lang="en-US" sz="1600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F016F78-F5D2-4749-2650-13C31BD81FBA}"/>
              </a:ext>
            </a:extLst>
          </p:cNvPr>
          <p:cNvCxnSpPr>
            <a:cxnSpLocks/>
            <a:stCxn id="29" idx="3"/>
            <a:endCxn id="6" idx="1"/>
          </p:cNvCxnSpPr>
          <p:nvPr/>
        </p:nvCxnSpPr>
        <p:spPr>
          <a:xfrm flipV="1">
            <a:off x="2742522" y="3511119"/>
            <a:ext cx="1394362" cy="15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hexagon with white arrows&#10;&#10;Description automatically generated">
            <a:extLst>
              <a:ext uri="{FF2B5EF4-FFF2-40B4-BE49-F238E27FC236}">
                <a16:creationId xmlns:a16="http://schemas.microsoft.com/office/drawing/2014/main" id="{BCCCCB5C-D777-2745-2A12-B3DB9FF7E6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84" y="3194706"/>
            <a:ext cx="650617" cy="6328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79745E-2446-335E-1165-B8F0A51EF92C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4787501" y="2986583"/>
            <a:ext cx="1611644" cy="5245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62C285-296B-DC9C-1B5F-D973586A7B3A}"/>
              </a:ext>
            </a:extLst>
          </p:cNvPr>
          <p:cNvSpPr txBox="1"/>
          <p:nvPr/>
        </p:nvSpPr>
        <p:spPr>
          <a:xfrm rot="20490120">
            <a:off x="4986301" y="2872734"/>
            <a:ext cx="1091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path: /foo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D8297-B881-BE44-4A01-7A826D0312B1}"/>
              </a:ext>
            </a:extLst>
          </p:cNvPr>
          <p:cNvSpPr/>
          <p:nvPr/>
        </p:nvSpPr>
        <p:spPr>
          <a:xfrm>
            <a:off x="7835815" y="2368234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D3CA3F71-C8B9-F2CD-8B6D-9B1063B0D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145" y="2670170"/>
            <a:ext cx="650616" cy="6328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BB70625-C040-E199-2B59-DB38B814B64A}"/>
              </a:ext>
            </a:extLst>
          </p:cNvPr>
          <p:cNvSpPr/>
          <p:nvPr/>
        </p:nvSpPr>
        <p:spPr>
          <a:xfrm>
            <a:off x="7835815" y="2973509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A4C6CE-BD17-4BCF-5A6A-F466F7B8378C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7049761" y="2635266"/>
            <a:ext cx="786054" cy="3513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F8FDF7-8AED-3BCB-F36C-5DFFBF92B7E6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049761" y="2986583"/>
            <a:ext cx="786054" cy="2539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17E16D4-3AAE-28FC-EEC7-13AFACA4F16E}"/>
              </a:ext>
            </a:extLst>
          </p:cNvPr>
          <p:cNvSpPr/>
          <p:nvPr/>
        </p:nvSpPr>
        <p:spPr>
          <a:xfrm>
            <a:off x="7835815" y="3670356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2" name="Picture 31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04C6C3BB-4066-661C-BEAA-3342981D27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145" y="3972292"/>
            <a:ext cx="650616" cy="63282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2CE4788-6BDB-F604-2EFF-72C2D932A782}"/>
              </a:ext>
            </a:extLst>
          </p:cNvPr>
          <p:cNvSpPr/>
          <p:nvPr/>
        </p:nvSpPr>
        <p:spPr>
          <a:xfrm>
            <a:off x="7835815" y="4275631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72A91-579B-7CD4-F27B-BC8FDCED9A0C}"/>
              </a:ext>
            </a:extLst>
          </p:cNvPr>
          <p:cNvCxnSpPr>
            <a:cxnSpLocks/>
            <a:stCxn id="32" idx="3"/>
            <a:endCxn id="25" idx="1"/>
          </p:cNvCxnSpPr>
          <p:nvPr/>
        </p:nvCxnSpPr>
        <p:spPr>
          <a:xfrm flipV="1">
            <a:off x="7049761" y="3937388"/>
            <a:ext cx="786054" cy="3513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E3757B-5449-BB7B-DA54-DAC137AF4A11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7049761" y="4288705"/>
            <a:ext cx="786054" cy="2539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152498-143C-2D94-42E7-20D18CB22069}"/>
              </a:ext>
            </a:extLst>
          </p:cNvPr>
          <p:cNvCxnSpPr>
            <a:cxnSpLocks/>
            <a:stCxn id="6" idx="3"/>
            <a:endCxn id="32" idx="1"/>
          </p:cNvCxnSpPr>
          <p:nvPr/>
        </p:nvCxnSpPr>
        <p:spPr>
          <a:xfrm>
            <a:off x="4787501" y="3511119"/>
            <a:ext cx="1611644" cy="7775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537110-0CA5-2C80-C984-4FC763F1BD12}"/>
              </a:ext>
            </a:extLst>
          </p:cNvPr>
          <p:cNvSpPr txBox="1"/>
          <p:nvPr/>
        </p:nvSpPr>
        <p:spPr>
          <a:xfrm rot="1546403">
            <a:off x="4994110" y="3909023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path: /bar</a:t>
            </a:r>
          </a:p>
        </p:txBody>
      </p:sp>
    </p:spTree>
    <p:extLst>
      <p:ext uri="{BB962C8B-B14F-4D97-AF65-F5344CB8AC3E}">
        <p14:creationId xmlns:p14="http://schemas.microsoft.com/office/powerpoint/2010/main" val="327210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9639-F6CD-17A2-9530-80694F90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E79D-75A3-E309-04A7-80B3C8F8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Ingress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95C27-0EC9-3E32-9D0E-B01355D1365B}"/>
              </a:ext>
            </a:extLst>
          </p:cNvPr>
          <p:cNvSpPr txBox="1"/>
          <p:nvPr/>
        </p:nvSpPr>
        <p:spPr>
          <a:xfrm>
            <a:off x="609600" y="1259632"/>
            <a:ext cx="60976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networking.k8s.io/v1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Ingress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web-app-ingress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ingressClassName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nginx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rules: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- host: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website.com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http: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paths: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pathType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Prefix 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path: /foo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backend: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  service: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    name: web-app-svc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    port: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        number: 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05048-F584-4A8A-890A-C37EC045F958}"/>
              </a:ext>
            </a:extLst>
          </p:cNvPr>
          <p:cNvSpPr txBox="1"/>
          <p:nvPr/>
        </p:nvSpPr>
        <p:spPr>
          <a:xfrm>
            <a:off x="6852812" y="1537102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B8B20F-93A8-91EC-D7FB-74A55F20162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974159" y="1721768"/>
            <a:ext cx="3878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A8F1E0-3942-7089-0EF8-458C78CF91A9}"/>
              </a:ext>
            </a:extLst>
          </p:cNvPr>
          <p:cNvSpPr txBox="1"/>
          <p:nvPr/>
        </p:nvSpPr>
        <p:spPr>
          <a:xfrm>
            <a:off x="6852812" y="2086810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Ingress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0C455E-1C5A-9FF6-2AF9-8B4ADC021EA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084983" y="2271476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52C4F3-9198-E484-94BC-E783F7778A58}"/>
              </a:ext>
            </a:extLst>
          </p:cNvPr>
          <p:cNvSpPr txBox="1"/>
          <p:nvPr/>
        </p:nvSpPr>
        <p:spPr>
          <a:xfrm>
            <a:off x="6852812" y="2636518"/>
            <a:ext cx="48157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Ingress Controller to use (optional, but required in the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Kathará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FB4FB1-2F83-CC7B-180E-872C017B3A83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800600" y="2821184"/>
            <a:ext cx="2052212" cy="138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C65CA0-39CF-F5A5-40A2-C3C1F93D1A23}"/>
              </a:ext>
            </a:extLst>
          </p:cNvPr>
          <p:cNvSpPr txBox="1"/>
          <p:nvPr/>
        </p:nvSpPr>
        <p:spPr>
          <a:xfrm>
            <a:off x="6852811" y="3384784"/>
            <a:ext cx="48157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apply rules only to traffic directed to this hostname (optional)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8CE70B-8C47-4A1A-A338-D03C0AE513C8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3796748" y="3384784"/>
            <a:ext cx="3056063" cy="3231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F4A23A-6E7A-6C9F-D58C-D14652A4E14C}"/>
              </a:ext>
            </a:extLst>
          </p:cNvPr>
          <p:cNvSpPr txBox="1"/>
          <p:nvPr/>
        </p:nvSpPr>
        <p:spPr>
          <a:xfrm>
            <a:off x="6852811" y="4140570"/>
            <a:ext cx="48157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match on the path (</a:t>
            </a:r>
            <a:r>
              <a:rPr lang="en-GB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Prefix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GB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Exact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57C51C-DE86-6137-7524-F948FB5F4BA6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796748" y="4140570"/>
            <a:ext cx="3056063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570AEC-18AD-C48D-2BE5-8FF8471B8795}"/>
              </a:ext>
            </a:extLst>
          </p:cNvPr>
          <p:cNvSpPr txBox="1"/>
          <p:nvPr/>
        </p:nvSpPr>
        <p:spPr>
          <a:xfrm>
            <a:off x="6852811" y="4596376"/>
            <a:ext cx="48157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matches paths with this prefix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9EF424-AE33-5151-A0A6-216964C42F11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120887" y="4456215"/>
            <a:ext cx="3731924" cy="3248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89DAE57-9B04-67E1-3694-83561FA9F3C0}"/>
              </a:ext>
            </a:extLst>
          </p:cNvPr>
          <p:cNvSpPr txBox="1"/>
          <p:nvPr/>
        </p:nvSpPr>
        <p:spPr>
          <a:xfrm>
            <a:off x="6852811" y="5044075"/>
            <a:ext cx="48157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Service to which forward the traffic of this match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CE1735-84B7-111C-FB97-15EBDF284FD8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4403035" y="5309213"/>
            <a:ext cx="2449776" cy="58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205898-76B6-E8CE-3F16-B117A0885898}"/>
              </a:ext>
            </a:extLst>
          </p:cNvPr>
          <p:cNvSpPr txBox="1"/>
          <p:nvPr/>
        </p:nvSpPr>
        <p:spPr>
          <a:xfrm>
            <a:off x="6852811" y="5783293"/>
            <a:ext cx="48157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 of the Service to which forward the traffic of this match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EFCDA9-6EFE-57CE-F232-10B8CE2DAD98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796748" y="5822974"/>
            <a:ext cx="3056063" cy="2834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18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5" grpId="0" animBg="1"/>
      <p:bldP spid="22" grpId="0" animBg="1"/>
      <p:bldP spid="24" grpId="0" animBg="1"/>
      <p:bldP spid="29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69CD-C45D-CA94-0D91-2C19C545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EAE4-EFC4-D221-8573-993A1FC5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PersistentVolumeClaim</a:t>
            </a:r>
            <a:r>
              <a:rPr lang="en-US" noProof="0"/>
              <a:t> (PVC)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C9A744E-8ED2-70D7-D11E-EC54F5D3F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in stateful workloads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persistent storage for databases, logs, etc.</a:t>
            </a:r>
          </a:p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PVC is a request for storage in a K8s Pod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Pods to request storage without knowing the underlying storage details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is managed by the cloud provider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binds to a </a:t>
            </a:r>
            <a:r>
              <a:rPr lang="en-US" sz="2800" b="1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PersistentVolume</a:t>
            </a:r>
            <a:r>
              <a:rPr lang="en-US" sz="2800" b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(PV)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abstraction of the underlying cluster storage (either physical or logical)</a:t>
            </a:r>
          </a:p>
        </p:txBody>
      </p:sp>
    </p:spTree>
    <p:extLst>
      <p:ext uri="{BB962C8B-B14F-4D97-AF65-F5344CB8AC3E}">
        <p14:creationId xmlns:p14="http://schemas.microsoft.com/office/powerpoint/2010/main" val="1215406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C84C-E10B-C972-AE4E-70BCF588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2C78-C6B4-B506-F3B2-B96B6F0C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</a:t>
            </a:r>
            <a:r>
              <a:rPr lang="en-US" noProof="0" err="1"/>
              <a:t>PersistentVolumeClaim</a:t>
            </a:r>
            <a:endParaRPr lang="en-US" noProof="0"/>
          </a:p>
        </p:txBody>
      </p:sp>
      <p:pic>
        <p:nvPicPr>
          <p:cNvPr id="5" name="Picture 4" descr="A blue hexagon with white outline and a circle with a white circle with a white circle with a white circle with a white circle with a white circle with a white circle with a white circle&#10;&#10;Description automatically generated">
            <a:extLst>
              <a:ext uri="{FF2B5EF4-FFF2-40B4-BE49-F238E27FC236}">
                <a16:creationId xmlns:a16="http://schemas.microsoft.com/office/drawing/2014/main" id="{2F5E2394-BFD1-5BBA-0A85-8F13B354B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476" y="4253900"/>
            <a:ext cx="1027045" cy="998963"/>
          </a:xfrm>
          <a:prstGeom prst="rect">
            <a:avLst/>
          </a:prstGeom>
        </p:spPr>
      </p:pic>
      <p:sp>
        <p:nvSpPr>
          <p:cNvPr id="7" name="Can 6">
            <a:extLst>
              <a:ext uri="{FF2B5EF4-FFF2-40B4-BE49-F238E27FC236}">
                <a16:creationId xmlns:a16="http://schemas.microsoft.com/office/drawing/2014/main" id="{F1CC0C8C-2762-5DED-29D8-311FDE4B372B}"/>
              </a:ext>
            </a:extLst>
          </p:cNvPr>
          <p:cNvSpPr/>
          <p:nvPr/>
        </p:nvSpPr>
        <p:spPr>
          <a:xfrm>
            <a:off x="5779902" y="5660620"/>
            <a:ext cx="632199" cy="758862"/>
          </a:xfrm>
          <a:prstGeom prst="can">
            <a:avLst/>
          </a:prstGeom>
          <a:solidFill>
            <a:schemeClr val="tx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9" name="Picture 8" descr="A blue hexagon with white outline and white text&#10;&#10;Description automatically generated">
            <a:extLst>
              <a:ext uri="{FF2B5EF4-FFF2-40B4-BE49-F238E27FC236}">
                <a16:creationId xmlns:a16="http://schemas.microsoft.com/office/drawing/2014/main" id="{4DA9C57A-7EBE-C83D-FD79-15120D373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477" y="2847181"/>
            <a:ext cx="1027046" cy="9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E88959-D55F-5AE0-76D8-8FFB0E11C04E}"/>
              </a:ext>
            </a:extLst>
          </p:cNvPr>
          <p:cNvSpPr/>
          <p:nvPr/>
        </p:nvSpPr>
        <p:spPr>
          <a:xfrm>
            <a:off x="4232635" y="1561489"/>
            <a:ext cx="799099" cy="730424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6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C3681-9C08-1A64-9A42-861CEEFCAFF6}"/>
              </a:ext>
            </a:extLst>
          </p:cNvPr>
          <p:cNvSpPr/>
          <p:nvPr/>
        </p:nvSpPr>
        <p:spPr>
          <a:xfrm>
            <a:off x="5696450" y="1561489"/>
            <a:ext cx="799099" cy="730424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6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121279-592F-B859-E79D-A98C12C679CA}"/>
              </a:ext>
            </a:extLst>
          </p:cNvPr>
          <p:cNvSpPr/>
          <p:nvPr/>
        </p:nvSpPr>
        <p:spPr>
          <a:xfrm>
            <a:off x="7160265" y="1561489"/>
            <a:ext cx="799099" cy="730424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6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28AADD-47EE-6524-1489-EBC051D10DB6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4632185" y="2291913"/>
            <a:ext cx="1463815" cy="555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024744-DAD5-5801-DEBE-E0FFB0895F66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6096000" y="2291913"/>
            <a:ext cx="0" cy="555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ABC8A9-096B-F8D1-438E-4988267509B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6096000" y="2291913"/>
            <a:ext cx="1463815" cy="555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3CEED5-9C13-4D6C-9A7A-5CE65F441167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flipH="1">
            <a:off x="6095999" y="3846144"/>
            <a:ext cx="1" cy="407756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E87251-4B55-E15D-CE4E-F7DDD7D19171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6095999" y="5252863"/>
            <a:ext cx="3" cy="40775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02C5F1D-9EA0-5F51-5014-F4E332625823}"/>
              </a:ext>
            </a:extLst>
          </p:cNvPr>
          <p:cNvSpPr txBox="1"/>
          <p:nvPr/>
        </p:nvSpPr>
        <p:spPr>
          <a:xfrm>
            <a:off x="6495549" y="585538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1713829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D7E0-0696-DDD7-527D-86F0D7DA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662D-09FD-BDCB-9AAB-F793569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PVC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71F60-3F1F-D119-0120-14876B029C21}"/>
              </a:ext>
            </a:extLst>
          </p:cNvPr>
          <p:cNvSpPr txBox="1"/>
          <p:nvPr/>
        </p:nvSpPr>
        <p:spPr>
          <a:xfrm>
            <a:off x="609600" y="1259632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 v1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kind: 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PersistentVolumeClaim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metadata: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name: example-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pvc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spec: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accessModes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ReadWriteOnce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resources: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requests: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storage: 1Gi 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storageClassName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 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1B626-F6BB-6DE2-AC9E-52FB2AD264F5}"/>
              </a:ext>
            </a:extLst>
          </p:cNvPr>
          <p:cNvSpPr txBox="1"/>
          <p:nvPr/>
        </p:nvSpPr>
        <p:spPr>
          <a:xfrm>
            <a:off x="6852812" y="1537102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05BBCA-B159-D960-D683-31F6E549909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263656" y="1721768"/>
            <a:ext cx="25891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2A7FA1-73DD-0397-DA67-186C0D964DD1}"/>
              </a:ext>
            </a:extLst>
          </p:cNvPr>
          <p:cNvSpPr txBox="1"/>
          <p:nvPr/>
        </p:nvSpPr>
        <p:spPr>
          <a:xfrm>
            <a:off x="6852812" y="2086810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PVC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37F7A0-78A8-8293-BD58-EB5F69CC1933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084983" y="2271476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DB65AE-38B6-8D1A-5CD7-3E8D98E80E8F}"/>
              </a:ext>
            </a:extLst>
          </p:cNvPr>
          <p:cNvSpPr txBox="1"/>
          <p:nvPr/>
        </p:nvSpPr>
        <p:spPr>
          <a:xfrm>
            <a:off x="6852812" y="2682683"/>
            <a:ext cx="48157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allowed ways that the PVC can be mounted by Pods (e.g., RW by one or many nodes)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290D3C-3FA6-8179-95C7-5BD28800641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381153" y="3005849"/>
            <a:ext cx="3471659" cy="839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FA08B3-AF12-A292-1601-5A2A8E0C22D0}"/>
              </a:ext>
            </a:extLst>
          </p:cNvPr>
          <p:cNvSpPr txBox="1"/>
          <p:nvPr/>
        </p:nvSpPr>
        <p:spPr>
          <a:xfrm>
            <a:off x="6852812" y="3677369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PVC is requesting 1GB of space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0AD726-4897-0F09-8B3F-D5C3409DFCA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084983" y="3862035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A4FC13-D622-8353-D725-C9BC23E91905}"/>
              </a:ext>
            </a:extLst>
          </p:cNvPr>
          <p:cNvSpPr txBox="1"/>
          <p:nvPr/>
        </p:nvSpPr>
        <p:spPr>
          <a:xfrm>
            <a:off x="6852812" y="4398953"/>
            <a:ext cx="48157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class requested from the PV (e.g., type and quality), provisioned by the cloud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619DA8-0944-3977-E97A-D2D5C71F2169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263656" y="4178595"/>
            <a:ext cx="2589156" cy="5435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34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7C90-B6EE-53D7-4A23-59458B97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5741-7FA6-A519-0186-A79BA865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assign PVC to Pod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CEB1C1-1CCD-F938-3B4E-8C8B6030EC41}"/>
              </a:ext>
            </a:extLst>
          </p:cNvPr>
          <p:cNvSpPr txBox="1"/>
          <p:nvPr/>
        </p:nvSpPr>
        <p:spPr>
          <a:xfrm>
            <a:off x="609600" y="1259632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spec: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containers: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- name: web-app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image: httpd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ports: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containerPort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8000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volumeMounts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- name: vol-mount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mountPath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/path/to/mount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volumes: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- name: vol-mount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persistentVolumeClaim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claimName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example-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pvc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409FB-FE7A-D5EF-4BF4-D05F8020A15E}"/>
              </a:ext>
            </a:extLst>
          </p:cNvPr>
          <p:cNvSpPr txBox="1"/>
          <p:nvPr/>
        </p:nvSpPr>
        <p:spPr>
          <a:xfrm>
            <a:off x="6998369" y="3105834"/>
            <a:ext cx="45840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mount a volume in the container and specify a mount path into the container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675234A-54E8-82F0-F970-68C392D0001F}"/>
              </a:ext>
            </a:extLst>
          </p:cNvPr>
          <p:cNvCxnSpPr>
            <a:cxnSpLocks/>
            <a:stCxn id="3" idx="1"/>
            <a:endCxn id="6" idx="1"/>
          </p:cNvCxnSpPr>
          <p:nvPr/>
        </p:nvCxnSpPr>
        <p:spPr>
          <a:xfrm flipH="1">
            <a:off x="6407922" y="3429000"/>
            <a:ext cx="590447" cy="46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Brace 5">
            <a:extLst>
              <a:ext uri="{FF2B5EF4-FFF2-40B4-BE49-F238E27FC236}">
                <a16:creationId xmlns:a16="http://schemas.microsoft.com/office/drawing/2014/main" id="{F423FECD-A06A-50B5-CD72-E04512BA5BB1}"/>
              </a:ext>
            </a:extLst>
          </p:cNvPr>
          <p:cNvSpPr/>
          <p:nvPr/>
        </p:nvSpPr>
        <p:spPr>
          <a:xfrm>
            <a:off x="6192769" y="3094181"/>
            <a:ext cx="215153" cy="67895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6C086F-ECAC-C646-9717-7FD21C80409C}"/>
              </a:ext>
            </a:extLst>
          </p:cNvPr>
          <p:cNvSpPr txBox="1"/>
          <p:nvPr/>
        </p:nvSpPr>
        <p:spPr>
          <a:xfrm>
            <a:off x="6998369" y="4444846"/>
            <a:ext cx="458403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 the PVC (previously defined) to this Pod,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name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should match the name of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volumeMounts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378E84-E76C-213D-8B5A-097C771A1BCB}"/>
              </a:ext>
            </a:extLst>
          </p:cNvPr>
          <p:cNvCxnSpPr>
            <a:cxnSpLocks/>
            <a:stCxn id="22" idx="1"/>
            <a:endCxn id="33" idx="1"/>
          </p:cNvCxnSpPr>
          <p:nvPr/>
        </p:nvCxnSpPr>
        <p:spPr>
          <a:xfrm flipH="1" flipV="1">
            <a:off x="5018601" y="4372383"/>
            <a:ext cx="1979768" cy="534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22AC6A-CE80-C9A1-EF70-9DF3CBBAA590}"/>
              </a:ext>
            </a:extLst>
          </p:cNvPr>
          <p:cNvCxnSpPr>
            <a:cxnSpLocks/>
          </p:cNvCxnSpPr>
          <p:nvPr/>
        </p:nvCxnSpPr>
        <p:spPr>
          <a:xfrm flipV="1">
            <a:off x="1058314" y="1669312"/>
            <a:ext cx="0" cy="2296632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Warning with solid fill">
            <a:extLst>
              <a:ext uri="{FF2B5EF4-FFF2-40B4-BE49-F238E27FC236}">
                <a16:creationId xmlns:a16="http://schemas.microsoft.com/office/drawing/2014/main" id="{6294EC05-3212-9D88-C42E-A99EA36E2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304" y="2402632"/>
            <a:ext cx="630592" cy="630592"/>
          </a:xfrm>
          <a:prstGeom prst="rect">
            <a:avLst/>
          </a:prstGeom>
        </p:spPr>
      </p:pic>
      <p:sp>
        <p:nvSpPr>
          <p:cNvPr id="33" name="Right Brace 32">
            <a:extLst>
              <a:ext uri="{FF2B5EF4-FFF2-40B4-BE49-F238E27FC236}">
                <a16:creationId xmlns:a16="http://schemas.microsoft.com/office/drawing/2014/main" id="{2B90ADE0-57B5-09CD-6C8D-36DBB374274D}"/>
              </a:ext>
            </a:extLst>
          </p:cNvPr>
          <p:cNvSpPr/>
          <p:nvPr/>
        </p:nvSpPr>
        <p:spPr>
          <a:xfrm>
            <a:off x="4803448" y="3791818"/>
            <a:ext cx="215153" cy="116112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2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1AA9-88C6-7045-9E00-B3B7330F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23C6-DC2D-8F2D-B49C-1AAB619F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Namespace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176C8522-B1C4-AAE8-C85E-41DC3DE94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way to logically isolate resources in a cluster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enables multi-tenant environments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multiple projects to share the same cluster without conflicts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to organize workloads efficiently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 resources in different namespaces based on their semantic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to enforce access control and quotas/limits on resources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default namespaces:</a:t>
            </a:r>
          </a:p>
          <a:p>
            <a:pPr lvl="1"/>
            <a:r>
              <a:rPr lang="en-US" sz="2400" b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default</a:t>
            </a:r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when no namespace is specified for a resource</a:t>
            </a:r>
          </a:p>
          <a:p>
            <a:pPr lvl="1"/>
            <a:r>
              <a:rPr lang="en-US" sz="2400" b="1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</a:t>
            </a:r>
            <a:r>
              <a:rPr lang="en-US" sz="2400" b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-system</a:t>
            </a:r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K8s system components (API server, </a:t>
            </a:r>
            <a:r>
              <a:rPr lang="en-US" sz="240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etcd</a:t>
            </a:r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…)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926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921A-F9AF-0EF5-8489-EA66EA3F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DA9F-C357-384B-E747-82B19A43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of Namespace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7BD2B-E06F-0145-CA1F-88215001EF86}"/>
              </a:ext>
            </a:extLst>
          </p:cNvPr>
          <p:cNvSpPr/>
          <p:nvPr/>
        </p:nvSpPr>
        <p:spPr>
          <a:xfrm>
            <a:off x="2194560" y="2234066"/>
            <a:ext cx="3582297" cy="2032043"/>
          </a:xfrm>
          <a:prstGeom prst="rect">
            <a:avLst/>
          </a:prstGeom>
          <a:noFill/>
          <a:ln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4B632-6E7A-59D7-418A-BF5CFA742F41}"/>
              </a:ext>
            </a:extLst>
          </p:cNvPr>
          <p:cNvSpPr txBox="1"/>
          <p:nvPr/>
        </p:nvSpPr>
        <p:spPr>
          <a:xfrm>
            <a:off x="3151332" y="1879063"/>
            <a:ext cx="1668752" cy="355003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 algn="ctr">
              <a:buNone/>
            </a:pPr>
            <a:r>
              <a:rPr lang="en-US" sz="1600" noProof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namespace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6FCB4-B9B7-D11A-9301-66FA15732AB8}"/>
              </a:ext>
            </a:extLst>
          </p:cNvPr>
          <p:cNvSpPr/>
          <p:nvPr/>
        </p:nvSpPr>
        <p:spPr>
          <a:xfrm>
            <a:off x="2471227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262086-0B72-0974-C635-0A928A78370A}"/>
              </a:ext>
            </a:extLst>
          </p:cNvPr>
          <p:cNvSpPr/>
          <p:nvPr/>
        </p:nvSpPr>
        <p:spPr>
          <a:xfrm>
            <a:off x="3191989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4F9A0367-6A25-6988-A298-EC14E80A2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65" y="3198285"/>
            <a:ext cx="650616" cy="6328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42306B-D512-8EFC-8D63-8DECB2844320}"/>
              </a:ext>
            </a:extLst>
          </p:cNvPr>
          <p:cNvSpPr/>
          <p:nvPr/>
        </p:nvSpPr>
        <p:spPr>
          <a:xfrm>
            <a:off x="4248621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651FCA-98D6-91D6-6ABA-69C6C4EBE454}"/>
              </a:ext>
            </a:extLst>
          </p:cNvPr>
          <p:cNvSpPr/>
          <p:nvPr/>
        </p:nvSpPr>
        <p:spPr>
          <a:xfrm>
            <a:off x="4969383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9B7E0C60-2DD6-C399-4221-A11705236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59" y="3198285"/>
            <a:ext cx="650616" cy="63282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6126A32-191D-0FA2-D740-1794FFD09930}"/>
              </a:ext>
            </a:extLst>
          </p:cNvPr>
          <p:cNvSpPr/>
          <p:nvPr/>
        </p:nvSpPr>
        <p:spPr>
          <a:xfrm>
            <a:off x="6458177" y="2234066"/>
            <a:ext cx="3582297" cy="2032043"/>
          </a:xfrm>
          <a:prstGeom prst="rect">
            <a:avLst/>
          </a:prstGeom>
          <a:noFill/>
          <a:ln>
            <a:solidFill>
              <a:srgbClr val="92D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3F9036-27F8-3010-C15D-2B4DF0B2B0A2}"/>
              </a:ext>
            </a:extLst>
          </p:cNvPr>
          <p:cNvSpPr txBox="1"/>
          <p:nvPr/>
        </p:nvSpPr>
        <p:spPr>
          <a:xfrm>
            <a:off x="7414949" y="1879063"/>
            <a:ext cx="1668752" cy="355003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 algn="ctr">
              <a:buNone/>
            </a:pPr>
            <a:r>
              <a:rPr lang="en-US" sz="1600" noProof="0">
                <a:solidFill>
                  <a:srgbClr val="92D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namespace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805150-DA02-26DE-B157-C201356BC713}"/>
              </a:ext>
            </a:extLst>
          </p:cNvPr>
          <p:cNvSpPr/>
          <p:nvPr/>
        </p:nvSpPr>
        <p:spPr>
          <a:xfrm>
            <a:off x="6734844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8791F-7BB7-24AE-454B-2330448960AA}"/>
              </a:ext>
            </a:extLst>
          </p:cNvPr>
          <p:cNvSpPr/>
          <p:nvPr/>
        </p:nvSpPr>
        <p:spPr>
          <a:xfrm>
            <a:off x="7455606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Picture 23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D4F308D6-4AEA-FDD5-41FC-113E6E4C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982" y="3198285"/>
            <a:ext cx="650616" cy="63282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201295C-5A9C-DF0F-CAAA-2B7DDA36E75B}"/>
              </a:ext>
            </a:extLst>
          </p:cNvPr>
          <p:cNvSpPr/>
          <p:nvPr/>
        </p:nvSpPr>
        <p:spPr>
          <a:xfrm>
            <a:off x="8512238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CA70F3-3542-BAF6-FAFB-E3B19202F199}"/>
              </a:ext>
            </a:extLst>
          </p:cNvPr>
          <p:cNvSpPr/>
          <p:nvPr/>
        </p:nvSpPr>
        <p:spPr>
          <a:xfrm>
            <a:off x="9233000" y="2397917"/>
            <a:ext cx="584276" cy="534063"/>
          </a:xfrm>
          <a:prstGeom prst="rect">
            <a:avLst/>
          </a:prstGeom>
          <a:solidFill>
            <a:srgbClr val="73FB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US" sz="1200" noProof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26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056875C1-487D-2C78-831A-26F88DF2B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376" y="3198285"/>
            <a:ext cx="650616" cy="6328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F19839F-638D-FA22-8037-033B407C98EA}"/>
              </a:ext>
            </a:extLst>
          </p:cNvPr>
          <p:cNvSpPr txBox="1"/>
          <p:nvPr/>
        </p:nvSpPr>
        <p:spPr>
          <a:xfrm>
            <a:off x="4866067" y="4748507"/>
            <a:ext cx="26257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communication </a:t>
            </a:r>
          </a:p>
        </p:txBody>
      </p:sp>
      <p:cxnSp>
        <p:nvCxnSpPr>
          <p:cNvPr id="29" name="Straight Arrow Connector 8">
            <a:extLst>
              <a:ext uri="{FF2B5EF4-FFF2-40B4-BE49-F238E27FC236}">
                <a16:creationId xmlns:a16="http://schemas.microsoft.com/office/drawing/2014/main" id="{3086D558-52CE-03ED-033D-BA8B0529DEF5}"/>
              </a:ext>
            </a:extLst>
          </p:cNvPr>
          <p:cNvCxnSpPr>
            <a:cxnSpLocks/>
            <a:stCxn id="28" idx="0"/>
            <a:endCxn id="17" idx="2"/>
          </p:cNvCxnSpPr>
          <p:nvPr/>
        </p:nvCxnSpPr>
        <p:spPr>
          <a:xfrm flipH="1" flipV="1">
            <a:off x="5261521" y="2931980"/>
            <a:ext cx="917403" cy="18165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8">
            <a:extLst>
              <a:ext uri="{FF2B5EF4-FFF2-40B4-BE49-F238E27FC236}">
                <a16:creationId xmlns:a16="http://schemas.microsoft.com/office/drawing/2014/main" id="{D1FBFACB-0A9D-78FD-49EE-2B61850B8681}"/>
              </a:ext>
            </a:extLst>
          </p:cNvPr>
          <p:cNvCxnSpPr>
            <a:cxnSpLocks/>
            <a:stCxn id="28" idx="0"/>
            <a:endCxn id="21" idx="2"/>
          </p:cNvCxnSpPr>
          <p:nvPr/>
        </p:nvCxnSpPr>
        <p:spPr>
          <a:xfrm flipV="1">
            <a:off x="6178924" y="2931980"/>
            <a:ext cx="848058" cy="18165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73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8057-6E65-3ED0-A0EE-4B02049B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F4CB-797E-5B69-3585-6D576C53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 Namespace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D6AEA-A0EE-E936-3865-3776BBEFD838}"/>
              </a:ext>
            </a:extLst>
          </p:cNvPr>
          <p:cNvSpPr txBox="1"/>
          <p:nvPr/>
        </p:nvSpPr>
        <p:spPr>
          <a:xfrm>
            <a:off x="609600" y="1259632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kind: Namespace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name: namespace-a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135FE-1881-A923-2DD9-07E15565456D}"/>
              </a:ext>
            </a:extLst>
          </p:cNvPr>
          <p:cNvSpPr txBox="1"/>
          <p:nvPr/>
        </p:nvSpPr>
        <p:spPr>
          <a:xfrm>
            <a:off x="6852812" y="1537102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resource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C77C2C-4E8A-8C68-98DF-E75FDA44145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974159" y="1721768"/>
            <a:ext cx="3878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C7F4C0-D945-657E-FAAD-8071684C7F03}"/>
              </a:ext>
            </a:extLst>
          </p:cNvPr>
          <p:cNvSpPr txBox="1"/>
          <p:nvPr/>
        </p:nvSpPr>
        <p:spPr>
          <a:xfrm>
            <a:off x="6852812" y="2086810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Namespace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A515A4-3E4E-54F1-0FF0-8A0C7E75E2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084983" y="2271476"/>
            <a:ext cx="276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1">
            <a:extLst>
              <a:ext uri="{FF2B5EF4-FFF2-40B4-BE49-F238E27FC236}">
                <a16:creationId xmlns:a16="http://schemas.microsoft.com/office/drawing/2014/main" id="{26251501-D363-7C8C-C022-4452F6C02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737432"/>
            <a:ext cx="10972800" cy="612056"/>
          </a:xfrm>
        </p:spPr>
        <p:txBody>
          <a:bodyPr/>
          <a:lstStyle/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apply it to a resource: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7A99A-78DB-F3AB-993B-6916330ED5A5}"/>
              </a:ext>
            </a:extLst>
          </p:cNvPr>
          <p:cNvSpPr txBox="1"/>
          <p:nvPr/>
        </p:nvSpPr>
        <p:spPr>
          <a:xfrm>
            <a:off x="609600" y="3429000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kind: Service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name: web-app-svc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namespace: namespace-a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</a:p>
        </p:txBody>
      </p:sp>
    </p:spTree>
    <p:extLst>
      <p:ext uri="{BB962C8B-B14F-4D97-AF65-F5344CB8AC3E}">
        <p14:creationId xmlns:p14="http://schemas.microsoft.com/office/powerpoint/2010/main" val="323700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3" grpId="0" build="p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lab deep dive</a:t>
            </a:r>
          </a:p>
        </p:txBody>
      </p:sp>
    </p:spTree>
    <p:extLst>
      <p:ext uri="{BB962C8B-B14F-4D97-AF65-F5344CB8AC3E}">
        <p14:creationId xmlns:p14="http://schemas.microsoft.com/office/powerpoint/2010/main" val="1166196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403A-4EAC-5397-8FC6-BB65E947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pre-conditions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3C-FE13-E6B4-D784-AAB7B5F84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 the VM for your architecture from Canvas!</a:t>
            </a:r>
          </a:p>
          <a:p>
            <a:pPr lvl="1"/>
            <a:r>
              <a:rPr lang="en-GB" dirty="0"/>
              <a:t>the VM can be found in the “Labs</a:t>
            </a:r>
            <a:r>
              <a:rPr lang="en-GB"/>
              <a:t>” page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2305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Freeform 325">
            <a:extLst>
              <a:ext uri="{FF2B5EF4-FFF2-40B4-BE49-F238E27FC236}">
                <a16:creationId xmlns:a16="http://schemas.microsoft.com/office/drawing/2014/main" id="{2158C81E-0D7D-2D43-5C62-09F3F30F0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746" y="4929727"/>
            <a:ext cx="1824732" cy="800800"/>
          </a:xfrm>
          <a:custGeom>
            <a:avLst/>
            <a:gdLst>
              <a:gd name="G0" fmla="+- 1 0 0"/>
              <a:gd name="G1" fmla="+- 196 0 0"/>
              <a:gd name="G2" fmla="+- 1057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427 0 0"/>
              <a:gd name="G17" fmla="sin 1624 G16"/>
              <a:gd name="G18" fmla="+- 1 0 0"/>
              <a:gd name="G19" fmla="+- 1 0 0"/>
              <a:gd name="G20" fmla="*/ 1 24577 2"/>
              <a:gd name="G21" fmla="+- 1 0 0"/>
              <a:gd name="G22" fmla="+- 1 0 0"/>
              <a:gd name="G23" fmla="+- 1 0 0"/>
              <a:gd name="G24" fmla="+- 4 0 0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1 0 0"/>
              <a:gd name="G34" fmla="+- 1 0 0"/>
              <a:gd name="G35" fmla="+- 1 0 0"/>
              <a:gd name="G36" fmla="+- 1 0 0"/>
              <a:gd name="G37" fmla="+- 1 0 0"/>
              <a:gd name="T0" fmla="*/ 2138984947 w 931"/>
              <a:gd name="T1" fmla="*/ 2147483646 h 1650"/>
              <a:gd name="T2" fmla="*/ 596111792 w 931"/>
              <a:gd name="T3" fmla="*/ 2147483646 h 1650"/>
              <a:gd name="T4" fmla="*/ 1262350763 w 931"/>
              <a:gd name="T5" fmla="*/ 2125578126 h 1650"/>
              <a:gd name="T6" fmla="*/ 1764953951 w 931"/>
              <a:gd name="T7" fmla="*/ 1179578863 h 1650"/>
              <a:gd name="T8" fmla="*/ 2147483646 w 931"/>
              <a:gd name="T9" fmla="*/ 397086005 h 1650"/>
              <a:gd name="T10" fmla="*/ 2147483646 w 931"/>
              <a:gd name="T11" fmla="*/ 379568133 h 1650"/>
              <a:gd name="T12" fmla="*/ 2147483646 w 931"/>
              <a:gd name="T13" fmla="*/ 335771744 h 1650"/>
              <a:gd name="T14" fmla="*/ 2147483646 w 931"/>
              <a:gd name="T15" fmla="*/ 1106585452 h 1650"/>
              <a:gd name="T16" fmla="*/ 2147483646 w 931"/>
              <a:gd name="T17" fmla="*/ 2147483646 h 1650"/>
              <a:gd name="T18" fmla="*/ 2147483646 w 931"/>
              <a:gd name="T19" fmla="*/ 2147483646 h 1650"/>
              <a:gd name="T20" fmla="*/ 2147483646 w 931"/>
              <a:gd name="T21" fmla="*/ 2147483646 h 1650"/>
              <a:gd name="T22" fmla="*/ 2147483646 w 931"/>
              <a:gd name="T23" fmla="*/ 2147483646 h 1650"/>
              <a:gd name="T24" fmla="*/ 2138984947 w 931"/>
              <a:gd name="T25" fmla="*/ 2147483646 h 1650"/>
              <a:gd name="T26" fmla="*/ 0 w 931"/>
              <a:gd name="T27" fmla="*/ 0 h 1650"/>
              <a:gd name="T28" fmla="*/ 931 w 931"/>
              <a:gd name="T29" fmla="*/ 1650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T26" t="T27" r="T28" b="T29"/>
            <a:pathLst>
              <a:path w="931" h="1650">
                <a:moveTo>
                  <a:pt x="183" y="1467"/>
                </a:moveTo>
                <a:cubicBezTo>
                  <a:pt x="95" y="1537"/>
                  <a:pt x="0" y="1240"/>
                  <a:pt x="51" y="1095"/>
                </a:cubicBezTo>
                <a:cubicBezTo>
                  <a:pt x="3" y="1057"/>
                  <a:pt x="26" y="837"/>
                  <a:pt x="108" y="728"/>
                </a:cubicBezTo>
                <a:cubicBezTo>
                  <a:pt x="50" y="573"/>
                  <a:pt x="37" y="421"/>
                  <a:pt x="151" y="404"/>
                </a:cubicBezTo>
                <a:cubicBezTo>
                  <a:pt x="92" y="174"/>
                  <a:pt x="144" y="81"/>
                  <a:pt x="239" y="136"/>
                </a:cubicBezTo>
                <a:cubicBezTo>
                  <a:pt x="233" y="33"/>
                  <a:pt x="391" y="41"/>
                  <a:pt x="432" y="130"/>
                </a:cubicBezTo>
                <a:cubicBezTo>
                  <a:pt x="494" y="41"/>
                  <a:pt x="677" y="0"/>
                  <a:pt x="720" y="115"/>
                </a:cubicBezTo>
                <a:cubicBezTo>
                  <a:pt x="806" y="77"/>
                  <a:pt x="879" y="210"/>
                  <a:pt x="830" y="379"/>
                </a:cubicBezTo>
                <a:cubicBezTo>
                  <a:pt x="910" y="411"/>
                  <a:pt x="931" y="842"/>
                  <a:pt x="846" y="874"/>
                </a:cubicBezTo>
                <a:cubicBezTo>
                  <a:pt x="885" y="1030"/>
                  <a:pt x="875" y="1332"/>
                  <a:pt x="714" y="1384"/>
                </a:cubicBezTo>
                <a:cubicBezTo>
                  <a:pt x="734" y="1520"/>
                  <a:pt x="663" y="1569"/>
                  <a:pt x="612" y="1498"/>
                </a:cubicBezTo>
                <a:cubicBezTo>
                  <a:pt x="600" y="1612"/>
                  <a:pt x="521" y="1624"/>
                  <a:pt x="427" y="1526"/>
                </a:cubicBezTo>
                <a:cubicBezTo>
                  <a:pt x="361" y="1565"/>
                  <a:pt x="190" y="1650"/>
                  <a:pt x="183" y="1467"/>
                </a:cubicBezTo>
                <a:close/>
              </a:path>
            </a:pathLst>
          </a:custGeom>
          <a:solidFill>
            <a:srgbClr val="FFE9AA"/>
          </a:solidFill>
          <a:ln w="936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3" name="Line 71">
            <a:extLst>
              <a:ext uri="{FF2B5EF4-FFF2-40B4-BE49-F238E27FC236}">
                <a16:creationId xmlns:a16="http://schemas.microsoft.com/office/drawing/2014/main" id="{3B0AB558-422A-3CE6-7DC6-2A747091416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96083" y="4502661"/>
            <a:ext cx="738460" cy="82929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632" name="Freeform 631">
            <a:extLst>
              <a:ext uri="{FF2B5EF4-FFF2-40B4-BE49-F238E27FC236}">
                <a16:creationId xmlns:a16="http://schemas.microsoft.com/office/drawing/2014/main" id="{31320A76-5BAA-CA3F-6E1B-BB54B3C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196" y="4606270"/>
            <a:ext cx="3216279" cy="1283756"/>
          </a:xfrm>
          <a:custGeom>
            <a:avLst/>
            <a:gdLst>
              <a:gd name="G0" fmla="+- 1 0 0"/>
              <a:gd name="G1" fmla="+- 196 0 0"/>
              <a:gd name="G2" fmla="+- 1057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427 0 0"/>
              <a:gd name="G17" fmla="sin 1624 G16"/>
              <a:gd name="G18" fmla="+- 1 0 0"/>
              <a:gd name="G19" fmla="+- 1 0 0"/>
              <a:gd name="G20" fmla="*/ 1 24577 2"/>
              <a:gd name="G21" fmla="+- 1 0 0"/>
              <a:gd name="G22" fmla="+- 1 0 0"/>
              <a:gd name="G23" fmla="+- 1 0 0"/>
              <a:gd name="G24" fmla="+- 4 0 0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1 0 0"/>
              <a:gd name="G34" fmla="+- 1 0 0"/>
              <a:gd name="G35" fmla="+- 1 0 0"/>
              <a:gd name="G36" fmla="+- 1 0 0"/>
              <a:gd name="G37" fmla="+- 1 0 0"/>
              <a:gd name="T0" fmla="*/ 2138984947 w 931"/>
              <a:gd name="T1" fmla="*/ 2147483646 h 1650"/>
              <a:gd name="T2" fmla="*/ 596111792 w 931"/>
              <a:gd name="T3" fmla="*/ 2147483646 h 1650"/>
              <a:gd name="T4" fmla="*/ 1262350763 w 931"/>
              <a:gd name="T5" fmla="*/ 2125578126 h 1650"/>
              <a:gd name="T6" fmla="*/ 1764953951 w 931"/>
              <a:gd name="T7" fmla="*/ 1179578863 h 1650"/>
              <a:gd name="T8" fmla="*/ 2147483646 w 931"/>
              <a:gd name="T9" fmla="*/ 397086005 h 1650"/>
              <a:gd name="T10" fmla="*/ 2147483646 w 931"/>
              <a:gd name="T11" fmla="*/ 379568133 h 1650"/>
              <a:gd name="T12" fmla="*/ 2147483646 w 931"/>
              <a:gd name="T13" fmla="*/ 335771744 h 1650"/>
              <a:gd name="T14" fmla="*/ 2147483646 w 931"/>
              <a:gd name="T15" fmla="*/ 1106585452 h 1650"/>
              <a:gd name="T16" fmla="*/ 2147483646 w 931"/>
              <a:gd name="T17" fmla="*/ 2147483646 h 1650"/>
              <a:gd name="T18" fmla="*/ 2147483646 w 931"/>
              <a:gd name="T19" fmla="*/ 2147483646 h 1650"/>
              <a:gd name="T20" fmla="*/ 2147483646 w 931"/>
              <a:gd name="T21" fmla="*/ 2147483646 h 1650"/>
              <a:gd name="T22" fmla="*/ 2147483646 w 931"/>
              <a:gd name="T23" fmla="*/ 2147483646 h 1650"/>
              <a:gd name="T24" fmla="*/ 2138984947 w 931"/>
              <a:gd name="T25" fmla="*/ 2147483646 h 1650"/>
              <a:gd name="T26" fmla="*/ 0 w 931"/>
              <a:gd name="T27" fmla="*/ 0 h 1650"/>
              <a:gd name="T28" fmla="*/ 931 w 931"/>
              <a:gd name="T29" fmla="*/ 1650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T26" t="T27" r="T28" b="T29"/>
            <a:pathLst>
              <a:path w="931" h="1650">
                <a:moveTo>
                  <a:pt x="183" y="1467"/>
                </a:moveTo>
                <a:cubicBezTo>
                  <a:pt x="95" y="1537"/>
                  <a:pt x="0" y="1240"/>
                  <a:pt x="51" y="1095"/>
                </a:cubicBezTo>
                <a:cubicBezTo>
                  <a:pt x="3" y="1057"/>
                  <a:pt x="26" y="837"/>
                  <a:pt x="108" y="728"/>
                </a:cubicBezTo>
                <a:cubicBezTo>
                  <a:pt x="50" y="573"/>
                  <a:pt x="37" y="421"/>
                  <a:pt x="151" y="404"/>
                </a:cubicBezTo>
                <a:cubicBezTo>
                  <a:pt x="92" y="174"/>
                  <a:pt x="144" y="81"/>
                  <a:pt x="239" y="136"/>
                </a:cubicBezTo>
                <a:cubicBezTo>
                  <a:pt x="233" y="33"/>
                  <a:pt x="391" y="41"/>
                  <a:pt x="432" y="130"/>
                </a:cubicBezTo>
                <a:cubicBezTo>
                  <a:pt x="494" y="41"/>
                  <a:pt x="677" y="0"/>
                  <a:pt x="720" y="115"/>
                </a:cubicBezTo>
                <a:cubicBezTo>
                  <a:pt x="806" y="77"/>
                  <a:pt x="879" y="210"/>
                  <a:pt x="830" y="379"/>
                </a:cubicBezTo>
                <a:cubicBezTo>
                  <a:pt x="910" y="411"/>
                  <a:pt x="931" y="842"/>
                  <a:pt x="846" y="874"/>
                </a:cubicBezTo>
                <a:cubicBezTo>
                  <a:pt x="885" y="1030"/>
                  <a:pt x="875" y="1332"/>
                  <a:pt x="714" y="1384"/>
                </a:cubicBezTo>
                <a:cubicBezTo>
                  <a:pt x="734" y="1520"/>
                  <a:pt x="663" y="1569"/>
                  <a:pt x="612" y="1498"/>
                </a:cubicBezTo>
                <a:cubicBezTo>
                  <a:pt x="600" y="1612"/>
                  <a:pt x="521" y="1624"/>
                  <a:pt x="427" y="1526"/>
                </a:cubicBezTo>
                <a:cubicBezTo>
                  <a:pt x="361" y="1565"/>
                  <a:pt x="190" y="1650"/>
                  <a:pt x="183" y="1467"/>
                </a:cubicBezTo>
                <a:close/>
              </a:path>
            </a:pathLst>
          </a:custGeom>
          <a:solidFill>
            <a:srgbClr val="FFE9AA"/>
          </a:solidFill>
          <a:ln w="936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3" name="Line 71">
            <a:extLst>
              <a:ext uri="{FF2B5EF4-FFF2-40B4-BE49-F238E27FC236}">
                <a16:creationId xmlns:a16="http://schemas.microsoft.com/office/drawing/2014/main" id="{F19A088D-92CB-2E2B-CB7B-4E0BF078AD77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8170383" y="4178373"/>
            <a:ext cx="9526" cy="222586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631" name="Line 71">
            <a:extLst>
              <a:ext uri="{FF2B5EF4-FFF2-40B4-BE49-F238E27FC236}">
                <a16:creationId xmlns:a16="http://schemas.microsoft.com/office/drawing/2014/main" id="{09916EDA-AD96-081F-8BC9-E4FC6B55CC2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9087875" y="5657708"/>
            <a:ext cx="68288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2EA44-8400-E504-CF36-C1835440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lab topology</a:t>
            </a:r>
          </a:p>
        </p:txBody>
      </p:sp>
      <p:sp>
        <p:nvSpPr>
          <p:cNvPr id="150" name="Line 71">
            <a:extLst>
              <a:ext uri="{FF2B5EF4-FFF2-40B4-BE49-F238E27FC236}">
                <a16:creationId xmlns:a16="http://schemas.microsoft.com/office/drawing/2014/main" id="{E0CBA220-3094-2EFD-32F3-3A1C7C5C441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647920" y="4130892"/>
            <a:ext cx="680814" cy="54533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109" name="Line 66">
            <a:extLst>
              <a:ext uri="{FF2B5EF4-FFF2-40B4-BE49-F238E27FC236}">
                <a16:creationId xmlns:a16="http://schemas.microsoft.com/office/drawing/2014/main" id="{157804A6-BD9D-1A1E-2CF2-79DE218F25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06991" y="4415165"/>
            <a:ext cx="727105" cy="80080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 b="1"/>
          </a:p>
        </p:txBody>
      </p:sp>
      <p:sp>
        <p:nvSpPr>
          <p:cNvPr id="103" name="Line 66">
            <a:extLst>
              <a:ext uri="{FF2B5EF4-FFF2-40B4-BE49-F238E27FC236}">
                <a16:creationId xmlns:a16="http://schemas.microsoft.com/office/drawing/2014/main" id="{ACF97EE2-DED2-EDBC-C04A-47545CD8CA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3154" y="4210056"/>
            <a:ext cx="590563" cy="183019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102" name="Line 66">
            <a:extLst>
              <a:ext uri="{FF2B5EF4-FFF2-40B4-BE49-F238E27FC236}">
                <a16:creationId xmlns:a16="http://schemas.microsoft.com/office/drawing/2014/main" id="{1BE98201-31A6-1220-9BD8-5DA0CA86DD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7504" y="3925865"/>
            <a:ext cx="1045379" cy="505582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101" name="Line 66">
            <a:extLst>
              <a:ext uri="{FF2B5EF4-FFF2-40B4-BE49-F238E27FC236}">
                <a16:creationId xmlns:a16="http://schemas.microsoft.com/office/drawing/2014/main" id="{6E7ED664-9F10-30E9-0B89-E7EDF4E4D8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8729" y="4258266"/>
            <a:ext cx="697826" cy="138202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100" name="Line 66">
            <a:extLst>
              <a:ext uri="{FF2B5EF4-FFF2-40B4-BE49-F238E27FC236}">
                <a16:creationId xmlns:a16="http://schemas.microsoft.com/office/drawing/2014/main" id="{4E05C75A-97CC-E9B1-0D74-418BAD9E3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1783" y="3894441"/>
            <a:ext cx="892881" cy="469052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4" name="AutoShape 118">
            <a:extLst>
              <a:ext uri="{FF2B5EF4-FFF2-40B4-BE49-F238E27FC236}">
                <a16:creationId xmlns:a16="http://schemas.microsoft.com/office/drawing/2014/main" id="{6EECCFE6-3E69-DCD3-D7A3-A73CF807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48" y="1299094"/>
            <a:ext cx="2435071" cy="376238"/>
          </a:xfrm>
          <a:prstGeom prst="roundRect">
            <a:avLst>
              <a:gd name="adj" fmla="val 31509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61CFDCE-3CB9-DC3A-CB1C-3B950F567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1173" y="3657524"/>
            <a:ext cx="1167728" cy="376238"/>
          </a:xfrm>
          <a:prstGeom prst="roundRect">
            <a:avLst>
              <a:gd name="adj" fmla="val 31509"/>
            </a:avLst>
          </a:prstGeom>
          <a:solidFill>
            <a:srgbClr val="000066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F8743A21-3F33-C0E3-9AB0-8B0A403D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461" y="3657609"/>
            <a:ext cx="1082164" cy="376238"/>
          </a:xfrm>
          <a:prstGeom prst="roundRect">
            <a:avLst>
              <a:gd name="adj" fmla="val 31509"/>
            </a:avLst>
          </a:prstGeom>
          <a:solidFill>
            <a:srgbClr val="000066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C5EB52B5-59E6-8513-7A46-65DA236D3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352" y="3664652"/>
            <a:ext cx="1128950" cy="376238"/>
          </a:xfrm>
          <a:prstGeom prst="roundRect">
            <a:avLst>
              <a:gd name="adj" fmla="val 31509"/>
            </a:avLst>
          </a:prstGeom>
          <a:solidFill>
            <a:srgbClr val="006600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5CE8F996-1A73-8FCA-2758-400374FB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584" y="3664652"/>
            <a:ext cx="1133954" cy="376238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D68D9CDA-FCA0-5D12-6BD7-BCE1B47A3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85" y="2708778"/>
            <a:ext cx="2476369" cy="376238"/>
          </a:xfrm>
          <a:prstGeom prst="roundRect">
            <a:avLst>
              <a:gd name="adj" fmla="val 31509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9E4EAF1F-F610-D9DA-92DD-DDFC21F1C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360" y="2677512"/>
            <a:ext cx="2414194" cy="376238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 sz="1400"/>
          </a:p>
        </p:txBody>
      </p:sp>
      <p:cxnSp>
        <p:nvCxnSpPr>
          <p:cNvPr id="15" name="AutoShape 30">
            <a:extLst>
              <a:ext uri="{FF2B5EF4-FFF2-40B4-BE49-F238E27FC236}">
                <a16:creationId xmlns:a16="http://schemas.microsoft.com/office/drawing/2014/main" id="{BE767603-537D-CA00-2B02-856BCA293FE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4397091" y="1674578"/>
            <a:ext cx="2665119" cy="10120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2">
            <a:extLst>
              <a:ext uri="{FF2B5EF4-FFF2-40B4-BE49-F238E27FC236}">
                <a16:creationId xmlns:a16="http://schemas.microsoft.com/office/drawing/2014/main" id="{4E26D0CE-573B-9963-B365-E4D830E83BA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3672334" y="1674578"/>
            <a:ext cx="724757" cy="102497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33">
            <a:extLst>
              <a:ext uri="{FF2B5EF4-FFF2-40B4-BE49-F238E27FC236}">
                <a16:creationId xmlns:a16="http://schemas.microsoft.com/office/drawing/2014/main" id="{77B0BD15-3F5C-3A6A-854B-6A969D9E6AFC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4397091" y="1674578"/>
            <a:ext cx="4172419" cy="10120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40">
            <a:extLst>
              <a:ext uri="{FF2B5EF4-FFF2-40B4-BE49-F238E27FC236}">
                <a16:creationId xmlns:a16="http://schemas.microsoft.com/office/drawing/2014/main" id="{DAEF3713-5B4E-9839-91B9-FEADBD403F56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2210483" y="1674578"/>
            <a:ext cx="2186608" cy="101121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51">
            <a:extLst>
              <a:ext uri="{FF2B5EF4-FFF2-40B4-BE49-F238E27FC236}">
                <a16:creationId xmlns:a16="http://schemas.microsoft.com/office/drawing/2014/main" id="{ED153B9B-2310-4143-BDD4-F46EF6E3053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210483" y="3083081"/>
            <a:ext cx="1469187" cy="57848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52">
            <a:extLst>
              <a:ext uri="{FF2B5EF4-FFF2-40B4-BE49-F238E27FC236}">
                <a16:creationId xmlns:a16="http://schemas.microsoft.com/office/drawing/2014/main" id="{F16C2346-3188-1100-D5B1-EAF507DF355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72334" y="3096835"/>
            <a:ext cx="7337" cy="56472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53">
            <a:extLst>
              <a:ext uri="{FF2B5EF4-FFF2-40B4-BE49-F238E27FC236}">
                <a16:creationId xmlns:a16="http://schemas.microsoft.com/office/drawing/2014/main" id="{F189DBB4-2480-14BE-560C-86E4B2D54AC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210483" y="3083081"/>
            <a:ext cx="1663" cy="58486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54">
            <a:extLst>
              <a:ext uri="{FF2B5EF4-FFF2-40B4-BE49-F238E27FC236}">
                <a16:creationId xmlns:a16="http://schemas.microsoft.com/office/drawing/2014/main" id="{B28434CA-1651-F3B3-4A27-242A384D6E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12146" y="3096835"/>
            <a:ext cx="1460188" cy="5711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55">
            <a:extLst>
              <a:ext uri="{FF2B5EF4-FFF2-40B4-BE49-F238E27FC236}">
                <a16:creationId xmlns:a16="http://schemas.microsoft.com/office/drawing/2014/main" id="{A02BA591-1CA9-AC3B-C491-57B4FAAA3B2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062210" y="3083867"/>
            <a:ext cx="1515282" cy="56313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56">
            <a:extLst>
              <a:ext uri="{FF2B5EF4-FFF2-40B4-BE49-F238E27FC236}">
                <a16:creationId xmlns:a16="http://schemas.microsoft.com/office/drawing/2014/main" id="{29783F1E-0194-6CAD-DCED-D44EC615029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569511" y="3083867"/>
            <a:ext cx="7982" cy="56313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57">
            <a:extLst>
              <a:ext uri="{FF2B5EF4-FFF2-40B4-BE49-F238E27FC236}">
                <a16:creationId xmlns:a16="http://schemas.microsoft.com/office/drawing/2014/main" id="{8BF62981-E0E6-93B5-1963-153EDB5772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062210" y="3083867"/>
            <a:ext cx="4323" cy="5706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58">
            <a:extLst>
              <a:ext uri="{FF2B5EF4-FFF2-40B4-BE49-F238E27FC236}">
                <a16:creationId xmlns:a16="http://schemas.microsoft.com/office/drawing/2014/main" id="{1AA979D0-F8F6-D87A-A54B-3A1F67CAEAE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66534" y="3083867"/>
            <a:ext cx="1502977" cy="5706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Line 71">
            <a:extLst>
              <a:ext uri="{FF2B5EF4-FFF2-40B4-BE49-F238E27FC236}">
                <a16:creationId xmlns:a16="http://schemas.microsoft.com/office/drawing/2014/main" id="{7463DECB-8805-0F2B-9313-9AF9195C7500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1702033" y="4282329"/>
            <a:ext cx="676990" cy="24628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33" name="Line 72">
            <a:extLst>
              <a:ext uri="{FF2B5EF4-FFF2-40B4-BE49-F238E27FC236}">
                <a16:creationId xmlns:a16="http://schemas.microsoft.com/office/drawing/2014/main" id="{C6D27F4B-86B9-A3F1-BF4C-3B85F5EA7136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1417268" y="3938735"/>
            <a:ext cx="611287" cy="88151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cxnSp>
        <p:nvCxnSpPr>
          <p:cNvPr id="41" name="AutoShape 93">
            <a:extLst>
              <a:ext uri="{FF2B5EF4-FFF2-40B4-BE49-F238E27FC236}">
                <a16:creationId xmlns:a16="http://schemas.microsoft.com/office/drawing/2014/main" id="{A134703C-8523-D0E0-3D7C-AA3E67F77300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5871564" y="1691103"/>
            <a:ext cx="1190646" cy="99547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94">
            <a:extLst>
              <a:ext uri="{FF2B5EF4-FFF2-40B4-BE49-F238E27FC236}">
                <a16:creationId xmlns:a16="http://schemas.microsoft.com/office/drawing/2014/main" id="{EE9AC837-35EA-FC03-E279-1506D1AF5D5D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3672334" y="1691103"/>
            <a:ext cx="2199230" cy="100844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95">
            <a:extLst>
              <a:ext uri="{FF2B5EF4-FFF2-40B4-BE49-F238E27FC236}">
                <a16:creationId xmlns:a16="http://schemas.microsoft.com/office/drawing/2014/main" id="{109AE0BD-2587-0374-A015-5D1D36EAD416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5871564" y="1691103"/>
            <a:ext cx="2697947" cy="99547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02">
            <a:extLst>
              <a:ext uri="{FF2B5EF4-FFF2-40B4-BE49-F238E27FC236}">
                <a16:creationId xmlns:a16="http://schemas.microsoft.com/office/drawing/2014/main" id="{0E0B165A-89D3-401A-AA61-BF52481A9369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2210483" y="1691103"/>
            <a:ext cx="3661081" cy="99469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37738B-186D-D06C-F2D7-E3B3D556AFEB}"/>
              </a:ext>
            </a:extLst>
          </p:cNvPr>
          <p:cNvSpPr/>
          <p:nvPr/>
        </p:nvSpPr>
        <p:spPr>
          <a:xfrm>
            <a:off x="1650088" y="2553216"/>
            <a:ext cx="2598599" cy="167260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B388560-70CB-A025-3AEE-56662939986F}"/>
              </a:ext>
            </a:extLst>
          </p:cNvPr>
          <p:cNvSpPr/>
          <p:nvPr/>
        </p:nvSpPr>
        <p:spPr>
          <a:xfrm>
            <a:off x="6486465" y="2551333"/>
            <a:ext cx="2645618" cy="167260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B31FD9A-C6E4-C9C1-E5A6-804A7342384F}"/>
              </a:ext>
            </a:extLst>
          </p:cNvPr>
          <p:cNvSpPr/>
          <p:nvPr/>
        </p:nvSpPr>
        <p:spPr>
          <a:xfrm>
            <a:off x="3850172" y="1146450"/>
            <a:ext cx="2589961" cy="70873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B64B512-4785-51E1-86FD-CD09ECA324C0}"/>
              </a:ext>
            </a:extLst>
          </p:cNvPr>
          <p:cNvGrpSpPr/>
          <p:nvPr/>
        </p:nvGrpSpPr>
        <p:grpSpPr>
          <a:xfrm>
            <a:off x="3325111" y="2699550"/>
            <a:ext cx="694445" cy="397285"/>
            <a:chOff x="967835" y="2541918"/>
            <a:chExt cx="1426054" cy="463051"/>
          </a:xfrm>
        </p:grpSpPr>
        <p:grpSp>
          <p:nvGrpSpPr>
            <p:cNvPr id="121" name="Group 93">
              <a:extLst>
                <a:ext uri="{FF2B5EF4-FFF2-40B4-BE49-F238E27FC236}">
                  <a16:creationId xmlns:a16="http://schemas.microsoft.com/office/drawing/2014/main" id="{43DE3BBD-5424-7CF9-F367-CE288917AD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23" name="Group 94">
                <a:extLst>
                  <a:ext uri="{FF2B5EF4-FFF2-40B4-BE49-F238E27FC236}">
                    <a16:creationId xmlns:a16="http://schemas.microsoft.com/office/drawing/2014/main" id="{1EAF63BF-71E1-45A1-38F2-BD15CF55A6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25" name="AutoShape 95">
                  <a:extLst>
                    <a:ext uri="{FF2B5EF4-FFF2-40B4-BE49-F238E27FC236}">
                      <a16:creationId xmlns:a16="http://schemas.microsoft.com/office/drawing/2014/main" id="{DF9873E5-00C4-751E-FA67-F494EC2A0CB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26" name="Group 96">
                  <a:extLst>
                    <a:ext uri="{FF2B5EF4-FFF2-40B4-BE49-F238E27FC236}">
                      <a16:creationId xmlns:a16="http://schemas.microsoft.com/office/drawing/2014/main" id="{AA68F1F5-EF32-C929-E386-5029B55AC83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27" name="Group 97">
                    <a:extLst>
                      <a:ext uri="{FF2B5EF4-FFF2-40B4-BE49-F238E27FC236}">
                        <a16:creationId xmlns:a16="http://schemas.microsoft.com/office/drawing/2014/main" id="{E019B2A0-C76F-8258-6AB2-350B34903AD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37" name="Freeform 98">
                      <a:extLst>
                        <a:ext uri="{FF2B5EF4-FFF2-40B4-BE49-F238E27FC236}">
                          <a16:creationId xmlns:a16="http://schemas.microsoft.com/office/drawing/2014/main" id="{7C09AAB2-79BB-8FA4-C3D2-0213A98719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8" name="Freeform 99">
                      <a:extLst>
                        <a:ext uri="{FF2B5EF4-FFF2-40B4-BE49-F238E27FC236}">
                          <a16:creationId xmlns:a16="http://schemas.microsoft.com/office/drawing/2014/main" id="{EF43869F-9CE5-6A9A-5DB0-13705EF484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9" name="Freeform 100">
                      <a:extLst>
                        <a:ext uri="{FF2B5EF4-FFF2-40B4-BE49-F238E27FC236}">
                          <a16:creationId xmlns:a16="http://schemas.microsoft.com/office/drawing/2014/main" id="{7537A8CA-DE9E-DA77-C5FF-C36828DBA1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0" name="Freeform 101">
                      <a:extLst>
                        <a:ext uri="{FF2B5EF4-FFF2-40B4-BE49-F238E27FC236}">
                          <a16:creationId xmlns:a16="http://schemas.microsoft.com/office/drawing/2014/main" id="{791A9C2A-D4EB-12B4-4108-CB6DB265A8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1" name="Freeform 102">
                      <a:extLst>
                        <a:ext uri="{FF2B5EF4-FFF2-40B4-BE49-F238E27FC236}">
                          <a16:creationId xmlns:a16="http://schemas.microsoft.com/office/drawing/2014/main" id="{DE003316-2EA9-B541-222D-2B62EB74A1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2" name="Freeform 103">
                      <a:extLst>
                        <a:ext uri="{FF2B5EF4-FFF2-40B4-BE49-F238E27FC236}">
                          <a16:creationId xmlns:a16="http://schemas.microsoft.com/office/drawing/2014/main" id="{07309A1A-6841-EF78-6D75-8324E85F2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3" name="Freeform 104">
                      <a:extLst>
                        <a:ext uri="{FF2B5EF4-FFF2-40B4-BE49-F238E27FC236}">
                          <a16:creationId xmlns:a16="http://schemas.microsoft.com/office/drawing/2014/main" id="{AD0373CC-EAAD-5EE0-4811-AC7F2B5A98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4" name="Freeform 105">
                      <a:extLst>
                        <a:ext uri="{FF2B5EF4-FFF2-40B4-BE49-F238E27FC236}">
                          <a16:creationId xmlns:a16="http://schemas.microsoft.com/office/drawing/2014/main" id="{C325EE30-95E6-4334-CB6A-B5E8373AAA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28" name="Group 106">
                    <a:extLst>
                      <a:ext uri="{FF2B5EF4-FFF2-40B4-BE49-F238E27FC236}">
                        <a16:creationId xmlns:a16="http://schemas.microsoft.com/office/drawing/2014/main" id="{EBD601ED-F00D-36F1-CCE7-3CAFFD0CFD0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29" name="Freeform 107">
                      <a:extLst>
                        <a:ext uri="{FF2B5EF4-FFF2-40B4-BE49-F238E27FC236}">
                          <a16:creationId xmlns:a16="http://schemas.microsoft.com/office/drawing/2014/main" id="{6145BE27-41C9-19AF-DD6B-9E690C042E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0" name="Freeform 108">
                      <a:extLst>
                        <a:ext uri="{FF2B5EF4-FFF2-40B4-BE49-F238E27FC236}">
                          <a16:creationId xmlns:a16="http://schemas.microsoft.com/office/drawing/2014/main" id="{2E308260-FC66-AB9E-648C-31CFDCBEF0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1" name="Freeform 109">
                      <a:extLst>
                        <a:ext uri="{FF2B5EF4-FFF2-40B4-BE49-F238E27FC236}">
                          <a16:creationId xmlns:a16="http://schemas.microsoft.com/office/drawing/2014/main" id="{47FDD493-E7EC-6F1D-D951-911AAAB822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2" name="Freeform 110">
                      <a:extLst>
                        <a:ext uri="{FF2B5EF4-FFF2-40B4-BE49-F238E27FC236}">
                          <a16:creationId xmlns:a16="http://schemas.microsoft.com/office/drawing/2014/main" id="{9CF5934E-AE78-C966-6348-02AF56A3AE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3" name="Freeform 111">
                      <a:extLst>
                        <a:ext uri="{FF2B5EF4-FFF2-40B4-BE49-F238E27FC236}">
                          <a16:creationId xmlns:a16="http://schemas.microsoft.com/office/drawing/2014/main" id="{53AD57C9-6854-B84F-ABDA-6E693B5FC7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4" name="Freeform 112">
                      <a:extLst>
                        <a:ext uri="{FF2B5EF4-FFF2-40B4-BE49-F238E27FC236}">
                          <a16:creationId xmlns:a16="http://schemas.microsoft.com/office/drawing/2014/main" id="{9641F6FA-2E19-1A4E-813A-87F02D4A16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5" name="Freeform 113">
                      <a:extLst>
                        <a:ext uri="{FF2B5EF4-FFF2-40B4-BE49-F238E27FC236}">
                          <a16:creationId xmlns:a16="http://schemas.microsoft.com/office/drawing/2014/main" id="{CE198419-245B-770E-BA13-27C99CCE0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6" name="Freeform 114">
                      <a:extLst>
                        <a:ext uri="{FF2B5EF4-FFF2-40B4-BE49-F238E27FC236}">
                          <a16:creationId xmlns:a16="http://schemas.microsoft.com/office/drawing/2014/main" id="{1BA8A3A8-09D4-F1F4-B476-72DE130C1A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24" name="WordArt 115">
                <a:extLst>
                  <a:ext uri="{FF2B5EF4-FFF2-40B4-BE49-F238E27FC236}">
                    <a16:creationId xmlns:a16="http://schemas.microsoft.com/office/drawing/2014/main" id="{3BD51645-C458-238D-9B08-1E2A9E38A12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2" name="WordArt 68">
              <a:extLst>
                <a:ext uri="{FF2B5EF4-FFF2-40B4-BE49-F238E27FC236}">
                  <a16:creationId xmlns:a16="http://schemas.microsoft.com/office/drawing/2014/main" id="{CCA7198E-D4C5-F59C-3B5C-68DB1F1C6B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spine_1_2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3B49D79-133F-BB7B-7797-39A2F015209A}"/>
              </a:ext>
            </a:extLst>
          </p:cNvPr>
          <p:cNvGrpSpPr/>
          <p:nvPr/>
        </p:nvGrpSpPr>
        <p:grpSpPr>
          <a:xfrm>
            <a:off x="1863260" y="2685796"/>
            <a:ext cx="694445" cy="397285"/>
            <a:chOff x="967835" y="2541918"/>
            <a:chExt cx="1426054" cy="463051"/>
          </a:xfrm>
        </p:grpSpPr>
        <p:grpSp>
          <p:nvGrpSpPr>
            <p:cNvPr id="370" name="Group 93">
              <a:extLst>
                <a:ext uri="{FF2B5EF4-FFF2-40B4-BE49-F238E27FC236}">
                  <a16:creationId xmlns:a16="http://schemas.microsoft.com/office/drawing/2014/main" id="{40948096-0BDB-FEBD-7DE6-B84DE9C664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72" name="Group 94">
                <a:extLst>
                  <a:ext uri="{FF2B5EF4-FFF2-40B4-BE49-F238E27FC236}">
                    <a16:creationId xmlns:a16="http://schemas.microsoft.com/office/drawing/2014/main" id="{1C7EA739-4CC6-5430-21AD-139FFF2DAF5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74" name="AutoShape 95">
                  <a:extLst>
                    <a:ext uri="{FF2B5EF4-FFF2-40B4-BE49-F238E27FC236}">
                      <a16:creationId xmlns:a16="http://schemas.microsoft.com/office/drawing/2014/main" id="{B259C86A-9B8A-E4DE-F68C-9E8BC3682C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75" name="Group 96">
                  <a:extLst>
                    <a:ext uri="{FF2B5EF4-FFF2-40B4-BE49-F238E27FC236}">
                      <a16:creationId xmlns:a16="http://schemas.microsoft.com/office/drawing/2014/main" id="{D433D20B-91E9-BED3-B7AB-73055090DD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76" name="Group 97">
                    <a:extLst>
                      <a:ext uri="{FF2B5EF4-FFF2-40B4-BE49-F238E27FC236}">
                        <a16:creationId xmlns:a16="http://schemas.microsoft.com/office/drawing/2014/main" id="{957F7EEB-5899-A5E8-8CD3-3434210509F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86" name="Freeform 98">
                      <a:extLst>
                        <a:ext uri="{FF2B5EF4-FFF2-40B4-BE49-F238E27FC236}">
                          <a16:creationId xmlns:a16="http://schemas.microsoft.com/office/drawing/2014/main" id="{C3935E30-A427-66A3-0C3E-782E133B97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7" name="Freeform 99">
                      <a:extLst>
                        <a:ext uri="{FF2B5EF4-FFF2-40B4-BE49-F238E27FC236}">
                          <a16:creationId xmlns:a16="http://schemas.microsoft.com/office/drawing/2014/main" id="{227A7790-01B7-06F2-E43F-4DC7711C2F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8" name="Freeform 100">
                      <a:extLst>
                        <a:ext uri="{FF2B5EF4-FFF2-40B4-BE49-F238E27FC236}">
                          <a16:creationId xmlns:a16="http://schemas.microsoft.com/office/drawing/2014/main" id="{8687A9E4-78BF-FF44-3455-EB32FB9A36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9" name="Freeform 101">
                      <a:extLst>
                        <a:ext uri="{FF2B5EF4-FFF2-40B4-BE49-F238E27FC236}">
                          <a16:creationId xmlns:a16="http://schemas.microsoft.com/office/drawing/2014/main" id="{8CC383C3-D167-E5A7-1048-55025FDD2C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0" name="Freeform 102">
                      <a:extLst>
                        <a:ext uri="{FF2B5EF4-FFF2-40B4-BE49-F238E27FC236}">
                          <a16:creationId xmlns:a16="http://schemas.microsoft.com/office/drawing/2014/main" id="{68FB7745-5356-C3AA-7730-9C57312E5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1" name="Freeform 103">
                      <a:extLst>
                        <a:ext uri="{FF2B5EF4-FFF2-40B4-BE49-F238E27FC236}">
                          <a16:creationId xmlns:a16="http://schemas.microsoft.com/office/drawing/2014/main" id="{B4C8C609-953F-2D2B-F8A7-A9D943782F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2" name="Freeform 104">
                      <a:extLst>
                        <a:ext uri="{FF2B5EF4-FFF2-40B4-BE49-F238E27FC236}">
                          <a16:creationId xmlns:a16="http://schemas.microsoft.com/office/drawing/2014/main" id="{2823A378-C818-2DA4-D6FF-67CF187144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3" name="Freeform 105">
                      <a:extLst>
                        <a:ext uri="{FF2B5EF4-FFF2-40B4-BE49-F238E27FC236}">
                          <a16:creationId xmlns:a16="http://schemas.microsoft.com/office/drawing/2014/main" id="{87CD019B-7D0B-6EED-4CFB-0F931474F9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7" name="Group 106">
                    <a:extLst>
                      <a:ext uri="{FF2B5EF4-FFF2-40B4-BE49-F238E27FC236}">
                        <a16:creationId xmlns:a16="http://schemas.microsoft.com/office/drawing/2014/main" id="{A55F724C-5B5D-7104-9686-12DC8C12AB1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78" name="Freeform 107">
                      <a:extLst>
                        <a:ext uri="{FF2B5EF4-FFF2-40B4-BE49-F238E27FC236}">
                          <a16:creationId xmlns:a16="http://schemas.microsoft.com/office/drawing/2014/main" id="{326E116D-C29F-38C3-9374-55E673D376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9" name="Freeform 108">
                      <a:extLst>
                        <a:ext uri="{FF2B5EF4-FFF2-40B4-BE49-F238E27FC236}">
                          <a16:creationId xmlns:a16="http://schemas.microsoft.com/office/drawing/2014/main" id="{07E2B7AB-E9BE-F408-DA5C-DF7DB91E0E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0" name="Freeform 109">
                      <a:extLst>
                        <a:ext uri="{FF2B5EF4-FFF2-40B4-BE49-F238E27FC236}">
                          <a16:creationId xmlns:a16="http://schemas.microsoft.com/office/drawing/2014/main" id="{5DB661BA-D31C-9C4F-5561-94952F38B3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1" name="Freeform 110">
                      <a:extLst>
                        <a:ext uri="{FF2B5EF4-FFF2-40B4-BE49-F238E27FC236}">
                          <a16:creationId xmlns:a16="http://schemas.microsoft.com/office/drawing/2014/main" id="{06109DF1-BF08-95B8-EF10-A956C813B6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2" name="Freeform 111">
                      <a:extLst>
                        <a:ext uri="{FF2B5EF4-FFF2-40B4-BE49-F238E27FC236}">
                          <a16:creationId xmlns:a16="http://schemas.microsoft.com/office/drawing/2014/main" id="{A1B8ADBA-FF43-B10B-4A5C-4261BE067B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3" name="Freeform 112">
                      <a:extLst>
                        <a:ext uri="{FF2B5EF4-FFF2-40B4-BE49-F238E27FC236}">
                          <a16:creationId xmlns:a16="http://schemas.microsoft.com/office/drawing/2014/main" id="{60357803-979F-9BD9-A415-D88F2A9070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4" name="Freeform 113">
                      <a:extLst>
                        <a:ext uri="{FF2B5EF4-FFF2-40B4-BE49-F238E27FC236}">
                          <a16:creationId xmlns:a16="http://schemas.microsoft.com/office/drawing/2014/main" id="{56DB2785-F6A4-EEE2-B5DA-717164C2C9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5" name="Freeform 114">
                      <a:extLst>
                        <a:ext uri="{FF2B5EF4-FFF2-40B4-BE49-F238E27FC236}">
                          <a16:creationId xmlns:a16="http://schemas.microsoft.com/office/drawing/2014/main" id="{DB952E99-FFC5-A2B8-C977-026F689EA4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73" name="WordArt 115">
                <a:extLst>
                  <a:ext uri="{FF2B5EF4-FFF2-40B4-BE49-F238E27FC236}">
                    <a16:creationId xmlns:a16="http://schemas.microsoft.com/office/drawing/2014/main" id="{0561103C-3090-0A4B-41A1-2C9AA4B584C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71" name="WordArt 68">
              <a:extLst>
                <a:ext uri="{FF2B5EF4-FFF2-40B4-BE49-F238E27FC236}">
                  <a16:creationId xmlns:a16="http://schemas.microsoft.com/office/drawing/2014/main" id="{8B22F49C-234E-76CF-1DCC-443B5D436E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spine_1_1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8BA8637-0D56-37A6-A718-720CDDB707C3}"/>
              </a:ext>
            </a:extLst>
          </p:cNvPr>
          <p:cNvGrpSpPr/>
          <p:nvPr/>
        </p:nvGrpSpPr>
        <p:grpSpPr>
          <a:xfrm>
            <a:off x="1864923" y="3667948"/>
            <a:ext cx="694445" cy="397285"/>
            <a:chOff x="967835" y="2541918"/>
            <a:chExt cx="1426054" cy="463051"/>
          </a:xfrm>
        </p:grpSpPr>
        <p:grpSp>
          <p:nvGrpSpPr>
            <p:cNvPr id="395" name="Group 93">
              <a:extLst>
                <a:ext uri="{FF2B5EF4-FFF2-40B4-BE49-F238E27FC236}">
                  <a16:creationId xmlns:a16="http://schemas.microsoft.com/office/drawing/2014/main" id="{6FAA72F4-AB43-E6FD-50DD-93BD934A1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97" name="Group 94">
                <a:extLst>
                  <a:ext uri="{FF2B5EF4-FFF2-40B4-BE49-F238E27FC236}">
                    <a16:creationId xmlns:a16="http://schemas.microsoft.com/office/drawing/2014/main" id="{1AB5774E-E2DE-9FCD-71ED-69F8314A644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99" name="AutoShape 95">
                  <a:extLst>
                    <a:ext uri="{FF2B5EF4-FFF2-40B4-BE49-F238E27FC236}">
                      <a16:creationId xmlns:a16="http://schemas.microsoft.com/office/drawing/2014/main" id="{EFEAC1F7-2948-5938-3C2D-F0EBAE35AC7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00" name="Group 96">
                  <a:extLst>
                    <a:ext uri="{FF2B5EF4-FFF2-40B4-BE49-F238E27FC236}">
                      <a16:creationId xmlns:a16="http://schemas.microsoft.com/office/drawing/2014/main" id="{4610D471-89EF-5B6C-2BB1-3447398A65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01" name="Group 97">
                    <a:extLst>
                      <a:ext uri="{FF2B5EF4-FFF2-40B4-BE49-F238E27FC236}">
                        <a16:creationId xmlns:a16="http://schemas.microsoft.com/office/drawing/2014/main" id="{17BF00BC-3A50-F04B-1340-482E6064488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11" name="Freeform 98">
                      <a:extLst>
                        <a:ext uri="{FF2B5EF4-FFF2-40B4-BE49-F238E27FC236}">
                          <a16:creationId xmlns:a16="http://schemas.microsoft.com/office/drawing/2014/main" id="{624DAE27-557B-2D46-3744-DBE77970FF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2" name="Freeform 99">
                      <a:extLst>
                        <a:ext uri="{FF2B5EF4-FFF2-40B4-BE49-F238E27FC236}">
                          <a16:creationId xmlns:a16="http://schemas.microsoft.com/office/drawing/2014/main" id="{BA5C6E37-E949-7B7C-2568-BAFD9A4CA5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3" name="Freeform 100">
                      <a:extLst>
                        <a:ext uri="{FF2B5EF4-FFF2-40B4-BE49-F238E27FC236}">
                          <a16:creationId xmlns:a16="http://schemas.microsoft.com/office/drawing/2014/main" id="{C33C5BD7-7285-F181-1167-DE65768AA1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4" name="Freeform 101">
                      <a:extLst>
                        <a:ext uri="{FF2B5EF4-FFF2-40B4-BE49-F238E27FC236}">
                          <a16:creationId xmlns:a16="http://schemas.microsoft.com/office/drawing/2014/main" id="{ECD16EC3-E43A-3C6D-812B-2742F0A971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5" name="Freeform 102">
                      <a:extLst>
                        <a:ext uri="{FF2B5EF4-FFF2-40B4-BE49-F238E27FC236}">
                          <a16:creationId xmlns:a16="http://schemas.microsoft.com/office/drawing/2014/main" id="{CC8090B8-A2BF-3585-A4C0-C356F6DF15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6" name="Freeform 103">
                      <a:extLst>
                        <a:ext uri="{FF2B5EF4-FFF2-40B4-BE49-F238E27FC236}">
                          <a16:creationId xmlns:a16="http://schemas.microsoft.com/office/drawing/2014/main" id="{390FCBA0-A4BB-1EB1-D0A3-6784DE75B0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7" name="Freeform 104">
                      <a:extLst>
                        <a:ext uri="{FF2B5EF4-FFF2-40B4-BE49-F238E27FC236}">
                          <a16:creationId xmlns:a16="http://schemas.microsoft.com/office/drawing/2014/main" id="{778DDED4-FDCD-D203-E883-F7147BF29F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8" name="Freeform 105">
                      <a:extLst>
                        <a:ext uri="{FF2B5EF4-FFF2-40B4-BE49-F238E27FC236}">
                          <a16:creationId xmlns:a16="http://schemas.microsoft.com/office/drawing/2014/main" id="{5E5F1E88-E65A-F9AB-9B38-F2821F8A9F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02" name="Group 106">
                    <a:extLst>
                      <a:ext uri="{FF2B5EF4-FFF2-40B4-BE49-F238E27FC236}">
                        <a16:creationId xmlns:a16="http://schemas.microsoft.com/office/drawing/2014/main" id="{B2E0504E-CB02-9427-2CBF-A4160B3309F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03" name="Freeform 107">
                      <a:extLst>
                        <a:ext uri="{FF2B5EF4-FFF2-40B4-BE49-F238E27FC236}">
                          <a16:creationId xmlns:a16="http://schemas.microsoft.com/office/drawing/2014/main" id="{C5451EB4-99F2-24C5-95DC-C86A0351C8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4" name="Freeform 108">
                      <a:extLst>
                        <a:ext uri="{FF2B5EF4-FFF2-40B4-BE49-F238E27FC236}">
                          <a16:creationId xmlns:a16="http://schemas.microsoft.com/office/drawing/2014/main" id="{00EBF860-640E-2994-9191-8F15ECD63D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5" name="Freeform 109">
                      <a:extLst>
                        <a:ext uri="{FF2B5EF4-FFF2-40B4-BE49-F238E27FC236}">
                          <a16:creationId xmlns:a16="http://schemas.microsoft.com/office/drawing/2014/main" id="{F66D85C3-A363-E8D6-4ABD-0FC487BCCB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6" name="Freeform 110">
                      <a:extLst>
                        <a:ext uri="{FF2B5EF4-FFF2-40B4-BE49-F238E27FC236}">
                          <a16:creationId xmlns:a16="http://schemas.microsoft.com/office/drawing/2014/main" id="{5A0E2ABE-16AE-B308-18DA-13162E9EF0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7" name="Freeform 111">
                      <a:extLst>
                        <a:ext uri="{FF2B5EF4-FFF2-40B4-BE49-F238E27FC236}">
                          <a16:creationId xmlns:a16="http://schemas.microsoft.com/office/drawing/2014/main" id="{67D5FB93-2E15-CD0C-C774-09BA53CA77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8" name="Freeform 112">
                      <a:extLst>
                        <a:ext uri="{FF2B5EF4-FFF2-40B4-BE49-F238E27FC236}">
                          <a16:creationId xmlns:a16="http://schemas.microsoft.com/office/drawing/2014/main" id="{1BD4D774-DB59-B5B7-E9F6-A97AE436D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9" name="Freeform 113">
                      <a:extLst>
                        <a:ext uri="{FF2B5EF4-FFF2-40B4-BE49-F238E27FC236}">
                          <a16:creationId xmlns:a16="http://schemas.microsoft.com/office/drawing/2014/main" id="{DAFB6E29-8734-79D4-19A3-D43AF47C89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0" name="Freeform 114">
                      <a:extLst>
                        <a:ext uri="{FF2B5EF4-FFF2-40B4-BE49-F238E27FC236}">
                          <a16:creationId xmlns:a16="http://schemas.microsoft.com/office/drawing/2014/main" id="{3D0125D8-1739-4EFE-FC0D-6C111B3D76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98" name="WordArt 115">
                <a:extLst>
                  <a:ext uri="{FF2B5EF4-FFF2-40B4-BE49-F238E27FC236}">
                    <a16:creationId xmlns:a16="http://schemas.microsoft.com/office/drawing/2014/main" id="{09542AFC-DD80-0856-9913-4F5AD6E921F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96" name="WordArt 68">
              <a:extLst>
                <a:ext uri="{FF2B5EF4-FFF2-40B4-BE49-F238E27FC236}">
                  <a16:creationId xmlns:a16="http://schemas.microsoft.com/office/drawing/2014/main" id="{B3BFD61C-DFCD-F908-1211-A3476253F3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leaf_1_1</a:t>
              </a:r>
            </a:p>
          </p:txBody>
        </p: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129D0B0B-5E48-C712-7D7E-2A66B2EDF926}"/>
              </a:ext>
            </a:extLst>
          </p:cNvPr>
          <p:cNvGrpSpPr/>
          <p:nvPr/>
        </p:nvGrpSpPr>
        <p:grpSpPr>
          <a:xfrm>
            <a:off x="3332448" y="3661565"/>
            <a:ext cx="694445" cy="397285"/>
            <a:chOff x="967835" y="2541918"/>
            <a:chExt cx="1426054" cy="463051"/>
          </a:xfrm>
        </p:grpSpPr>
        <p:grpSp>
          <p:nvGrpSpPr>
            <p:cNvPr id="420" name="Group 93">
              <a:extLst>
                <a:ext uri="{FF2B5EF4-FFF2-40B4-BE49-F238E27FC236}">
                  <a16:creationId xmlns:a16="http://schemas.microsoft.com/office/drawing/2014/main" id="{8FC47541-F4EC-C92D-74D8-6224E9BF7A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2" name="Group 94">
                <a:extLst>
                  <a:ext uri="{FF2B5EF4-FFF2-40B4-BE49-F238E27FC236}">
                    <a16:creationId xmlns:a16="http://schemas.microsoft.com/office/drawing/2014/main" id="{D6205C66-4561-A0C3-D036-4528F747ED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24" name="AutoShape 95">
                  <a:extLst>
                    <a:ext uri="{FF2B5EF4-FFF2-40B4-BE49-F238E27FC236}">
                      <a16:creationId xmlns:a16="http://schemas.microsoft.com/office/drawing/2014/main" id="{572B54D3-B257-5791-6DC6-5985962ECC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5" name="Group 96">
                  <a:extLst>
                    <a:ext uri="{FF2B5EF4-FFF2-40B4-BE49-F238E27FC236}">
                      <a16:creationId xmlns:a16="http://schemas.microsoft.com/office/drawing/2014/main" id="{F050122F-FE6F-407C-6DEE-270A479F80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26" name="Group 97">
                    <a:extLst>
                      <a:ext uri="{FF2B5EF4-FFF2-40B4-BE49-F238E27FC236}">
                        <a16:creationId xmlns:a16="http://schemas.microsoft.com/office/drawing/2014/main" id="{FD9EAE38-2DB8-39B9-67F7-D0411CE6F6B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36" name="Freeform 98">
                      <a:extLst>
                        <a:ext uri="{FF2B5EF4-FFF2-40B4-BE49-F238E27FC236}">
                          <a16:creationId xmlns:a16="http://schemas.microsoft.com/office/drawing/2014/main" id="{05975B82-EB1F-DD38-0BAE-CFE5A376D8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7" name="Freeform 99">
                      <a:extLst>
                        <a:ext uri="{FF2B5EF4-FFF2-40B4-BE49-F238E27FC236}">
                          <a16:creationId xmlns:a16="http://schemas.microsoft.com/office/drawing/2014/main" id="{9AA823B6-AE68-AC8D-E588-82265E2A45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8" name="Freeform 100">
                      <a:extLst>
                        <a:ext uri="{FF2B5EF4-FFF2-40B4-BE49-F238E27FC236}">
                          <a16:creationId xmlns:a16="http://schemas.microsoft.com/office/drawing/2014/main" id="{23234DA0-7001-BE04-13A9-48D932DCD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9" name="Freeform 101">
                      <a:extLst>
                        <a:ext uri="{FF2B5EF4-FFF2-40B4-BE49-F238E27FC236}">
                          <a16:creationId xmlns:a16="http://schemas.microsoft.com/office/drawing/2014/main" id="{B3122A35-2E7B-03E9-315C-BECA6C688C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0" name="Freeform 102">
                      <a:extLst>
                        <a:ext uri="{FF2B5EF4-FFF2-40B4-BE49-F238E27FC236}">
                          <a16:creationId xmlns:a16="http://schemas.microsoft.com/office/drawing/2014/main" id="{188C4DE8-8042-B02A-C731-B480A99E9F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1" name="Freeform 103">
                      <a:extLst>
                        <a:ext uri="{FF2B5EF4-FFF2-40B4-BE49-F238E27FC236}">
                          <a16:creationId xmlns:a16="http://schemas.microsoft.com/office/drawing/2014/main" id="{244C4148-BCDC-3639-AEC8-3A9952BF27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2" name="Freeform 104">
                      <a:extLst>
                        <a:ext uri="{FF2B5EF4-FFF2-40B4-BE49-F238E27FC236}">
                          <a16:creationId xmlns:a16="http://schemas.microsoft.com/office/drawing/2014/main" id="{EF319D76-1F74-57E1-F82D-E7DD9D348B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3" name="Freeform 105">
                      <a:extLst>
                        <a:ext uri="{FF2B5EF4-FFF2-40B4-BE49-F238E27FC236}">
                          <a16:creationId xmlns:a16="http://schemas.microsoft.com/office/drawing/2014/main" id="{438658C6-3E42-3277-004D-9F01F2B722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27" name="Group 106">
                    <a:extLst>
                      <a:ext uri="{FF2B5EF4-FFF2-40B4-BE49-F238E27FC236}">
                        <a16:creationId xmlns:a16="http://schemas.microsoft.com/office/drawing/2014/main" id="{8A25DAEB-233E-F310-F504-B59439D992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28" name="Freeform 107">
                      <a:extLst>
                        <a:ext uri="{FF2B5EF4-FFF2-40B4-BE49-F238E27FC236}">
                          <a16:creationId xmlns:a16="http://schemas.microsoft.com/office/drawing/2014/main" id="{97DC1CAC-42C3-08E1-3027-6B0D9BBDE8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9" name="Freeform 108">
                      <a:extLst>
                        <a:ext uri="{FF2B5EF4-FFF2-40B4-BE49-F238E27FC236}">
                          <a16:creationId xmlns:a16="http://schemas.microsoft.com/office/drawing/2014/main" id="{83E29587-61E5-FC61-4FC3-81027D307D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0" name="Freeform 109">
                      <a:extLst>
                        <a:ext uri="{FF2B5EF4-FFF2-40B4-BE49-F238E27FC236}">
                          <a16:creationId xmlns:a16="http://schemas.microsoft.com/office/drawing/2014/main" id="{C9F56254-D751-DF04-EC1D-5ACB277490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1" name="Freeform 110">
                      <a:extLst>
                        <a:ext uri="{FF2B5EF4-FFF2-40B4-BE49-F238E27FC236}">
                          <a16:creationId xmlns:a16="http://schemas.microsoft.com/office/drawing/2014/main" id="{CFE86918-A7CC-63F3-2CAC-6D08CBCE6E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2" name="Freeform 111">
                      <a:extLst>
                        <a:ext uri="{FF2B5EF4-FFF2-40B4-BE49-F238E27FC236}">
                          <a16:creationId xmlns:a16="http://schemas.microsoft.com/office/drawing/2014/main" id="{1D079C3C-CC07-2941-0B47-C927FFB93B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3" name="Freeform 112">
                      <a:extLst>
                        <a:ext uri="{FF2B5EF4-FFF2-40B4-BE49-F238E27FC236}">
                          <a16:creationId xmlns:a16="http://schemas.microsoft.com/office/drawing/2014/main" id="{1D796F42-9DB4-DF5B-FC5C-213A2E5C00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4" name="Freeform 113">
                      <a:extLst>
                        <a:ext uri="{FF2B5EF4-FFF2-40B4-BE49-F238E27FC236}">
                          <a16:creationId xmlns:a16="http://schemas.microsoft.com/office/drawing/2014/main" id="{BFCD07A8-3897-E5DF-AEFF-16FAA5D930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5" name="Freeform 114">
                      <a:extLst>
                        <a:ext uri="{FF2B5EF4-FFF2-40B4-BE49-F238E27FC236}">
                          <a16:creationId xmlns:a16="http://schemas.microsoft.com/office/drawing/2014/main" id="{28D8B83A-52FB-B314-409D-76966A3E8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23" name="WordArt 115">
                <a:extLst>
                  <a:ext uri="{FF2B5EF4-FFF2-40B4-BE49-F238E27FC236}">
                    <a16:creationId xmlns:a16="http://schemas.microsoft.com/office/drawing/2014/main" id="{8684DFD1-C508-540C-2260-EFE97BFFB00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1" name="WordArt 68">
              <a:extLst>
                <a:ext uri="{FF2B5EF4-FFF2-40B4-BE49-F238E27FC236}">
                  <a16:creationId xmlns:a16="http://schemas.microsoft.com/office/drawing/2014/main" id="{E3558CF8-2B93-35DC-D3BC-1BC7281C5C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leaf_1_2</a:t>
              </a: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CB03608B-18D7-3E63-A454-131A212620F8}"/>
              </a:ext>
            </a:extLst>
          </p:cNvPr>
          <p:cNvGrpSpPr/>
          <p:nvPr/>
        </p:nvGrpSpPr>
        <p:grpSpPr>
          <a:xfrm>
            <a:off x="6714988" y="2686582"/>
            <a:ext cx="694445" cy="397285"/>
            <a:chOff x="967835" y="2541918"/>
            <a:chExt cx="1426054" cy="463051"/>
          </a:xfrm>
        </p:grpSpPr>
        <p:grpSp>
          <p:nvGrpSpPr>
            <p:cNvPr id="445" name="Group 93">
              <a:extLst>
                <a:ext uri="{FF2B5EF4-FFF2-40B4-BE49-F238E27FC236}">
                  <a16:creationId xmlns:a16="http://schemas.microsoft.com/office/drawing/2014/main" id="{6A41D159-5557-384B-CEB0-D6DFA3E2D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47" name="Group 94">
                <a:extLst>
                  <a:ext uri="{FF2B5EF4-FFF2-40B4-BE49-F238E27FC236}">
                    <a16:creationId xmlns:a16="http://schemas.microsoft.com/office/drawing/2014/main" id="{B451C6B0-6501-8E66-11EC-7B30DCBE3E5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49" name="AutoShape 95">
                  <a:extLst>
                    <a:ext uri="{FF2B5EF4-FFF2-40B4-BE49-F238E27FC236}">
                      <a16:creationId xmlns:a16="http://schemas.microsoft.com/office/drawing/2014/main" id="{70BC7EE8-38D1-1D2C-6007-FA4F583FD7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50" name="Group 96">
                  <a:extLst>
                    <a:ext uri="{FF2B5EF4-FFF2-40B4-BE49-F238E27FC236}">
                      <a16:creationId xmlns:a16="http://schemas.microsoft.com/office/drawing/2014/main" id="{2E5336DA-6A50-9C99-045C-F885EDAE22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51" name="Group 97">
                    <a:extLst>
                      <a:ext uri="{FF2B5EF4-FFF2-40B4-BE49-F238E27FC236}">
                        <a16:creationId xmlns:a16="http://schemas.microsoft.com/office/drawing/2014/main" id="{4D9C6883-E1ED-F4CE-4418-09961CA3558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1" name="Freeform 98">
                      <a:extLst>
                        <a:ext uri="{FF2B5EF4-FFF2-40B4-BE49-F238E27FC236}">
                          <a16:creationId xmlns:a16="http://schemas.microsoft.com/office/drawing/2014/main" id="{5111074F-71C1-761C-ACA8-DF0DAC074F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2" name="Freeform 99">
                      <a:extLst>
                        <a:ext uri="{FF2B5EF4-FFF2-40B4-BE49-F238E27FC236}">
                          <a16:creationId xmlns:a16="http://schemas.microsoft.com/office/drawing/2014/main" id="{3946DE11-C934-7635-D54D-42B4187AD6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3" name="Freeform 100">
                      <a:extLst>
                        <a:ext uri="{FF2B5EF4-FFF2-40B4-BE49-F238E27FC236}">
                          <a16:creationId xmlns:a16="http://schemas.microsoft.com/office/drawing/2014/main" id="{4B023D31-E26C-CEF2-C4E7-5B58A565FA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4" name="Freeform 101">
                      <a:extLst>
                        <a:ext uri="{FF2B5EF4-FFF2-40B4-BE49-F238E27FC236}">
                          <a16:creationId xmlns:a16="http://schemas.microsoft.com/office/drawing/2014/main" id="{EC92DC65-7F04-0706-82C3-51495B3C31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5" name="Freeform 102">
                      <a:extLst>
                        <a:ext uri="{FF2B5EF4-FFF2-40B4-BE49-F238E27FC236}">
                          <a16:creationId xmlns:a16="http://schemas.microsoft.com/office/drawing/2014/main" id="{359E9670-2373-9C61-ECB3-70AC32F331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6" name="Freeform 103">
                      <a:extLst>
                        <a:ext uri="{FF2B5EF4-FFF2-40B4-BE49-F238E27FC236}">
                          <a16:creationId xmlns:a16="http://schemas.microsoft.com/office/drawing/2014/main" id="{160B1D64-ECEC-4A39-2594-70B8747CA4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7" name="Freeform 104">
                      <a:extLst>
                        <a:ext uri="{FF2B5EF4-FFF2-40B4-BE49-F238E27FC236}">
                          <a16:creationId xmlns:a16="http://schemas.microsoft.com/office/drawing/2014/main" id="{AA39288E-38F9-841D-75B0-BE2C41EBCB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8" name="Freeform 105">
                      <a:extLst>
                        <a:ext uri="{FF2B5EF4-FFF2-40B4-BE49-F238E27FC236}">
                          <a16:creationId xmlns:a16="http://schemas.microsoft.com/office/drawing/2014/main" id="{EF4A58F8-EFCC-2F76-8665-790B68591A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52" name="Group 106">
                    <a:extLst>
                      <a:ext uri="{FF2B5EF4-FFF2-40B4-BE49-F238E27FC236}">
                        <a16:creationId xmlns:a16="http://schemas.microsoft.com/office/drawing/2014/main" id="{3F432101-31B1-024F-9CE9-4AFB23ECCD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53" name="Freeform 107">
                      <a:extLst>
                        <a:ext uri="{FF2B5EF4-FFF2-40B4-BE49-F238E27FC236}">
                          <a16:creationId xmlns:a16="http://schemas.microsoft.com/office/drawing/2014/main" id="{2EC05E10-602F-36AB-4D7E-40D83EF164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4" name="Freeform 108">
                      <a:extLst>
                        <a:ext uri="{FF2B5EF4-FFF2-40B4-BE49-F238E27FC236}">
                          <a16:creationId xmlns:a16="http://schemas.microsoft.com/office/drawing/2014/main" id="{802A532B-1961-BFB4-5D91-0E46C5ACC4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5" name="Freeform 109">
                      <a:extLst>
                        <a:ext uri="{FF2B5EF4-FFF2-40B4-BE49-F238E27FC236}">
                          <a16:creationId xmlns:a16="http://schemas.microsoft.com/office/drawing/2014/main" id="{59E68D76-A670-8E7A-BB5E-71D5DC7EDA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6" name="Freeform 110">
                      <a:extLst>
                        <a:ext uri="{FF2B5EF4-FFF2-40B4-BE49-F238E27FC236}">
                          <a16:creationId xmlns:a16="http://schemas.microsoft.com/office/drawing/2014/main" id="{74FD5B4A-1A25-5B2C-288C-BD26BE913A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7" name="Freeform 111">
                      <a:extLst>
                        <a:ext uri="{FF2B5EF4-FFF2-40B4-BE49-F238E27FC236}">
                          <a16:creationId xmlns:a16="http://schemas.microsoft.com/office/drawing/2014/main" id="{852FB2DF-3DE4-3755-BC40-2C47662552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8" name="Freeform 112">
                      <a:extLst>
                        <a:ext uri="{FF2B5EF4-FFF2-40B4-BE49-F238E27FC236}">
                          <a16:creationId xmlns:a16="http://schemas.microsoft.com/office/drawing/2014/main" id="{8832B36F-AF46-0866-9652-4D6F93ED8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9" name="Freeform 113">
                      <a:extLst>
                        <a:ext uri="{FF2B5EF4-FFF2-40B4-BE49-F238E27FC236}">
                          <a16:creationId xmlns:a16="http://schemas.microsoft.com/office/drawing/2014/main" id="{06E6FCA0-72BF-E411-17E3-3DDCD47985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0" name="Freeform 114">
                      <a:extLst>
                        <a:ext uri="{FF2B5EF4-FFF2-40B4-BE49-F238E27FC236}">
                          <a16:creationId xmlns:a16="http://schemas.microsoft.com/office/drawing/2014/main" id="{2209AABE-B883-B078-81B4-0B8B4DAFFB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48" name="WordArt 115">
                <a:extLst>
                  <a:ext uri="{FF2B5EF4-FFF2-40B4-BE49-F238E27FC236}">
                    <a16:creationId xmlns:a16="http://schemas.microsoft.com/office/drawing/2014/main" id="{61EEBE5B-3B96-D5D6-6D30-913724D97BE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46" name="WordArt 68">
              <a:extLst>
                <a:ext uri="{FF2B5EF4-FFF2-40B4-BE49-F238E27FC236}">
                  <a16:creationId xmlns:a16="http://schemas.microsoft.com/office/drawing/2014/main" id="{0AB1E909-5A88-8951-33EC-910010FB7DF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spine_2_1</a:t>
              </a:r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6AF18FB-8AB0-6B1A-D258-4874E25EDB36}"/>
              </a:ext>
            </a:extLst>
          </p:cNvPr>
          <p:cNvGrpSpPr/>
          <p:nvPr/>
        </p:nvGrpSpPr>
        <p:grpSpPr>
          <a:xfrm>
            <a:off x="8222288" y="2686582"/>
            <a:ext cx="694445" cy="397285"/>
            <a:chOff x="967835" y="2541918"/>
            <a:chExt cx="1426054" cy="463051"/>
          </a:xfrm>
        </p:grpSpPr>
        <p:grpSp>
          <p:nvGrpSpPr>
            <p:cNvPr id="470" name="Group 93">
              <a:extLst>
                <a:ext uri="{FF2B5EF4-FFF2-40B4-BE49-F238E27FC236}">
                  <a16:creationId xmlns:a16="http://schemas.microsoft.com/office/drawing/2014/main" id="{87BB173B-7E73-B4F8-4DB8-4347EE7FC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72" name="Group 94">
                <a:extLst>
                  <a:ext uri="{FF2B5EF4-FFF2-40B4-BE49-F238E27FC236}">
                    <a16:creationId xmlns:a16="http://schemas.microsoft.com/office/drawing/2014/main" id="{CFE7BA2A-5701-4A10-574C-B27C45F97E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74" name="AutoShape 95">
                  <a:extLst>
                    <a:ext uri="{FF2B5EF4-FFF2-40B4-BE49-F238E27FC236}">
                      <a16:creationId xmlns:a16="http://schemas.microsoft.com/office/drawing/2014/main" id="{7D421ABC-BBCA-FC5D-9F90-81E29AFC1C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75" name="Group 96">
                  <a:extLst>
                    <a:ext uri="{FF2B5EF4-FFF2-40B4-BE49-F238E27FC236}">
                      <a16:creationId xmlns:a16="http://schemas.microsoft.com/office/drawing/2014/main" id="{802896B3-0C15-1D11-B7D4-D9F6FA7CCA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76" name="Group 97">
                    <a:extLst>
                      <a:ext uri="{FF2B5EF4-FFF2-40B4-BE49-F238E27FC236}">
                        <a16:creationId xmlns:a16="http://schemas.microsoft.com/office/drawing/2014/main" id="{5D19CF97-1A4F-2AB8-A4D7-C100AC48422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86" name="Freeform 98">
                      <a:extLst>
                        <a:ext uri="{FF2B5EF4-FFF2-40B4-BE49-F238E27FC236}">
                          <a16:creationId xmlns:a16="http://schemas.microsoft.com/office/drawing/2014/main" id="{62C5B638-B3D0-46F5-EDCF-BB7BF80157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7" name="Freeform 99">
                      <a:extLst>
                        <a:ext uri="{FF2B5EF4-FFF2-40B4-BE49-F238E27FC236}">
                          <a16:creationId xmlns:a16="http://schemas.microsoft.com/office/drawing/2014/main" id="{2F25583A-4CC9-8AA0-36F7-6535C7B55B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8" name="Freeform 100">
                      <a:extLst>
                        <a:ext uri="{FF2B5EF4-FFF2-40B4-BE49-F238E27FC236}">
                          <a16:creationId xmlns:a16="http://schemas.microsoft.com/office/drawing/2014/main" id="{4D5991CF-012B-BB7C-C334-2A5480D390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9" name="Freeform 101">
                      <a:extLst>
                        <a:ext uri="{FF2B5EF4-FFF2-40B4-BE49-F238E27FC236}">
                          <a16:creationId xmlns:a16="http://schemas.microsoft.com/office/drawing/2014/main" id="{7077FF1C-AAAB-133D-C7FD-E2A1CE1EA4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0" name="Freeform 102">
                      <a:extLst>
                        <a:ext uri="{FF2B5EF4-FFF2-40B4-BE49-F238E27FC236}">
                          <a16:creationId xmlns:a16="http://schemas.microsoft.com/office/drawing/2014/main" id="{B5DA765E-A3C4-18AB-65B2-FA46DF093D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1" name="Freeform 103">
                      <a:extLst>
                        <a:ext uri="{FF2B5EF4-FFF2-40B4-BE49-F238E27FC236}">
                          <a16:creationId xmlns:a16="http://schemas.microsoft.com/office/drawing/2014/main" id="{4FA9AC43-E831-FA78-4EE1-99831FC2B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2" name="Freeform 104">
                      <a:extLst>
                        <a:ext uri="{FF2B5EF4-FFF2-40B4-BE49-F238E27FC236}">
                          <a16:creationId xmlns:a16="http://schemas.microsoft.com/office/drawing/2014/main" id="{DB99BC0E-538C-9E4C-E456-6BEC1E38FA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3" name="Freeform 105">
                      <a:extLst>
                        <a:ext uri="{FF2B5EF4-FFF2-40B4-BE49-F238E27FC236}">
                          <a16:creationId xmlns:a16="http://schemas.microsoft.com/office/drawing/2014/main" id="{A9648F55-1F0F-5CA8-9AE0-234CE9F1F1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77" name="Group 106">
                    <a:extLst>
                      <a:ext uri="{FF2B5EF4-FFF2-40B4-BE49-F238E27FC236}">
                        <a16:creationId xmlns:a16="http://schemas.microsoft.com/office/drawing/2014/main" id="{60F86664-A52E-D43A-A263-615551801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8" name="Freeform 107">
                      <a:extLst>
                        <a:ext uri="{FF2B5EF4-FFF2-40B4-BE49-F238E27FC236}">
                          <a16:creationId xmlns:a16="http://schemas.microsoft.com/office/drawing/2014/main" id="{68ECB39F-0518-F37A-C64E-65EEA15775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9" name="Freeform 108">
                      <a:extLst>
                        <a:ext uri="{FF2B5EF4-FFF2-40B4-BE49-F238E27FC236}">
                          <a16:creationId xmlns:a16="http://schemas.microsoft.com/office/drawing/2014/main" id="{B2541489-39F5-DE1D-6B3D-160AF89680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109">
                      <a:extLst>
                        <a:ext uri="{FF2B5EF4-FFF2-40B4-BE49-F238E27FC236}">
                          <a16:creationId xmlns:a16="http://schemas.microsoft.com/office/drawing/2014/main" id="{37A80B72-8547-99E6-5B2C-41926D42CE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10">
                      <a:extLst>
                        <a:ext uri="{FF2B5EF4-FFF2-40B4-BE49-F238E27FC236}">
                          <a16:creationId xmlns:a16="http://schemas.microsoft.com/office/drawing/2014/main" id="{8C3C066E-95AA-D314-E88D-40315342CC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11">
                      <a:extLst>
                        <a:ext uri="{FF2B5EF4-FFF2-40B4-BE49-F238E27FC236}">
                          <a16:creationId xmlns:a16="http://schemas.microsoft.com/office/drawing/2014/main" id="{0930B9EA-6435-AC57-FB13-A7F5335AA9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12">
                      <a:extLst>
                        <a:ext uri="{FF2B5EF4-FFF2-40B4-BE49-F238E27FC236}">
                          <a16:creationId xmlns:a16="http://schemas.microsoft.com/office/drawing/2014/main" id="{0B4325BE-8C96-E146-1641-03D7A0BEF5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13">
                      <a:extLst>
                        <a:ext uri="{FF2B5EF4-FFF2-40B4-BE49-F238E27FC236}">
                          <a16:creationId xmlns:a16="http://schemas.microsoft.com/office/drawing/2014/main" id="{74A35393-F616-0210-28FB-39766ADFA4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5" name="Freeform 114">
                      <a:extLst>
                        <a:ext uri="{FF2B5EF4-FFF2-40B4-BE49-F238E27FC236}">
                          <a16:creationId xmlns:a16="http://schemas.microsoft.com/office/drawing/2014/main" id="{626F3E74-FDD8-718C-EC39-F8FC16142E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73" name="WordArt 115">
                <a:extLst>
                  <a:ext uri="{FF2B5EF4-FFF2-40B4-BE49-F238E27FC236}">
                    <a16:creationId xmlns:a16="http://schemas.microsoft.com/office/drawing/2014/main" id="{2EA6C5B0-41A4-C694-5FAD-22120D3C652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71" name="WordArt 68">
              <a:extLst>
                <a:ext uri="{FF2B5EF4-FFF2-40B4-BE49-F238E27FC236}">
                  <a16:creationId xmlns:a16="http://schemas.microsoft.com/office/drawing/2014/main" id="{5782BA35-58A0-3B8D-070A-5358BB0189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spine_2_2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23A2C1BA-17A6-4616-DEE1-26968DC076B6}"/>
              </a:ext>
            </a:extLst>
          </p:cNvPr>
          <p:cNvGrpSpPr/>
          <p:nvPr/>
        </p:nvGrpSpPr>
        <p:grpSpPr>
          <a:xfrm>
            <a:off x="4049869" y="1277293"/>
            <a:ext cx="694445" cy="397285"/>
            <a:chOff x="967835" y="2541918"/>
            <a:chExt cx="1426054" cy="463051"/>
          </a:xfrm>
        </p:grpSpPr>
        <p:grpSp>
          <p:nvGrpSpPr>
            <p:cNvPr id="545" name="Group 93">
              <a:extLst>
                <a:ext uri="{FF2B5EF4-FFF2-40B4-BE49-F238E27FC236}">
                  <a16:creationId xmlns:a16="http://schemas.microsoft.com/office/drawing/2014/main" id="{D3849EC8-A185-9FEA-393D-8CB8F4C3C6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7" name="Group 94">
                <a:extLst>
                  <a:ext uri="{FF2B5EF4-FFF2-40B4-BE49-F238E27FC236}">
                    <a16:creationId xmlns:a16="http://schemas.microsoft.com/office/drawing/2014/main" id="{94CE7C0E-8174-F00B-94EC-2F92D86999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9" name="AutoShape 95">
                  <a:extLst>
                    <a:ext uri="{FF2B5EF4-FFF2-40B4-BE49-F238E27FC236}">
                      <a16:creationId xmlns:a16="http://schemas.microsoft.com/office/drawing/2014/main" id="{7B77E307-ADE7-E2C4-981F-7D0FBA0BEC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50" name="Group 96">
                  <a:extLst>
                    <a:ext uri="{FF2B5EF4-FFF2-40B4-BE49-F238E27FC236}">
                      <a16:creationId xmlns:a16="http://schemas.microsoft.com/office/drawing/2014/main" id="{5B744161-5F18-B2F9-5D8C-2C4F2714D0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1" name="Group 97">
                    <a:extLst>
                      <a:ext uri="{FF2B5EF4-FFF2-40B4-BE49-F238E27FC236}">
                        <a16:creationId xmlns:a16="http://schemas.microsoft.com/office/drawing/2014/main" id="{C0858BFC-50C4-CB44-4767-DB1BC255523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1" name="Freeform 98">
                      <a:extLst>
                        <a:ext uri="{FF2B5EF4-FFF2-40B4-BE49-F238E27FC236}">
                          <a16:creationId xmlns:a16="http://schemas.microsoft.com/office/drawing/2014/main" id="{A8417D07-1573-9B66-3235-9F14A63353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99">
                      <a:extLst>
                        <a:ext uri="{FF2B5EF4-FFF2-40B4-BE49-F238E27FC236}">
                          <a16:creationId xmlns:a16="http://schemas.microsoft.com/office/drawing/2014/main" id="{8DBC6318-0472-1BC9-1C97-3E39DDFCE7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0">
                      <a:extLst>
                        <a:ext uri="{FF2B5EF4-FFF2-40B4-BE49-F238E27FC236}">
                          <a16:creationId xmlns:a16="http://schemas.microsoft.com/office/drawing/2014/main" id="{4EC812D2-41D7-23C0-A0D5-4F6EBFC4C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1">
                      <a:extLst>
                        <a:ext uri="{FF2B5EF4-FFF2-40B4-BE49-F238E27FC236}">
                          <a16:creationId xmlns:a16="http://schemas.microsoft.com/office/drawing/2014/main" id="{58473113-9895-26DD-1ABA-58C4C5E01C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2">
                      <a:extLst>
                        <a:ext uri="{FF2B5EF4-FFF2-40B4-BE49-F238E27FC236}">
                          <a16:creationId xmlns:a16="http://schemas.microsoft.com/office/drawing/2014/main" id="{8D4F31D6-FB97-0916-C531-80B1CB3D9D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3">
                      <a:extLst>
                        <a:ext uri="{FF2B5EF4-FFF2-40B4-BE49-F238E27FC236}">
                          <a16:creationId xmlns:a16="http://schemas.microsoft.com/office/drawing/2014/main" id="{532183AF-EDC7-2626-3366-01AEA42FD6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4">
                      <a:extLst>
                        <a:ext uri="{FF2B5EF4-FFF2-40B4-BE49-F238E27FC236}">
                          <a16:creationId xmlns:a16="http://schemas.microsoft.com/office/drawing/2014/main" id="{A7E1C586-01AF-31CA-4358-928A687DF8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8" name="Freeform 105">
                      <a:extLst>
                        <a:ext uri="{FF2B5EF4-FFF2-40B4-BE49-F238E27FC236}">
                          <a16:creationId xmlns:a16="http://schemas.microsoft.com/office/drawing/2014/main" id="{608CDB3E-E1CC-822A-F8A9-FAEA3D6B0C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2" name="Group 106">
                    <a:extLst>
                      <a:ext uri="{FF2B5EF4-FFF2-40B4-BE49-F238E27FC236}">
                        <a16:creationId xmlns:a16="http://schemas.microsoft.com/office/drawing/2014/main" id="{04778BE6-6EB1-04B6-ADD5-A988B675417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3" name="Freeform 107">
                      <a:extLst>
                        <a:ext uri="{FF2B5EF4-FFF2-40B4-BE49-F238E27FC236}">
                          <a16:creationId xmlns:a16="http://schemas.microsoft.com/office/drawing/2014/main" id="{D6E6B2A4-BF22-C533-CA56-040CE35527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8">
                      <a:extLst>
                        <a:ext uri="{FF2B5EF4-FFF2-40B4-BE49-F238E27FC236}">
                          <a16:creationId xmlns:a16="http://schemas.microsoft.com/office/drawing/2014/main" id="{46E567B4-5248-7572-0A86-702B714BE4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09">
                      <a:extLst>
                        <a:ext uri="{FF2B5EF4-FFF2-40B4-BE49-F238E27FC236}">
                          <a16:creationId xmlns:a16="http://schemas.microsoft.com/office/drawing/2014/main" id="{CC035519-376F-F619-7151-903FC788FE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0">
                      <a:extLst>
                        <a:ext uri="{FF2B5EF4-FFF2-40B4-BE49-F238E27FC236}">
                          <a16:creationId xmlns:a16="http://schemas.microsoft.com/office/drawing/2014/main" id="{FC3610D9-1A1C-1987-82CD-B4A99C3CB9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1">
                      <a:extLst>
                        <a:ext uri="{FF2B5EF4-FFF2-40B4-BE49-F238E27FC236}">
                          <a16:creationId xmlns:a16="http://schemas.microsoft.com/office/drawing/2014/main" id="{3165AF45-4D6A-944A-2915-085A29F166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2">
                      <a:extLst>
                        <a:ext uri="{FF2B5EF4-FFF2-40B4-BE49-F238E27FC236}">
                          <a16:creationId xmlns:a16="http://schemas.microsoft.com/office/drawing/2014/main" id="{72A63616-F2B5-CF37-3431-DE4EA0EC97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3">
                      <a:extLst>
                        <a:ext uri="{FF2B5EF4-FFF2-40B4-BE49-F238E27FC236}">
                          <a16:creationId xmlns:a16="http://schemas.microsoft.com/office/drawing/2014/main" id="{1B563511-FB63-30F1-FF82-7B2C449B7F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0" name="Freeform 114">
                      <a:extLst>
                        <a:ext uri="{FF2B5EF4-FFF2-40B4-BE49-F238E27FC236}">
                          <a16:creationId xmlns:a16="http://schemas.microsoft.com/office/drawing/2014/main" id="{3A295C60-B939-E904-6C89-BEC8CBDE78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8" name="WordArt 115">
                <a:extLst>
                  <a:ext uri="{FF2B5EF4-FFF2-40B4-BE49-F238E27FC236}">
                    <a16:creationId xmlns:a16="http://schemas.microsoft.com/office/drawing/2014/main" id="{DC09D674-EFF1-7D98-5AC0-EA96401E21B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6" name="WordArt 68">
              <a:extLst>
                <a:ext uri="{FF2B5EF4-FFF2-40B4-BE49-F238E27FC236}">
                  <a16:creationId xmlns:a16="http://schemas.microsoft.com/office/drawing/2014/main" id="{B1A92B09-933A-3C1C-DE8D-85708DCC2D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core_1_1</a:t>
              </a:r>
            </a:p>
          </p:txBody>
        </p: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A23DFC4A-F68E-4ECC-8F65-8F17D55EC5F8}"/>
              </a:ext>
            </a:extLst>
          </p:cNvPr>
          <p:cNvGrpSpPr/>
          <p:nvPr/>
        </p:nvGrpSpPr>
        <p:grpSpPr>
          <a:xfrm>
            <a:off x="5524341" y="1293817"/>
            <a:ext cx="694445" cy="397285"/>
            <a:chOff x="967835" y="2541918"/>
            <a:chExt cx="1426054" cy="463051"/>
          </a:xfrm>
        </p:grpSpPr>
        <p:grpSp>
          <p:nvGrpSpPr>
            <p:cNvPr id="570" name="Group 93">
              <a:extLst>
                <a:ext uri="{FF2B5EF4-FFF2-40B4-BE49-F238E27FC236}">
                  <a16:creationId xmlns:a16="http://schemas.microsoft.com/office/drawing/2014/main" id="{347EB49B-D0FB-03A9-EFCE-5A02BE2903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2" name="Group 94">
                <a:extLst>
                  <a:ext uri="{FF2B5EF4-FFF2-40B4-BE49-F238E27FC236}">
                    <a16:creationId xmlns:a16="http://schemas.microsoft.com/office/drawing/2014/main" id="{E3475651-73EA-67A2-1985-27F23DC4F63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4" name="AutoShape 95">
                  <a:extLst>
                    <a:ext uri="{FF2B5EF4-FFF2-40B4-BE49-F238E27FC236}">
                      <a16:creationId xmlns:a16="http://schemas.microsoft.com/office/drawing/2014/main" id="{AFE024FF-7EBE-BC2C-7083-570B7607181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5" name="Group 96">
                  <a:extLst>
                    <a:ext uri="{FF2B5EF4-FFF2-40B4-BE49-F238E27FC236}">
                      <a16:creationId xmlns:a16="http://schemas.microsoft.com/office/drawing/2014/main" id="{7DD43C25-9383-53E9-390F-AF005D41D79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6" name="Group 97">
                    <a:extLst>
                      <a:ext uri="{FF2B5EF4-FFF2-40B4-BE49-F238E27FC236}">
                        <a16:creationId xmlns:a16="http://schemas.microsoft.com/office/drawing/2014/main" id="{D58E0B76-9B40-AE9A-B1FF-85EE41E31B4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6" name="Freeform 98">
                      <a:extLst>
                        <a:ext uri="{FF2B5EF4-FFF2-40B4-BE49-F238E27FC236}">
                          <a16:creationId xmlns:a16="http://schemas.microsoft.com/office/drawing/2014/main" id="{B877AE12-B919-2197-78C6-76D4492EDD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99">
                      <a:extLst>
                        <a:ext uri="{FF2B5EF4-FFF2-40B4-BE49-F238E27FC236}">
                          <a16:creationId xmlns:a16="http://schemas.microsoft.com/office/drawing/2014/main" id="{FAE25E85-8C45-DBC5-86C3-8CFD191B43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0">
                      <a:extLst>
                        <a:ext uri="{FF2B5EF4-FFF2-40B4-BE49-F238E27FC236}">
                          <a16:creationId xmlns:a16="http://schemas.microsoft.com/office/drawing/2014/main" id="{759CC3B8-C3B1-0DEC-8890-E15773387E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1">
                      <a:extLst>
                        <a:ext uri="{FF2B5EF4-FFF2-40B4-BE49-F238E27FC236}">
                          <a16:creationId xmlns:a16="http://schemas.microsoft.com/office/drawing/2014/main" id="{B529AB2A-EC4A-C4D8-A6B7-818C582390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2">
                      <a:extLst>
                        <a:ext uri="{FF2B5EF4-FFF2-40B4-BE49-F238E27FC236}">
                          <a16:creationId xmlns:a16="http://schemas.microsoft.com/office/drawing/2014/main" id="{3DFB6D36-8C25-8611-481A-7372E839AC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3">
                      <a:extLst>
                        <a:ext uri="{FF2B5EF4-FFF2-40B4-BE49-F238E27FC236}">
                          <a16:creationId xmlns:a16="http://schemas.microsoft.com/office/drawing/2014/main" id="{15D276C6-D499-FB6B-A910-CFE79E5A37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4">
                      <a:extLst>
                        <a:ext uri="{FF2B5EF4-FFF2-40B4-BE49-F238E27FC236}">
                          <a16:creationId xmlns:a16="http://schemas.microsoft.com/office/drawing/2014/main" id="{B6897CC8-5F17-A736-AFDE-C5A6172F80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3" name="Freeform 105">
                      <a:extLst>
                        <a:ext uri="{FF2B5EF4-FFF2-40B4-BE49-F238E27FC236}">
                          <a16:creationId xmlns:a16="http://schemas.microsoft.com/office/drawing/2014/main" id="{E4C200F9-CE9A-BCEC-6879-2ACE4773D6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7" name="Group 106">
                    <a:extLst>
                      <a:ext uri="{FF2B5EF4-FFF2-40B4-BE49-F238E27FC236}">
                        <a16:creationId xmlns:a16="http://schemas.microsoft.com/office/drawing/2014/main" id="{063BA62E-8870-D50B-872C-44F2E11A052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8" name="Freeform 107">
                      <a:extLst>
                        <a:ext uri="{FF2B5EF4-FFF2-40B4-BE49-F238E27FC236}">
                          <a16:creationId xmlns:a16="http://schemas.microsoft.com/office/drawing/2014/main" id="{42F5A14F-5436-A8EF-2CB9-F919912BB7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8">
                      <a:extLst>
                        <a:ext uri="{FF2B5EF4-FFF2-40B4-BE49-F238E27FC236}">
                          <a16:creationId xmlns:a16="http://schemas.microsoft.com/office/drawing/2014/main" id="{909A80AB-7C86-FEC4-22FF-7845C6F1E5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09">
                      <a:extLst>
                        <a:ext uri="{FF2B5EF4-FFF2-40B4-BE49-F238E27FC236}">
                          <a16:creationId xmlns:a16="http://schemas.microsoft.com/office/drawing/2014/main" id="{942B23E4-C139-4333-3ADC-18A99E503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0">
                      <a:extLst>
                        <a:ext uri="{FF2B5EF4-FFF2-40B4-BE49-F238E27FC236}">
                          <a16:creationId xmlns:a16="http://schemas.microsoft.com/office/drawing/2014/main" id="{A70222D5-FC88-A909-8B0E-50ECB0C83E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1">
                      <a:extLst>
                        <a:ext uri="{FF2B5EF4-FFF2-40B4-BE49-F238E27FC236}">
                          <a16:creationId xmlns:a16="http://schemas.microsoft.com/office/drawing/2014/main" id="{68ABD9CD-E943-8584-F29A-897540CD08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2">
                      <a:extLst>
                        <a:ext uri="{FF2B5EF4-FFF2-40B4-BE49-F238E27FC236}">
                          <a16:creationId xmlns:a16="http://schemas.microsoft.com/office/drawing/2014/main" id="{F5659858-3B73-33A7-87CD-C8F457C4CD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3">
                      <a:extLst>
                        <a:ext uri="{FF2B5EF4-FFF2-40B4-BE49-F238E27FC236}">
                          <a16:creationId xmlns:a16="http://schemas.microsoft.com/office/drawing/2014/main" id="{E6910FFD-E13F-F92B-B4DA-E29BB2DD05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5" name="Freeform 114">
                      <a:extLst>
                        <a:ext uri="{FF2B5EF4-FFF2-40B4-BE49-F238E27FC236}">
                          <a16:creationId xmlns:a16="http://schemas.microsoft.com/office/drawing/2014/main" id="{8920CCCC-7DCB-B271-50E6-C4A4BD5128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3" name="WordArt 115">
                <a:extLst>
                  <a:ext uri="{FF2B5EF4-FFF2-40B4-BE49-F238E27FC236}">
                    <a16:creationId xmlns:a16="http://schemas.microsoft.com/office/drawing/2014/main" id="{CAD024E5-06A1-792B-1006-87B4ACF9DBF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1" name="WordArt 68">
              <a:extLst>
                <a:ext uri="{FF2B5EF4-FFF2-40B4-BE49-F238E27FC236}">
                  <a16:creationId xmlns:a16="http://schemas.microsoft.com/office/drawing/2014/main" id="{A3D88806-69A4-6DFD-018E-620BEF6A2D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core_1_2</a:t>
              </a:r>
            </a:p>
          </p:txBody>
        </p:sp>
      </p:grpSp>
      <p:sp>
        <p:nvSpPr>
          <p:cNvPr id="18" name="Line 71">
            <a:extLst>
              <a:ext uri="{FF2B5EF4-FFF2-40B4-BE49-F238E27FC236}">
                <a16:creationId xmlns:a16="http://schemas.microsoft.com/office/drawing/2014/main" id="{296A42FB-6F19-9932-BD16-57281181629D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355876" y="4425446"/>
            <a:ext cx="728329" cy="374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20" name="Line 72">
            <a:extLst>
              <a:ext uri="{FF2B5EF4-FFF2-40B4-BE49-F238E27FC236}">
                <a16:creationId xmlns:a16="http://schemas.microsoft.com/office/drawing/2014/main" id="{19DEC853-AC98-68B7-22AC-6FED1660E192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127699" y="4117083"/>
            <a:ext cx="641269" cy="54714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21" name="Line 71">
            <a:extLst>
              <a:ext uri="{FF2B5EF4-FFF2-40B4-BE49-F238E27FC236}">
                <a16:creationId xmlns:a16="http://schemas.microsoft.com/office/drawing/2014/main" id="{1B0E2059-F811-5947-51A3-57A8E34E1A0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148716" y="3953586"/>
            <a:ext cx="568882" cy="76498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81" name="Line 72">
            <a:extLst>
              <a:ext uri="{FF2B5EF4-FFF2-40B4-BE49-F238E27FC236}">
                <a16:creationId xmlns:a16="http://schemas.microsoft.com/office/drawing/2014/main" id="{A3F7B1D5-6C72-CC7F-B892-811E655560AE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7924854" y="3984677"/>
            <a:ext cx="594137" cy="72710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29F4097-9F72-592C-D8AE-381A02222A19}"/>
              </a:ext>
            </a:extLst>
          </p:cNvPr>
          <p:cNvGrpSpPr/>
          <p:nvPr/>
        </p:nvGrpSpPr>
        <p:grpSpPr>
          <a:xfrm>
            <a:off x="6719311" y="3654523"/>
            <a:ext cx="694445" cy="397285"/>
            <a:chOff x="967835" y="2541918"/>
            <a:chExt cx="1426054" cy="463051"/>
          </a:xfrm>
        </p:grpSpPr>
        <p:grpSp>
          <p:nvGrpSpPr>
            <p:cNvPr id="495" name="Group 93">
              <a:extLst>
                <a:ext uri="{FF2B5EF4-FFF2-40B4-BE49-F238E27FC236}">
                  <a16:creationId xmlns:a16="http://schemas.microsoft.com/office/drawing/2014/main" id="{8FE21773-422A-BDB7-738A-EDA5C7DD6E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7" name="Group 94">
                <a:extLst>
                  <a:ext uri="{FF2B5EF4-FFF2-40B4-BE49-F238E27FC236}">
                    <a16:creationId xmlns:a16="http://schemas.microsoft.com/office/drawing/2014/main" id="{8C67A9F4-3559-E871-AF0D-CE0989F8577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9" name="AutoShape 95">
                  <a:extLst>
                    <a:ext uri="{FF2B5EF4-FFF2-40B4-BE49-F238E27FC236}">
                      <a16:creationId xmlns:a16="http://schemas.microsoft.com/office/drawing/2014/main" id="{471D7256-D573-5749-5AF7-CCBC9DE1CA2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00" name="Group 96">
                  <a:extLst>
                    <a:ext uri="{FF2B5EF4-FFF2-40B4-BE49-F238E27FC236}">
                      <a16:creationId xmlns:a16="http://schemas.microsoft.com/office/drawing/2014/main" id="{88AFDC92-6DD2-78EC-C50A-9CBD09ED445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01" name="Group 97">
                    <a:extLst>
                      <a:ext uri="{FF2B5EF4-FFF2-40B4-BE49-F238E27FC236}">
                        <a16:creationId xmlns:a16="http://schemas.microsoft.com/office/drawing/2014/main" id="{D666A566-8BE2-9122-EBFC-E35E838118C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11" name="Freeform 98">
                      <a:extLst>
                        <a:ext uri="{FF2B5EF4-FFF2-40B4-BE49-F238E27FC236}">
                          <a16:creationId xmlns:a16="http://schemas.microsoft.com/office/drawing/2014/main" id="{577925E5-6BA2-9EF2-09F6-2B9716139B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2" name="Freeform 99">
                      <a:extLst>
                        <a:ext uri="{FF2B5EF4-FFF2-40B4-BE49-F238E27FC236}">
                          <a16:creationId xmlns:a16="http://schemas.microsoft.com/office/drawing/2014/main" id="{A3480DEF-1263-F322-B303-FDA6EF1A7E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3" name="Freeform 100">
                      <a:extLst>
                        <a:ext uri="{FF2B5EF4-FFF2-40B4-BE49-F238E27FC236}">
                          <a16:creationId xmlns:a16="http://schemas.microsoft.com/office/drawing/2014/main" id="{5C7A817C-AC5F-0C10-127D-D2B39A9204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4" name="Freeform 101">
                      <a:extLst>
                        <a:ext uri="{FF2B5EF4-FFF2-40B4-BE49-F238E27FC236}">
                          <a16:creationId xmlns:a16="http://schemas.microsoft.com/office/drawing/2014/main" id="{19284D92-CCA5-4410-411C-C884A40745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5" name="Freeform 102">
                      <a:extLst>
                        <a:ext uri="{FF2B5EF4-FFF2-40B4-BE49-F238E27FC236}">
                          <a16:creationId xmlns:a16="http://schemas.microsoft.com/office/drawing/2014/main" id="{75C088AD-40CA-F183-ACF4-EA09CDB923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6" name="Freeform 103">
                      <a:extLst>
                        <a:ext uri="{FF2B5EF4-FFF2-40B4-BE49-F238E27FC236}">
                          <a16:creationId xmlns:a16="http://schemas.microsoft.com/office/drawing/2014/main" id="{018FAA59-B709-CAD3-2E65-1765196F88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7" name="Freeform 104">
                      <a:extLst>
                        <a:ext uri="{FF2B5EF4-FFF2-40B4-BE49-F238E27FC236}">
                          <a16:creationId xmlns:a16="http://schemas.microsoft.com/office/drawing/2014/main" id="{BC7F45A0-15FD-381F-0453-59853D15B8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8" name="Freeform 105">
                      <a:extLst>
                        <a:ext uri="{FF2B5EF4-FFF2-40B4-BE49-F238E27FC236}">
                          <a16:creationId xmlns:a16="http://schemas.microsoft.com/office/drawing/2014/main" id="{00F0AFBE-0A21-515D-F066-1655E4EF2B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02" name="Group 106">
                    <a:extLst>
                      <a:ext uri="{FF2B5EF4-FFF2-40B4-BE49-F238E27FC236}">
                        <a16:creationId xmlns:a16="http://schemas.microsoft.com/office/drawing/2014/main" id="{CE66C8EB-8667-61CC-F751-51C9E738829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03" name="Freeform 107">
                      <a:extLst>
                        <a:ext uri="{FF2B5EF4-FFF2-40B4-BE49-F238E27FC236}">
                          <a16:creationId xmlns:a16="http://schemas.microsoft.com/office/drawing/2014/main" id="{4A5CEC05-A896-FBAA-B59D-26A9C051A5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4" name="Freeform 108">
                      <a:extLst>
                        <a:ext uri="{FF2B5EF4-FFF2-40B4-BE49-F238E27FC236}">
                          <a16:creationId xmlns:a16="http://schemas.microsoft.com/office/drawing/2014/main" id="{C5069C86-CBE5-4402-7EDB-B335BC6805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5" name="Freeform 109">
                      <a:extLst>
                        <a:ext uri="{FF2B5EF4-FFF2-40B4-BE49-F238E27FC236}">
                          <a16:creationId xmlns:a16="http://schemas.microsoft.com/office/drawing/2014/main" id="{ACB774E0-1658-C378-B561-5FD245234A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6" name="Freeform 110">
                      <a:extLst>
                        <a:ext uri="{FF2B5EF4-FFF2-40B4-BE49-F238E27FC236}">
                          <a16:creationId xmlns:a16="http://schemas.microsoft.com/office/drawing/2014/main" id="{AFC197FC-B1FB-4257-2E40-EAA3EB0F3E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7" name="Freeform 111">
                      <a:extLst>
                        <a:ext uri="{FF2B5EF4-FFF2-40B4-BE49-F238E27FC236}">
                          <a16:creationId xmlns:a16="http://schemas.microsoft.com/office/drawing/2014/main" id="{CA3F0EE8-2B9A-ACB6-71DA-BCB27B5E2D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8" name="Freeform 112">
                      <a:extLst>
                        <a:ext uri="{FF2B5EF4-FFF2-40B4-BE49-F238E27FC236}">
                          <a16:creationId xmlns:a16="http://schemas.microsoft.com/office/drawing/2014/main" id="{80C906DD-4F1F-E64A-95F5-167822BD2D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9" name="Freeform 113">
                      <a:extLst>
                        <a:ext uri="{FF2B5EF4-FFF2-40B4-BE49-F238E27FC236}">
                          <a16:creationId xmlns:a16="http://schemas.microsoft.com/office/drawing/2014/main" id="{1C4DFDCA-17CB-4F84-3E95-E827A1359E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0" name="Freeform 114">
                      <a:extLst>
                        <a:ext uri="{FF2B5EF4-FFF2-40B4-BE49-F238E27FC236}">
                          <a16:creationId xmlns:a16="http://schemas.microsoft.com/office/drawing/2014/main" id="{A77880DD-F115-C470-27EE-B71FF57D87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98" name="WordArt 115">
                <a:extLst>
                  <a:ext uri="{FF2B5EF4-FFF2-40B4-BE49-F238E27FC236}">
                    <a16:creationId xmlns:a16="http://schemas.microsoft.com/office/drawing/2014/main" id="{57B7F1EC-4469-3900-26B2-82B32EA65F5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96" name="WordArt 68">
              <a:extLst>
                <a:ext uri="{FF2B5EF4-FFF2-40B4-BE49-F238E27FC236}">
                  <a16:creationId xmlns:a16="http://schemas.microsoft.com/office/drawing/2014/main" id="{3BB177C6-8C51-8771-33C2-54E28B6552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leaf_2_1</a:t>
              </a:r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56E5D996-9C3B-D29E-BFBC-934230EEC893}"/>
              </a:ext>
            </a:extLst>
          </p:cNvPr>
          <p:cNvGrpSpPr/>
          <p:nvPr/>
        </p:nvGrpSpPr>
        <p:grpSpPr>
          <a:xfrm>
            <a:off x="8230270" y="3647000"/>
            <a:ext cx="694445" cy="397285"/>
            <a:chOff x="967835" y="2541918"/>
            <a:chExt cx="1426054" cy="463051"/>
          </a:xfrm>
        </p:grpSpPr>
        <p:grpSp>
          <p:nvGrpSpPr>
            <p:cNvPr id="520" name="Group 93">
              <a:extLst>
                <a:ext uri="{FF2B5EF4-FFF2-40B4-BE49-F238E27FC236}">
                  <a16:creationId xmlns:a16="http://schemas.microsoft.com/office/drawing/2014/main" id="{E7C47674-82B7-6D3D-F73A-7006BD2D4D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2" name="Group 94">
                <a:extLst>
                  <a:ext uri="{FF2B5EF4-FFF2-40B4-BE49-F238E27FC236}">
                    <a16:creationId xmlns:a16="http://schemas.microsoft.com/office/drawing/2014/main" id="{65B90A01-2510-45E3-9253-67F00664225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4" name="AutoShape 95">
                  <a:extLst>
                    <a:ext uri="{FF2B5EF4-FFF2-40B4-BE49-F238E27FC236}">
                      <a16:creationId xmlns:a16="http://schemas.microsoft.com/office/drawing/2014/main" id="{47CDC250-CB8B-F32E-53E0-DBF1EC38A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5" name="Group 96">
                  <a:extLst>
                    <a:ext uri="{FF2B5EF4-FFF2-40B4-BE49-F238E27FC236}">
                      <a16:creationId xmlns:a16="http://schemas.microsoft.com/office/drawing/2014/main" id="{ACC869A5-9A8A-92BE-C477-067321A0D3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6" name="Group 97">
                    <a:extLst>
                      <a:ext uri="{FF2B5EF4-FFF2-40B4-BE49-F238E27FC236}">
                        <a16:creationId xmlns:a16="http://schemas.microsoft.com/office/drawing/2014/main" id="{531E7745-3FF9-8D80-8928-5CDE0266EF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6" name="Freeform 98">
                      <a:extLst>
                        <a:ext uri="{FF2B5EF4-FFF2-40B4-BE49-F238E27FC236}">
                          <a16:creationId xmlns:a16="http://schemas.microsoft.com/office/drawing/2014/main" id="{EB282FC8-2BA2-1D8D-1AB8-87F35A27E9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99">
                      <a:extLst>
                        <a:ext uri="{FF2B5EF4-FFF2-40B4-BE49-F238E27FC236}">
                          <a16:creationId xmlns:a16="http://schemas.microsoft.com/office/drawing/2014/main" id="{D58CBAEB-0152-BF71-9206-FE3CD2D1CA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0">
                      <a:extLst>
                        <a:ext uri="{FF2B5EF4-FFF2-40B4-BE49-F238E27FC236}">
                          <a16:creationId xmlns:a16="http://schemas.microsoft.com/office/drawing/2014/main" id="{71B1A71D-6896-C5B5-65AF-05D0A106FC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1">
                      <a:extLst>
                        <a:ext uri="{FF2B5EF4-FFF2-40B4-BE49-F238E27FC236}">
                          <a16:creationId xmlns:a16="http://schemas.microsoft.com/office/drawing/2014/main" id="{F8C0CD60-14A7-F119-7EBB-6E8B8DFD6B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2">
                      <a:extLst>
                        <a:ext uri="{FF2B5EF4-FFF2-40B4-BE49-F238E27FC236}">
                          <a16:creationId xmlns:a16="http://schemas.microsoft.com/office/drawing/2014/main" id="{422ABFEA-805E-C6E3-4C10-79C2F094FF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3">
                      <a:extLst>
                        <a:ext uri="{FF2B5EF4-FFF2-40B4-BE49-F238E27FC236}">
                          <a16:creationId xmlns:a16="http://schemas.microsoft.com/office/drawing/2014/main" id="{AE03BCD5-41FD-B908-412B-7D6ACF5CFB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4">
                      <a:extLst>
                        <a:ext uri="{FF2B5EF4-FFF2-40B4-BE49-F238E27FC236}">
                          <a16:creationId xmlns:a16="http://schemas.microsoft.com/office/drawing/2014/main" id="{AA964F1F-87C0-1567-82AC-4A199A9FEF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3" name="Freeform 105">
                      <a:extLst>
                        <a:ext uri="{FF2B5EF4-FFF2-40B4-BE49-F238E27FC236}">
                          <a16:creationId xmlns:a16="http://schemas.microsoft.com/office/drawing/2014/main" id="{9D3B0E2D-AD63-CCA3-B1B7-CDD92B1EB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7" name="Group 106">
                    <a:extLst>
                      <a:ext uri="{FF2B5EF4-FFF2-40B4-BE49-F238E27FC236}">
                        <a16:creationId xmlns:a16="http://schemas.microsoft.com/office/drawing/2014/main" id="{CC26E5BE-7DCC-E8EE-8A25-B69640AA7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8" name="Freeform 107">
                      <a:extLst>
                        <a:ext uri="{FF2B5EF4-FFF2-40B4-BE49-F238E27FC236}">
                          <a16:creationId xmlns:a16="http://schemas.microsoft.com/office/drawing/2014/main" id="{6345C708-774F-2F3A-FA63-378396F449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8">
                      <a:extLst>
                        <a:ext uri="{FF2B5EF4-FFF2-40B4-BE49-F238E27FC236}">
                          <a16:creationId xmlns:a16="http://schemas.microsoft.com/office/drawing/2014/main" id="{F5F013D2-2594-13FE-F287-6CC788D6B6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09">
                      <a:extLst>
                        <a:ext uri="{FF2B5EF4-FFF2-40B4-BE49-F238E27FC236}">
                          <a16:creationId xmlns:a16="http://schemas.microsoft.com/office/drawing/2014/main" id="{731F4E6B-ADE6-DCCE-A3FB-883D9A8C9E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0">
                      <a:extLst>
                        <a:ext uri="{FF2B5EF4-FFF2-40B4-BE49-F238E27FC236}">
                          <a16:creationId xmlns:a16="http://schemas.microsoft.com/office/drawing/2014/main" id="{1F338F02-ECFD-2FF3-5B1B-870F202BA1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1">
                      <a:extLst>
                        <a:ext uri="{FF2B5EF4-FFF2-40B4-BE49-F238E27FC236}">
                          <a16:creationId xmlns:a16="http://schemas.microsoft.com/office/drawing/2014/main" id="{9102B357-0773-7EEC-9D37-7AD9B0D373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2">
                      <a:extLst>
                        <a:ext uri="{FF2B5EF4-FFF2-40B4-BE49-F238E27FC236}">
                          <a16:creationId xmlns:a16="http://schemas.microsoft.com/office/drawing/2014/main" id="{B36DFA6A-8FFD-D8C7-61B4-865D6B487B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3">
                      <a:extLst>
                        <a:ext uri="{FF2B5EF4-FFF2-40B4-BE49-F238E27FC236}">
                          <a16:creationId xmlns:a16="http://schemas.microsoft.com/office/drawing/2014/main" id="{764AE27D-53D1-EE71-EE37-B707F8003F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5" name="Freeform 114">
                      <a:extLst>
                        <a:ext uri="{FF2B5EF4-FFF2-40B4-BE49-F238E27FC236}">
                          <a16:creationId xmlns:a16="http://schemas.microsoft.com/office/drawing/2014/main" id="{67B6C3F7-82EF-436E-E1D1-E94FC8A340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3" name="WordArt 115">
                <a:extLst>
                  <a:ext uri="{FF2B5EF4-FFF2-40B4-BE49-F238E27FC236}">
                    <a16:creationId xmlns:a16="http://schemas.microsoft.com/office/drawing/2014/main" id="{39FE0DD3-C062-C4AA-2B21-AD87CF95899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1" name="WordArt 68">
              <a:extLst>
                <a:ext uri="{FF2B5EF4-FFF2-40B4-BE49-F238E27FC236}">
                  <a16:creationId xmlns:a16="http://schemas.microsoft.com/office/drawing/2014/main" id="{96E1F0F0-E045-0F94-1D31-2378E928C2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leaf_2_2</a:t>
              </a:r>
            </a:p>
          </p:txBody>
        </p:sp>
      </p:grpSp>
      <p:sp>
        <p:nvSpPr>
          <p:cNvPr id="11" name="Oval 152">
            <a:extLst>
              <a:ext uri="{FF2B5EF4-FFF2-40B4-BE49-F238E27FC236}">
                <a16:creationId xmlns:a16="http://schemas.microsoft.com/office/drawing/2014/main" id="{0E531A0E-5901-3303-B045-55ED2A0AC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133" y="3297235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2" name="Oval 152">
            <a:extLst>
              <a:ext uri="{FF2B5EF4-FFF2-40B4-BE49-F238E27FC236}">
                <a16:creationId xmlns:a16="http://schemas.microsoft.com/office/drawing/2014/main" id="{281FFFAF-7253-AF57-C296-BBFB9DEF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259" y="4377027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3" name="Oval 152">
            <a:extLst>
              <a:ext uri="{FF2B5EF4-FFF2-40B4-BE49-F238E27FC236}">
                <a16:creationId xmlns:a16="http://schemas.microsoft.com/office/drawing/2014/main" id="{E9B766FE-A358-143B-A4E5-65E994942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528" y="4298401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U</a:t>
            </a:r>
          </a:p>
        </p:txBody>
      </p:sp>
      <p:sp>
        <p:nvSpPr>
          <p:cNvPr id="14" name="Oval 152">
            <a:extLst>
              <a:ext uri="{FF2B5EF4-FFF2-40B4-BE49-F238E27FC236}">
                <a16:creationId xmlns:a16="http://schemas.microsoft.com/office/drawing/2014/main" id="{23BBE6AA-09DC-AD32-EE15-DA37C489F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3609" y="4321714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V</a:t>
            </a:r>
          </a:p>
        </p:txBody>
      </p:sp>
      <p:sp>
        <p:nvSpPr>
          <p:cNvPr id="56" name="Oval 152">
            <a:extLst>
              <a:ext uri="{FF2B5EF4-FFF2-40B4-BE49-F238E27FC236}">
                <a16:creationId xmlns:a16="http://schemas.microsoft.com/office/drawing/2014/main" id="{A7A6B4BB-B28E-8499-43B1-A8996CF7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735" y="4344886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58" name="Oval 152">
            <a:extLst>
              <a:ext uri="{FF2B5EF4-FFF2-40B4-BE49-F238E27FC236}">
                <a16:creationId xmlns:a16="http://schemas.microsoft.com/office/drawing/2014/main" id="{36F3D578-7493-D920-3C96-B9F21368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338" y="4226445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59" name="Oval 152">
            <a:extLst>
              <a:ext uri="{FF2B5EF4-FFF2-40B4-BE49-F238E27FC236}">
                <a16:creationId xmlns:a16="http://schemas.microsoft.com/office/drawing/2014/main" id="{0014F35F-24D0-545A-CA48-7ECDC7E57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1327" y="4225819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61" name="Oval 152">
            <a:extLst>
              <a:ext uri="{FF2B5EF4-FFF2-40B4-BE49-F238E27FC236}">
                <a16:creationId xmlns:a16="http://schemas.microsoft.com/office/drawing/2014/main" id="{F064A61D-3604-FFA3-0B3D-440B5C35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3633" y="3288850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62" name="Oval 152">
            <a:extLst>
              <a:ext uri="{FF2B5EF4-FFF2-40B4-BE49-F238E27FC236}">
                <a16:creationId xmlns:a16="http://schemas.microsoft.com/office/drawing/2014/main" id="{463DD614-E96D-FF22-3B43-027FB1EA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3968" y="3160623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63" name="Oval 152">
            <a:extLst>
              <a:ext uri="{FF2B5EF4-FFF2-40B4-BE49-F238E27FC236}">
                <a16:creationId xmlns:a16="http://schemas.microsoft.com/office/drawing/2014/main" id="{1EC67C28-E4C7-800F-D639-2F21F662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888" y="3157864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64" name="Oval 152">
            <a:extLst>
              <a:ext uri="{FF2B5EF4-FFF2-40B4-BE49-F238E27FC236}">
                <a16:creationId xmlns:a16="http://schemas.microsoft.com/office/drawing/2014/main" id="{192DE401-22E8-79AC-203F-F947F47A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698" y="3273991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K</a:t>
            </a:r>
          </a:p>
        </p:txBody>
      </p:sp>
      <p:sp>
        <p:nvSpPr>
          <p:cNvPr id="65" name="Oval 152">
            <a:extLst>
              <a:ext uri="{FF2B5EF4-FFF2-40B4-BE49-F238E27FC236}">
                <a16:creationId xmlns:a16="http://schemas.microsoft.com/office/drawing/2014/main" id="{3A69174D-6674-ACEC-DF95-16BF7AF5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747" y="3295632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66" name="Oval 152">
            <a:extLst>
              <a:ext uri="{FF2B5EF4-FFF2-40B4-BE49-F238E27FC236}">
                <a16:creationId xmlns:a16="http://schemas.microsoft.com/office/drawing/2014/main" id="{FA92A806-49DD-55C9-0A7F-71DA53C1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0562" y="3180196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7" name="Oval 152">
            <a:extLst>
              <a:ext uri="{FF2B5EF4-FFF2-40B4-BE49-F238E27FC236}">
                <a16:creationId xmlns:a16="http://schemas.microsoft.com/office/drawing/2014/main" id="{DF9141B7-A411-649D-E0E6-D418A539D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300" y="3166282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71" name="Oval 152">
            <a:extLst>
              <a:ext uri="{FF2B5EF4-FFF2-40B4-BE49-F238E27FC236}">
                <a16:creationId xmlns:a16="http://schemas.microsoft.com/office/drawing/2014/main" id="{20E49329-7A50-6BD8-0576-26F93460A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364" y="2280089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Q</a:t>
            </a:r>
          </a:p>
        </p:txBody>
      </p:sp>
      <p:sp>
        <p:nvSpPr>
          <p:cNvPr id="72" name="Oval 152">
            <a:extLst>
              <a:ext uri="{FF2B5EF4-FFF2-40B4-BE49-F238E27FC236}">
                <a16:creationId xmlns:a16="http://schemas.microsoft.com/office/drawing/2014/main" id="{27B4E168-8D90-396A-FB4D-4110B0715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315" y="2280089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R</a:t>
            </a:r>
          </a:p>
        </p:txBody>
      </p:sp>
      <p:sp>
        <p:nvSpPr>
          <p:cNvPr id="73" name="Oval 152">
            <a:extLst>
              <a:ext uri="{FF2B5EF4-FFF2-40B4-BE49-F238E27FC236}">
                <a16:creationId xmlns:a16="http://schemas.microsoft.com/office/drawing/2014/main" id="{6168C1A6-FC45-CA40-428A-2BCE39E4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629" y="2294696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S</a:t>
            </a:r>
          </a:p>
        </p:txBody>
      </p:sp>
      <p:sp>
        <p:nvSpPr>
          <p:cNvPr id="74" name="Oval 152">
            <a:extLst>
              <a:ext uri="{FF2B5EF4-FFF2-40B4-BE49-F238E27FC236}">
                <a16:creationId xmlns:a16="http://schemas.microsoft.com/office/drawing/2014/main" id="{0A63A091-9090-4DAE-4BB1-B9FFA488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1841" y="2187917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92" name="Text Box 136">
            <a:extLst>
              <a:ext uri="{FF2B5EF4-FFF2-40B4-BE49-F238E27FC236}">
                <a16:creationId xmlns:a16="http://schemas.microsoft.com/office/drawing/2014/main" id="{2FF98CA3-70A3-2653-1B7B-63FEF52CC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83" y="4081823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201.1.1.0/24</a:t>
            </a:r>
          </a:p>
        </p:txBody>
      </p:sp>
      <p:sp>
        <p:nvSpPr>
          <p:cNvPr id="93" name="Text Box 136">
            <a:extLst>
              <a:ext uri="{FF2B5EF4-FFF2-40B4-BE49-F238E27FC236}">
                <a16:creationId xmlns:a16="http://schemas.microsoft.com/office/drawing/2014/main" id="{EF9EA49A-F315-D6A1-2532-06B97EE1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82" y="3802641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201.1.2.0/24</a:t>
            </a:r>
          </a:p>
        </p:txBody>
      </p:sp>
      <p:sp>
        <p:nvSpPr>
          <p:cNvPr id="94" name="Text Box 136">
            <a:extLst>
              <a:ext uri="{FF2B5EF4-FFF2-40B4-BE49-F238E27FC236}">
                <a16:creationId xmlns:a16="http://schemas.microsoft.com/office/drawing/2014/main" id="{C54B59BB-7397-045A-BDBD-65693C0A7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276" y="4081823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201.2.2.0/24</a:t>
            </a:r>
          </a:p>
        </p:txBody>
      </p:sp>
      <p:sp>
        <p:nvSpPr>
          <p:cNvPr id="95" name="Text Box 136">
            <a:extLst>
              <a:ext uri="{FF2B5EF4-FFF2-40B4-BE49-F238E27FC236}">
                <a16:creationId xmlns:a16="http://schemas.microsoft.com/office/drawing/2014/main" id="{68D484DD-FC45-DC76-73A2-7CC91AE5D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000" y="3809642"/>
            <a:ext cx="976627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201.2.1.0/24</a:t>
            </a:r>
          </a:p>
        </p:txBody>
      </p:sp>
      <p:sp>
        <p:nvSpPr>
          <p:cNvPr id="99" name="Text Box 136">
            <a:extLst>
              <a:ext uri="{FF2B5EF4-FFF2-40B4-BE49-F238E27FC236}">
                <a16:creationId xmlns:a16="http://schemas.microsoft.com/office/drawing/2014/main" id="{DBA66AB4-A2D0-A1C4-CE89-6B23E398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932" y="4278810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3.0.0.0/24</a:t>
            </a:r>
          </a:p>
        </p:txBody>
      </p:sp>
      <p:sp>
        <p:nvSpPr>
          <p:cNvPr id="68" name="Oval 152">
            <a:extLst>
              <a:ext uri="{FF2B5EF4-FFF2-40B4-BE49-F238E27FC236}">
                <a16:creationId xmlns:a16="http://schemas.microsoft.com/office/drawing/2014/main" id="{8E45E782-54BC-C5C9-DE1E-5632006B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023" y="2306149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" name="Oval 152">
            <a:extLst>
              <a:ext uri="{FF2B5EF4-FFF2-40B4-BE49-F238E27FC236}">
                <a16:creationId xmlns:a16="http://schemas.microsoft.com/office/drawing/2014/main" id="{3ACC3D8B-1BA0-101E-7354-3840BA14B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2" y="2269181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69" name="Oval 152">
            <a:extLst>
              <a:ext uri="{FF2B5EF4-FFF2-40B4-BE49-F238E27FC236}">
                <a16:creationId xmlns:a16="http://schemas.microsoft.com/office/drawing/2014/main" id="{1CC15DE0-E45E-7F69-CFCF-8554FEC93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989" y="2258156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70" name="Oval 152">
            <a:extLst>
              <a:ext uri="{FF2B5EF4-FFF2-40B4-BE49-F238E27FC236}">
                <a16:creationId xmlns:a16="http://schemas.microsoft.com/office/drawing/2014/main" id="{922F9BE5-82DC-B506-98F8-2EDD2E6C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87" y="2330033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11" name="Text Box 137">
            <a:extLst>
              <a:ext uri="{FF2B5EF4-FFF2-40B4-BE49-F238E27FC236}">
                <a16:creationId xmlns:a16="http://schemas.microsoft.com/office/drawing/2014/main" id="{53458C67-4585-93B5-86C5-2A253725A0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2376498" y="3745957"/>
            <a:ext cx="67699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Tahoma" panose="020B0604030504040204" pitchFamily="34" charset="0"/>
              </a:rPr>
              <a:t>64512</a:t>
            </a:r>
          </a:p>
        </p:txBody>
      </p:sp>
      <p:sp>
        <p:nvSpPr>
          <p:cNvPr id="115" name="Text Box 137">
            <a:extLst>
              <a:ext uri="{FF2B5EF4-FFF2-40B4-BE49-F238E27FC236}">
                <a16:creationId xmlns:a16="http://schemas.microsoft.com/office/drawing/2014/main" id="{BAB9F476-636F-4B7E-5F76-054DCB709E7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3180" y="2636184"/>
            <a:ext cx="781703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>
                <a:latin typeface="Tahoma" panose="020B0604030504040204" pitchFamily="34" charset="0"/>
              </a:rPr>
              <a:t>64514</a:t>
            </a:r>
            <a:endParaRPr lang="it-IT" altLang="it-IT" sz="1100" b="1">
              <a:latin typeface="Tahoma" panose="020B0604030504040204" pitchFamily="34" charset="0"/>
            </a:endParaRPr>
          </a:p>
        </p:txBody>
      </p:sp>
      <p:sp>
        <p:nvSpPr>
          <p:cNvPr id="118" name="Text Box 137">
            <a:extLst>
              <a:ext uri="{FF2B5EF4-FFF2-40B4-BE49-F238E27FC236}">
                <a16:creationId xmlns:a16="http://schemas.microsoft.com/office/drawing/2014/main" id="{17F1E283-A496-BAA2-5039-BD133BB28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2850278" y="3747639"/>
            <a:ext cx="67699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900" b="1">
                <a:latin typeface="Tahoma" panose="020B0604030504040204" pitchFamily="34" charset="0"/>
              </a:rPr>
              <a:t>64513</a:t>
            </a:r>
          </a:p>
        </p:txBody>
      </p:sp>
      <p:sp>
        <p:nvSpPr>
          <p:cNvPr id="119" name="Text Box 137">
            <a:extLst>
              <a:ext uri="{FF2B5EF4-FFF2-40B4-BE49-F238E27FC236}">
                <a16:creationId xmlns:a16="http://schemas.microsoft.com/office/drawing/2014/main" id="{23A3C373-A3FE-BA82-021B-5B76134BE6F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7214739" y="3737352"/>
            <a:ext cx="67699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900" b="1">
                <a:latin typeface="Tahoma" panose="020B0604030504040204" pitchFamily="34" charset="0"/>
              </a:rPr>
              <a:t>64515</a:t>
            </a:r>
          </a:p>
        </p:txBody>
      </p:sp>
      <p:sp>
        <p:nvSpPr>
          <p:cNvPr id="594" name="Text Box 137">
            <a:extLst>
              <a:ext uri="{FF2B5EF4-FFF2-40B4-BE49-F238E27FC236}">
                <a16:creationId xmlns:a16="http://schemas.microsoft.com/office/drawing/2014/main" id="{3AC9C338-B215-0F52-ABF8-B8BF6CFD9B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7728239" y="3729457"/>
            <a:ext cx="67699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900" b="1">
                <a:latin typeface="Tahoma" panose="020B0604030504040204" pitchFamily="34" charset="0"/>
              </a:rPr>
              <a:t>64516</a:t>
            </a:r>
          </a:p>
        </p:txBody>
      </p:sp>
      <p:sp>
        <p:nvSpPr>
          <p:cNvPr id="595" name="Text Box 137">
            <a:extLst>
              <a:ext uri="{FF2B5EF4-FFF2-40B4-BE49-F238E27FC236}">
                <a16:creationId xmlns:a16="http://schemas.microsoft.com/office/drawing/2014/main" id="{77794D50-3902-1125-5E63-EAA85CB61F2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513971" y="2661193"/>
            <a:ext cx="60946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>
                <a:latin typeface="Tahoma" panose="020B0604030504040204" pitchFamily="34" charset="0"/>
              </a:rPr>
              <a:t>64517</a:t>
            </a:r>
            <a:endParaRPr lang="it-IT" altLang="it-IT" sz="1100" b="1">
              <a:latin typeface="Tahoma" panose="020B0604030504040204" pitchFamily="34" charset="0"/>
            </a:endParaRPr>
          </a:p>
        </p:txBody>
      </p:sp>
      <p:sp>
        <p:nvSpPr>
          <p:cNvPr id="596" name="Text Box 137">
            <a:extLst>
              <a:ext uri="{FF2B5EF4-FFF2-40B4-BE49-F238E27FC236}">
                <a16:creationId xmlns:a16="http://schemas.microsoft.com/office/drawing/2014/main" id="{4E4BF079-2B3E-0FDA-3056-007A50FD99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0421" y="1261806"/>
            <a:ext cx="60946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64518</a:t>
            </a:r>
            <a:endParaRPr lang="it-IT" altLang="it-IT" sz="1100" b="1">
              <a:latin typeface="Tahoma" panose="020B060403050404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F569DC7-8041-5D64-8FDE-F4BCAA27B2F0}"/>
              </a:ext>
            </a:extLst>
          </p:cNvPr>
          <p:cNvGrpSpPr/>
          <p:nvPr/>
        </p:nvGrpSpPr>
        <p:grpSpPr>
          <a:xfrm>
            <a:off x="564431" y="4631880"/>
            <a:ext cx="1407366" cy="599675"/>
            <a:chOff x="763976" y="5433999"/>
            <a:chExt cx="1640338" cy="698944"/>
          </a:xfrm>
        </p:grpSpPr>
        <p:sp>
          <p:nvSpPr>
            <p:cNvPr id="608" name="Text Box 169">
              <a:extLst>
                <a:ext uri="{FF2B5EF4-FFF2-40B4-BE49-F238E27FC236}">
                  <a16:creationId xmlns:a16="http://schemas.microsoft.com/office/drawing/2014/main" id="{7F35B15B-902A-C7D8-8F60-D2BAE293A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controller</a:t>
              </a:r>
            </a:p>
          </p:txBody>
        </p:sp>
        <p:pic>
          <p:nvPicPr>
            <p:cNvPr id="76" name="Picture 75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13BF841E-DC13-5E6D-3994-49AED1A80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1FF84F2-A8F7-C99C-56B5-B473DC339FEB}"/>
              </a:ext>
            </a:extLst>
          </p:cNvPr>
          <p:cNvGrpSpPr/>
          <p:nvPr/>
        </p:nvGrpSpPr>
        <p:grpSpPr>
          <a:xfrm>
            <a:off x="1234934" y="4638910"/>
            <a:ext cx="1407366" cy="599675"/>
            <a:chOff x="763976" y="5433999"/>
            <a:chExt cx="1640338" cy="698944"/>
          </a:xfrm>
        </p:grpSpPr>
        <p:sp>
          <p:nvSpPr>
            <p:cNvPr id="79" name="Text Box 169">
              <a:extLst>
                <a:ext uri="{FF2B5EF4-FFF2-40B4-BE49-F238E27FC236}">
                  <a16:creationId xmlns:a16="http://schemas.microsoft.com/office/drawing/2014/main" id="{24F28DE8-4D2A-1FBB-0DE0-FBB2B3190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worker1</a:t>
              </a:r>
            </a:p>
          </p:txBody>
        </p:sp>
        <p:pic>
          <p:nvPicPr>
            <p:cNvPr id="82" name="Picture 81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2B843AC9-FD88-7488-DBFB-35AF095FE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sp>
        <p:nvSpPr>
          <p:cNvPr id="89" name="Line 66">
            <a:extLst>
              <a:ext uri="{FF2B5EF4-FFF2-40B4-BE49-F238E27FC236}">
                <a16:creationId xmlns:a16="http://schemas.microsoft.com/office/drawing/2014/main" id="{2A83E8F8-38AF-B792-DBA6-08B2385E6C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69679" y="3631249"/>
            <a:ext cx="1180508" cy="72747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90" name="Line 71">
            <a:extLst>
              <a:ext uri="{FF2B5EF4-FFF2-40B4-BE49-F238E27FC236}">
                <a16:creationId xmlns:a16="http://schemas.microsoft.com/office/drawing/2014/main" id="{99389F01-0701-136E-7D8E-2BA45B84AEB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037825" y="4191078"/>
            <a:ext cx="676991" cy="42530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sp>
        <p:nvSpPr>
          <p:cNvPr id="91" name="Oval 152">
            <a:extLst>
              <a:ext uri="{FF2B5EF4-FFF2-40B4-BE49-F238E27FC236}">
                <a16:creationId xmlns:a16="http://schemas.microsoft.com/office/drawing/2014/main" id="{0CB8E9D0-512C-F236-B0EC-C091A54A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5052" y="4293633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AA</a:t>
            </a:r>
          </a:p>
        </p:txBody>
      </p:sp>
      <p:sp>
        <p:nvSpPr>
          <p:cNvPr id="96" name="Text Box 136">
            <a:extLst>
              <a:ext uri="{FF2B5EF4-FFF2-40B4-BE49-F238E27FC236}">
                <a16:creationId xmlns:a16="http://schemas.microsoft.com/office/drawing/2014/main" id="{96871C8D-D2E1-0F04-8FB5-D65D81D68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3" y="3523655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201.1.3.0/24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BAC9CD6-485B-8F0D-8D76-419175BF8AFD}"/>
              </a:ext>
            </a:extLst>
          </p:cNvPr>
          <p:cNvGrpSpPr/>
          <p:nvPr/>
        </p:nvGrpSpPr>
        <p:grpSpPr>
          <a:xfrm>
            <a:off x="1828343" y="4631880"/>
            <a:ext cx="1407366" cy="599675"/>
            <a:chOff x="763976" y="5433999"/>
            <a:chExt cx="1640338" cy="698944"/>
          </a:xfrm>
        </p:grpSpPr>
        <p:sp>
          <p:nvSpPr>
            <p:cNvPr id="110" name="Text Box 169">
              <a:extLst>
                <a:ext uri="{FF2B5EF4-FFF2-40B4-BE49-F238E27FC236}">
                  <a16:creationId xmlns:a16="http://schemas.microsoft.com/office/drawing/2014/main" id="{E474E0DB-4F8B-62E1-CAB6-DA6447FAA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worker2</a:t>
              </a:r>
            </a:p>
          </p:txBody>
        </p:sp>
        <p:pic>
          <p:nvPicPr>
            <p:cNvPr id="112" name="Picture 111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DA07227B-9AF4-409E-B7D0-DB70772A3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17D876E-5CA9-F9BF-EFD1-4526AABDF747}"/>
              </a:ext>
            </a:extLst>
          </p:cNvPr>
          <p:cNvGrpSpPr/>
          <p:nvPr/>
        </p:nvGrpSpPr>
        <p:grpSpPr>
          <a:xfrm>
            <a:off x="2480659" y="4633354"/>
            <a:ext cx="1407366" cy="599675"/>
            <a:chOff x="763976" y="5433999"/>
            <a:chExt cx="1640338" cy="698944"/>
          </a:xfrm>
        </p:grpSpPr>
        <p:sp>
          <p:nvSpPr>
            <p:cNvPr id="114" name="Text Box 169">
              <a:extLst>
                <a:ext uri="{FF2B5EF4-FFF2-40B4-BE49-F238E27FC236}">
                  <a16:creationId xmlns:a16="http://schemas.microsoft.com/office/drawing/2014/main" id="{2E14E942-A846-9B10-B8C7-FA579133B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worker3</a:t>
              </a:r>
            </a:p>
          </p:txBody>
        </p:sp>
        <p:pic>
          <p:nvPicPr>
            <p:cNvPr id="116" name="Picture 115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90AD999E-4A08-0D9F-FD18-8BF82446C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83BCF2D-EA8E-1B5A-C881-FEF8540D5558}"/>
              </a:ext>
            </a:extLst>
          </p:cNvPr>
          <p:cNvGrpSpPr/>
          <p:nvPr/>
        </p:nvGrpSpPr>
        <p:grpSpPr>
          <a:xfrm>
            <a:off x="3018226" y="4627894"/>
            <a:ext cx="1407366" cy="599675"/>
            <a:chOff x="763976" y="5433999"/>
            <a:chExt cx="1640338" cy="698944"/>
          </a:xfrm>
        </p:grpSpPr>
        <p:sp>
          <p:nvSpPr>
            <p:cNvPr id="145" name="Text Box 169">
              <a:extLst>
                <a:ext uri="{FF2B5EF4-FFF2-40B4-BE49-F238E27FC236}">
                  <a16:creationId xmlns:a16="http://schemas.microsoft.com/office/drawing/2014/main" id="{8CB5982E-3B0A-5ED3-9860-CA3301BE8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worker4</a:t>
              </a:r>
            </a:p>
          </p:txBody>
        </p:sp>
        <p:pic>
          <p:nvPicPr>
            <p:cNvPr id="146" name="Picture 145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51AE457A-7174-39E5-672F-0A6A97F29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73BDC74-CF84-F996-FDD4-C5858D4DC7F8}"/>
              </a:ext>
            </a:extLst>
          </p:cNvPr>
          <p:cNvGrpSpPr/>
          <p:nvPr/>
        </p:nvGrpSpPr>
        <p:grpSpPr>
          <a:xfrm>
            <a:off x="3578877" y="4623321"/>
            <a:ext cx="1407366" cy="599675"/>
            <a:chOff x="763976" y="5433999"/>
            <a:chExt cx="1640338" cy="698944"/>
          </a:xfrm>
        </p:grpSpPr>
        <p:sp>
          <p:nvSpPr>
            <p:cNvPr id="148" name="Text Box 169">
              <a:extLst>
                <a:ext uri="{FF2B5EF4-FFF2-40B4-BE49-F238E27FC236}">
                  <a16:creationId xmlns:a16="http://schemas.microsoft.com/office/drawing/2014/main" id="{FAF7BAEE-A1D0-4B52-FA6A-2E0FAE851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76" y="5879293"/>
              <a:ext cx="1640338" cy="253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800" b="1"/>
                <a:t>worker5</a:t>
              </a:r>
            </a:p>
          </p:txBody>
        </p:sp>
        <p:pic>
          <p:nvPicPr>
            <p:cNvPr id="149" name="Picture 148" descr="A blue hexagon with a white wheel&#10;&#10;Description automatically generated">
              <a:extLst>
                <a:ext uri="{FF2B5EF4-FFF2-40B4-BE49-F238E27FC236}">
                  <a16:creationId xmlns:a16="http://schemas.microsoft.com/office/drawing/2014/main" id="{E3FC8CDB-C454-EA06-F4D9-B5277F3ED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41" y="5433999"/>
              <a:ext cx="462008" cy="449711"/>
            </a:xfrm>
            <a:prstGeom prst="rect">
              <a:avLst/>
            </a:prstGeom>
          </p:spPr>
        </p:pic>
      </p:grpSp>
      <p:sp>
        <p:nvSpPr>
          <p:cNvPr id="152" name="Line 66">
            <a:extLst>
              <a:ext uri="{FF2B5EF4-FFF2-40B4-BE49-F238E27FC236}">
                <a16:creationId xmlns:a16="http://schemas.microsoft.com/office/drawing/2014/main" id="{BAC59F55-2E22-6E36-382D-FC0E78D227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4591" y="4450383"/>
            <a:ext cx="1076442" cy="59627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sz="140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9CE0E32B-7C48-1E47-2AC7-86F1735EB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02" y="4418700"/>
            <a:ext cx="189346" cy="18934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54" name="Text Box 136">
            <a:extLst>
              <a:ext uri="{FF2B5EF4-FFF2-40B4-BE49-F238E27FC236}">
                <a16:creationId xmlns:a16="http://schemas.microsoft.com/office/drawing/2014/main" id="{80B4E40F-9015-CEC8-A3EA-29EBA280A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827" y="4342790"/>
            <a:ext cx="981351" cy="215444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800" b="1">
                <a:latin typeface="Courier New" panose="02070309020205020404" pitchFamily="49" charset="0"/>
              </a:rPr>
              <a:t>201.2.3.0/24</a:t>
            </a:r>
          </a:p>
        </p:txBody>
      </p:sp>
      <p:sp>
        <p:nvSpPr>
          <p:cNvPr id="159" name="Text Box 169">
            <a:extLst>
              <a:ext uri="{FF2B5EF4-FFF2-40B4-BE49-F238E27FC236}">
                <a16:creationId xmlns:a16="http://schemas.microsoft.com/office/drawing/2014/main" id="{553298BC-64F5-CCBD-2D4E-673230B2B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4725" y="5423379"/>
            <a:ext cx="1407366" cy="2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t-IT" sz="800" b="1"/>
              <a:t>client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9339BE1-9DB0-81F7-E92F-28D6699A734F}"/>
              </a:ext>
            </a:extLst>
          </p:cNvPr>
          <p:cNvGrpSpPr/>
          <p:nvPr/>
        </p:nvGrpSpPr>
        <p:grpSpPr>
          <a:xfrm>
            <a:off x="6713557" y="5106526"/>
            <a:ext cx="694445" cy="397285"/>
            <a:chOff x="967835" y="2541918"/>
            <a:chExt cx="1426054" cy="463051"/>
          </a:xfrm>
        </p:grpSpPr>
        <p:grpSp>
          <p:nvGrpSpPr>
            <p:cNvPr id="161" name="Group 93">
              <a:extLst>
                <a:ext uri="{FF2B5EF4-FFF2-40B4-BE49-F238E27FC236}">
                  <a16:creationId xmlns:a16="http://schemas.microsoft.com/office/drawing/2014/main" id="{BF3850FE-6B86-FA0B-AA50-87753E13E6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63" name="Group 94">
                <a:extLst>
                  <a:ext uri="{FF2B5EF4-FFF2-40B4-BE49-F238E27FC236}">
                    <a16:creationId xmlns:a16="http://schemas.microsoft.com/office/drawing/2014/main" id="{008E1F42-BD1E-5108-FB6E-0088CBAD4CB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65" name="AutoShape 95">
                  <a:extLst>
                    <a:ext uri="{FF2B5EF4-FFF2-40B4-BE49-F238E27FC236}">
                      <a16:creationId xmlns:a16="http://schemas.microsoft.com/office/drawing/2014/main" id="{8470E970-AC1F-690C-1302-BB1AFB7DACC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66" name="Group 96">
                  <a:extLst>
                    <a:ext uri="{FF2B5EF4-FFF2-40B4-BE49-F238E27FC236}">
                      <a16:creationId xmlns:a16="http://schemas.microsoft.com/office/drawing/2014/main" id="{3BE0D3D8-45E8-275C-0427-3178226B046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67" name="Group 97">
                    <a:extLst>
                      <a:ext uri="{FF2B5EF4-FFF2-40B4-BE49-F238E27FC236}">
                        <a16:creationId xmlns:a16="http://schemas.microsoft.com/office/drawing/2014/main" id="{6E2185AE-0A79-FCAF-92E3-8839B9037AE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77" name="Freeform 98">
                      <a:extLst>
                        <a:ext uri="{FF2B5EF4-FFF2-40B4-BE49-F238E27FC236}">
                          <a16:creationId xmlns:a16="http://schemas.microsoft.com/office/drawing/2014/main" id="{59D2BE5C-39A8-8DF1-CE9B-77F65C7E6D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8" name="Freeform 99">
                      <a:extLst>
                        <a:ext uri="{FF2B5EF4-FFF2-40B4-BE49-F238E27FC236}">
                          <a16:creationId xmlns:a16="http://schemas.microsoft.com/office/drawing/2014/main" id="{4A2881E7-12F1-E31F-A035-EDEEB734AB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9" name="Freeform 100">
                      <a:extLst>
                        <a:ext uri="{FF2B5EF4-FFF2-40B4-BE49-F238E27FC236}">
                          <a16:creationId xmlns:a16="http://schemas.microsoft.com/office/drawing/2014/main" id="{68BADFA1-A3BC-9A72-4134-926297E0AF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0" name="Freeform 101">
                      <a:extLst>
                        <a:ext uri="{FF2B5EF4-FFF2-40B4-BE49-F238E27FC236}">
                          <a16:creationId xmlns:a16="http://schemas.microsoft.com/office/drawing/2014/main" id="{FA532E04-18CB-5C80-8752-8857E58474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1" name="Freeform 102">
                      <a:extLst>
                        <a:ext uri="{FF2B5EF4-FFF2-40B4-BE49-F238E27FC236}">
                          <a16:creationId xmlns:a16="http://schemas.microsoft.com/office/drawing/2014/main" id="{F7F864C8-16D0-7FBC-5DB4-EA601C0E3F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2" name="Freeform 103">
                      <a:extLst>
                        <a:ext uri="{FF2B5EF4-FFF2-40B4-BE49-F238E27FC236}">
                          <a16:creationId xmlns:a16="http://schemas.microsoft.com/office/drawing/2014/main" id="{C71CC17D-0B6C-B9F6-DB7D-51E847F3E2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3" name="Freeform 104">
                      <a:extLst>
                        <a:ext uri="{FF2B5EF4-FFF2-40B4-BE49-F238E27FC236}">
                          <a16:creationId xmlns:a16="http://schemas.microsoft.com/office/drawing/2014/main" id="{FD85A2EC-6F97-61F8-EFFE-FAFE60919C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4" name="Freeform 105">
                      <a:extLst>
                        <a:ext uri="{FF2B5EF4-FFF2-40B4-BE49-F238E27FC236}">
                          <a16:creationId xmlns:a16="http://schemas.microsoft.com/office/drawing/2014/main" id="{B59BF4DE-4E13-46A6-788F-9951AA4030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68" name="Group 106">
                    <a:extLst>
                      <a:ext uri="{FF2B5EF4-FFF2-40B4-BE49-F238E27FC236}">
                        <a16:creationId xmlns:a16="http://schemas.microsoft.com/office/drawing/2014/main" id="{3DBF4F74-963E-B5CD-33ED-30E095CA969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69" name="Freeform 107">
                      <a:extLst>
                        <a:ext uri="{FF2B5EF4-FFF2-40B4-BE49-F238E27FC236}">
                          <a16:creationId xmlns:a16="http://schemas.microsoft.com/office/drawing/2014/main" id="{0059B570-052C-0537-834C-FBB345E96C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0" name="Freeform 108">
                      <a:extLst>
                        <a:ext uri="{FF2B5EF4-FFF2-40B4-BE49-F238E27FC236}">
                          <a16:creationId xmlns:a16="http://schemas.microsoft.com/office/drawing/2014/main" id="{B9744540-015B-0A01-187F-610B38D455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1" name="Freeform 109">
                      <a:extLst>
                        <a:ext uri="{FF2B5EF4-FFF2-40B4-BE49-F238E27FC236}">
                          <a16:creationId xmlns:a16="http://schemas.microsoft.com/office/drawing/2014/main" id="{E86802F6-AC64-8FB6-C771-5600B75536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2" name="Freeform 110">
                      <a:extLst>
                        <a:ext uri="{FF2B5EF4-FFF2-40B4-BE49-F238E27FC236}">
                          <a16:creationId xmlns:a16="http://schemas.microsoft.com/office/drawing/2014/main" id="{5F9A334F-568E-FE26-43EE-C4CB37D9C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3" name="Freeform 111">
                      <a:extLst>
                        <a:ext uri="{FF2B5EF4-FFF2-40B4-BE49-F238E27FC236}">
                          <a16:creationId xmlns:a16="http://schemas.microsoft.com/office/drawing/2014/main" id="{3D522B5F-ECAD-5D9B-85EA-2817CB35B8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4" name="Freeform 112">
                      <a:extLst>
                        <a:ext uri="{FF2B5EF4-FFF2-40B4-BE49-F238E27FC236}">
                          <a16:creationId xmlns:a16="http://schemas.microsoft.com/office/drawing/2014/main" id="{9E6129B9-8068-897D-3C26-AD7981C9BE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5" name="Freeform 113">
                      <a:extLst>
                        <a:ext uri="{FF2B5EF4-FFF2-40B4-BE49-F238E27FC236}">
                          <a16:creationId xmlns:a16="http://schemas.microsoft.com/office/drawing/2014/main" id="{3B767C20-7AA2-3CD1-2BDE-D8640793AD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76" name="Freeform 114">
                      <a:extLst>
                        <a:ext uri="{FF2B5EF4-FFF2-40B4-BE49-F238E27FC236}">
                          <a16:creationId xmlns:a16="http://schemas.microsoft.com/office/drawing/2014/main" id="{8743D7F6-E778-1F69-E162-3C3769CD9F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64" name="WordArt 115">
                <a:extLst>
                  <a:ext uri="{FF2B5EF4-FFF2-40B4-BE49-F238E27FC236}">
                    <a16:creationId xmlns:a16="http://schemas.microsoft.com/office/drawing/2014/main" id="{7DAB15DF-5BC7-88DF-F0B6-E180BB5C32F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62" name="WordArt 68">
              <a:extLst>
                <a:ext uri="{FF2B5EF4-FFF2-40B4-BE49-F238E27FC236}">
                  <a16:creationId xmlns:a16="http://schemas.microsoft.com/office/drawing/2014/main" id="{37A640FE-38C7-3BB2-21DC-E1F154E3CD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as1r1</a:t>
              </a:r>
            </a:p>
          </p:txBody>
        </p:sp>
      </p:grpSp>
      <p:sp>
        <p:nvSpPr>
          <p:cNvPr id="634" name="Text Box 151">
            <a:extLst>
              <a:ext uri="{FF2B5EF4-FFF2-40B4-BE49-F238E27FC236}">
                <a16:creationId xmlns:a16="http://schemas.microsoft.com/office/drawing/2014/main" id="{99520B00-3C55-A318-61E8-A18CCA6C2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8873" y="4694275"/>
            <a:ext cx="57404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636" name="Freeform 635">
            <a:extLst>
              <a:ext uri="{FF2B5EF4-FFF2-40B4-BE49-F238E27FC236}">
                <a16:creationId xmlns:a16="http://schemas.microsoft.com/office/drawing/2014/main" id="{74F281CD-40A0-5F0A-6610-62C8716D9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8666" y="5911948"/>
            <a:ext cx="2067849" cy="825368"/>
          </a:xfrm>
          <a:custGeom>
            <a:avLst/>
            <a:gdLst>
              <a:gd name="G0" fmla="+- 1 0 0"/>
              <a:gd name="G1" fmla="+- 196 0 0"/>
              <a:gd name="G2" fmla="+- 1057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427 0 0"/>
              <a:gd name="G17" fmla="sin 1624 G16"/>
              <a:gd name="G18" fmla="+- 1 0 0"/>
              <a:gd name="G19" fmla="+- 1 0 0"/>
              <a:gd name="G20" fmla="*/ 1 24577 2"/>
              <a:gd name="G21" fmla="+- 1 0 0"/>
              <a:gd name="G22" fmla="+- 1 0 0"/>
              <a:gd name="G23" fmla="+- 1 0 0"/>
              <a:gd name="G24" fmla="+- 4 0 0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1 0 0"/>
              <a:gd name="G34" fmla="+- 1 0 0"/>
              <a:gd name="G35" fmla="+- 1 0 0"/>
              <a:gd name="G36" fmla="+- 1 0 0"/>
              <a:gd name="G37" fmla="+- 1 0 0"/>
              <a:gd name="T0" fmla="*/ 2138984947 w 931"/>
              <a:gd name="T1" fmla="*/ 2147483646 h 1650"/>
              <a:gd name="T2" fmla="*/ 596111792 w 931"/>
              <a:gd name="T3" fmla="*/ 2147483646 h 1650"/>
              <a:gd name="T4" fmla="*/ 1262350763 w 931"/>
              <a:gd name="T5" fmla="*/ 2125578126 h 1650"/>
              <a:gd name="T6" fmla="*/ 1764953951 w 931"/>
              <a:gd name="T7" fmla="*/ 1179578863 h 1650"/>
              <a:gd name="T8" fmla="*/ 2147483646 w 931"/>
              <a:gd name="T9" fmla="*/ 397086005 h 1650"/>
              <a:gd name="T10" fmla="*/ 2147483646 w 931"/>
              <a:gd name="T11" fmla="*/ 379568133 h 1650"/>
              <a:gd name="T12" fmla="*/ 2147483646 w 931"/>
              <a:gd name="T13" fmla="*/ 335771744 h 1650"/>
              <a:gd name="T14" fmla="*/ 2147483646 w 931"/>
              <a:gd name="T15" fmla="*/ 1106585452 h 1650"/>
              <a:gd name="T16" fmla="*/ 2147483646 w 931"/>
              <a:gd name="T17" fmla="*/ 2147483646 h 1650"/>
              <a:gd name="T18" fmla="*/ 2147483646 w 931"/>
              <a:gd name="T19" fmla="*/ 2147483646 h 1650"/>
              <a:gd name="T20" fmla="*/ 2147483646 w 931"/>
              <a:gd name="T21" fmla="*/ 2147483646 h 1650"/>
              <a:gd name="T22" fmla="*/ 2147483646 w 931"/>
              <a:gd name="T23" fmla="*/ 2147483646 h 1650"/>
              <a:gd name="T24" fmla="*/ 2138984947 w 931"/>
              <a:gd name="T25" fmla="*/ 2147483646 h 1650"/>
              <a:gd name="T26" fmla="*/ 0 w 931"/>
              <a:gd name="T27" fmla="*/ 0 h 1650"/>
              <a:gd name="T28" fmla="*/ 931 w 931"/>
              <a:gd name="T29" fmla="*/ 1650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T26" t="T27" r="T28" b="T29"/>
            <a:pathLst>
              <a:path w="931" h="1650">
                <a:moveTo>
                  <a:pt x="183" y="1467"/>
                </a:moveTo>
                <a:cubicBezTo>
                  <a:pt x="95" y="1537"/>
                  <a:pt x="0" y="1240"/>
                  <a:pt x="51" y="1095"/>
                </a:cubicBezTo>
                <a:cubicBezTo>
                  <a:pt x="3" y="1057"/>
                  <a:pt x="26" y="837"/>
                  <a:pt x="108" y="728"/>
                </a:cubicBezTo>
                <a:cubicBezTo>
                  <a:pt x="50" y="573"/>
                  <a:pt x="37" y="421"/>
                  <a:pt x="151" y="404"/>
                </a:cubicBezTo>
                <a:cubicBezTo>
                  <a:pt x="92" y="174"/>
                  <a:pt x="144" y="81"/>
                  <a:pt x="239" y="136"/>
                </a:cubicBezTo>
                <a:cubicBezTo>
                  <a:pt x="233" y="33"/>
                  <a:pt x="391" y="41"/>
                  <a:pt x="432" y="130"/>
                </a:cubicBezTo>
                <a:cubicBezTo>
                  <a:pt x="494" y="41"/>
                  <a:pt x="677" y="0"/>
                  <a:pt x="720" y="115"/>
                </a:cubicBezTo>
                <a:cubicBezTo>
                  <a:pt x="806" y="77"/>
                  <a:pt x="879" y="210"/>
                  <a:pt x="830" y="379"/>
                </a:cubicBezTo>
                <a:cubicBezTo>
                  <a:pt x="910" y="411"/>
                  <a:pt x="931" y="842"/>
                  <a:pt x="846" y="874"/>
                </a:cubicBezTo>
                <a:cubicBezTo>
                  <a:pt x="885" y="1030"/>
                  <a:pt x="875" y="1332"/>
                  <a:pt x="714" y="1384"/>
                </a:cubicBezTo>
                <a:cubicBezTo>
                  <a:pt x="734" y="1520"/>
                  <a:pt x="663" y="1569"/>
                  <a:pt x="612" y="1498"/>
                </a:cubicBezTo>
                <a:cubicBezTo>
                  <a:pt x="600" y="1612"/>
                  <a:pt x="521" y="1624"/>
                  <a:pt x="427" y="1526"/>
                </a:cubicBezTo>
                <a:cubicBezTo>
                  <a:pt x="361" y="1565"/>
                  <a:pt x="190" y="1650"/>
                  <a:pt x="183" y="1467"/>
                </a:cubicBezTo>
                <a:close/>
              </a:path>
            </a:pathLst>
          </a:custGeom>
          <a:solidFill>
            <a:schemeClr val="accent5"/>
          </a:solidFill>
          <a:ln w="9360" cap="flat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81830922-5DDF-2562-AAFD-B1E21518D523}"/>
              </a:ext>
            </a:extLst>
          </p:cNvPr>
          <p:cNvSpPr txBox="1"/>
          <p:nvPr/>
        </p:nvSpPr>
        <p:spPr>
          <a:xfrm>
            <a:off x="8618795" y="6063594"/>
            <a:ext cx="1757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 Connection</a:t>
            </a:r>
            <a:b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(through the host)</a:t>
            </a:r>
          </a:p>
        </p:txBody>
      </p:sp>
      <p:sp>
        <p:nvSpPr>
          <p:cNvPr id="638" name="Line 71">
            <a:extLst>
              <a:ext uri="{FF2B5EF4-FFF2-40B4-BE49-F238E27FC236}">
                <a16:creationId xmlns:a16="http://schemas.microsoft.com/office/drawing/2014/main" id="{5E8BA423-B419-9B83-EB84-A3587222AAE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0121466" y="4514993"/>
            <a:ext cx="56638" cy="144093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400"/>
          </a:p>
        </p:txBody>
      </p:sp>
      <p:pic>
        <p:nvPicPr>
          <p:cNvPr id="157" name="Picture 231">
            <a:extLst>
              <a:ext uri="{FF2B5EF4-FFF2-40B4-BE49-F238E27FC236}">
                <a16:creationId xmlns:a16="http://schemas.microsoft.com/office/drawing/2014/main" id="{E0978BCC-1592-A6F5-C735-0342D2B40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2046" y="4933165"/>
            <a:ext cx="52228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85" name="Group 184">
            <a:extLst>
              <a:ext uri="{FF2B5EF4-FFF2-40B4-BE49-F238E27FC236}">
                <a16:creationId xmlns:a16="http://schemas.microsoft.com/office/drawing/2014/main" id="{603F49D1-EEDF-CD77-2C88-D7248EE425BD}"/>
              </a:ext>
            </a:extLst>
          </p:cNvPr>
          <p:cNvGrpSpPr/>
          <p:nvPr/>
        </p:nvGrpSpPr>
        <p:grpSpPr>
          <a:xfrm>
            <a:off x="9058901" y="5093101"/>
            <a:ext cx="694445" cy="397285"/>
            <a:chOff x="967835" y="2541918"/>
            <a:chExt cx="1426054" cy="463051"/>
          </a:xfrm>
        </p:grpSpPr>
        <p:grpSp>
          <p:nvGrpSpPr>
            <p:cNvPr id="186" name="Group 93">
              <a:extLst>
                <a:ext uri="{FF2B5EF4-FFF2-40B4-BE49-F238E27FC236}">
                  <a16:creationId xmlns:a16="http://schemas.microsoft.com/office/drawing/2014/main" id="{E158EC88-8D77-295C-8B11-D242FB6621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88" name="Group 94">
                <a:extLst>
                  <a:ext uri="{FF2B5EF4-FFF2-40B4-BE49-F238E27FC236}">
                    <a16:creationId xmlns:a16="http://schemas.microsoft.com/office/drawing/2014/main" id="{A5100446-43D8-4CC6-E894-845E51273C0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90" name="AutoShape 95">
                  <a:extLst>
                    <a:ext uri="{FF2B5EF4-FFF2-40B4-BE49-F238E27FC236}">
                      <a16:creationId xmlns:a16="http://schemas.microsoft.com/office/drawing/2014/main" id="{B26EE27C-6CCA-D057-DC8A-37F0535207B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1" name="Group 96">
                  <a:extLst>
                    <a:ext uri="{FF2B5EF4-FFF2-40B4-BE49-F238E27FC236}">
                      <a16:creationId xmlns:a16="http://schemas.microsoft.com/office/drawing/2014/main" id="{82EE30DB-8026-6A3B-E04B-3F0F159276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97" name="Group 97">
                    <a:extLst>
                      <a:ext uri="{FF2B5EF4-FFF2-40B4-BE49-F238E27FC236}">
                        <a16:creationId xmlns:a16="http://schemas.microsoft.com/office/drawing/2014/main" id="{81181CB3-610B-4D85-F3EE-EE148ACBA45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1" name="Freeform 98">
                      <a:extLst>
                        <a:ext uri="{FF2B5EF4-FFF2-40B4-BE49-F238E27FC236}">
                          <a16:creationId xmlns:a16="http://schemas.microsoft.com/office/drawing/2014/main" id="{EB9E0600-71E5-1746-761F-2045B6B2EF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99">
                      <a:extLst>
                        <a:ext uri="{FF2B5EF4-FFF2-40B4-BE49-F238E27FC236}">
                          <a16:creationId xmlns:a16="http://schemas.microsoft.com/office/drawing/2014/main" id="{B4016DDE-A4F6-2903-8BF2-D7A098581D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0">
                      <a:extLst>
                        <a:ext uri="{FF2B5EF4-FFF2-40B4-BE49-F238E27FC236}">
                          <a16:creationId xmlns:a16="http://schemas.microsoft.com/office/drawing/2014/main" id="{04751B0B-4DBF-4201-F882-DD432E2580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1">
                      <a:extLst>
                        <a:ext uri="{FF2B5EF4-FFF2-40B4-BE49-F238E27FC236}">
                          <a16:creationId xmlns:a16="http://schemas.microsoft.com/office/drawing/2014/main" id="{8101004D-436F-EA91-959E-0780E68AE2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2">
                      <a:extLst>
                        <a:ext uri="{FF2B5EF4-FFF2-40B4-BE49-F238E27FC236}">
                          <a16:creationId xmlns:a16="http://schemas.microsoft.com/office/drawing/2014/main" id="{38633E16-431A-BB26-5D26-A671824172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3">
                      <a:extLst>
                        <a:ext uri="{FF2B5EF4-FFF2-40B4-BE49-F238E27FC236}">
                          <a16:creationId xmlns:a16="http://schemas.microsoft.com/office/drawing/2014/main" id="{AE7D0F45-3730-AD7E-81A0-873B3C8451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4">
                      <a:extLst>
                        <a:ext uri="{FF2B5EF4-FFF2-40B4-BE49-F238E27FC236}">
                          <a16:creationId xmlns:a16="http://schemas.microsoft.com/office/drawing/2014/main" id="{30220128-90A0-EB80-1A27-42F3599965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05">
                      <a:extLst>
                        <a:ext uri="{FF2B5EF4-FFF2-40B4-BE49-F238E27FC236}">
                          <a16:creationId xmlns:a16="http://schemas.microsoft.com/office/drawing/2014/main" id="{D9286D60-51E3-DACE-3FC1-CB10E87B1E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98" name="Group 106">
                    <a:extLst>
                      <a:ext uri="{FF2B5EF4-FFF2-40B4-BE49-F238E27FC236}">
                        <a16:creationId xmlns:a16="http://schemas.microsoft.com/office/drawing/2014/main" id="{A4CE13FE-AF2E-1C64-3E43-4296E67D7B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99" name="Freeform 107">
                      <a:extLst>
                        <a:ext uri="{FF2B5EF4-FFF2-40B4-BE49-F238E27FC236}">
                          <a16:creationId xmlns:a16="http://schemas.microsoft.com/office/drawing/2014/main" id="{804D3172-42C3-3959-0BAF-68CACE7BDA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0" name="Freeform 108">
                      <a:extLst>
                        <a:ext uri="{FF2B5EF4-FFF2-40B4-BE49-F238E27FC236}">
                          <a16:creationId xmlns:a16="http://schemas.microsoft.com/office/drawing/2014/main" id="{BDCDB7BE-DB1A-2F0B-C566-5FD9737724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1" name="Freeform 109">
                      <a:extLst>
                        <a:ext uri="{FF2B5EF4-FFF2-40B4-BE49-F238E27FC236}">
                          <a16:creationId xmlns:a16="http://schemas.microsoft.com/office/drawing/2014/main" id="{1A34D0D9-C829-EE19-6EE2-5BD6BD3A98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2" name="Freeform 110">
                      <a:extLst>
                        <a:ext uri="{FF2B5EF4-FFF2-40B4-BE49-F238E27FC236}">
                          <a16:creationId xmlns:a16="http://schemas.microsoft.com/office/drawing/2014/main" id="{9651A111-2040-4568-B91F-760CE60D14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11">
                      <a:extLst>
                        <a:ext uri="{FF2B5EF4-FFF2-40B4-BE49-F238E27FC236}">
                          <a16:creationId xmlns:a16="http://schemas.microsoft.com/office/drawing/2014/main" id="{B461F956-CA7D-C204-EA72-E866E13582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12">
                      <a:extLst>
                        <a:ext uri="{FF2B5EF4-FFF2-40B4-BE49-F238E27FC236}">
                          <a16:creationId xmlns:a16="http://schemas.microsoft.com/office/drawing/2014/main" id="{5CAF1B30-598A-B733-FCB0-122C7E9BFF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3">
                      <a:extLst>
                        <a:ext uri="{FF2B5EF4-FFF2-40B4-BE49-F238E27FC236}">
                          <a16:creationId xmlns:a16="http://schemas.microsoft.com/office/drawing/2014/main" id="{1331798A-A97C-CFA7-21C4-2A418798F4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4">
                      <a:extLst>
                        <a:ext uri="{FF2B5EF4-FFF2-40B4-BE49-F238E27FC236}">
                          <a16:creationId xmlns:a16="http://schemas.microsoft.com/office/drawing/2014/main" id="{E97DB9E2-BEE5-3B8D-3C8C-525487B39A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89" name="WordArt 115">
                <a:extLst>
                  <a:ext uri="{FF2B5EF4-FFF2-40B4-BE49-F238E27FC236}">
                    <a16:creationId xmlns:a16="http://schemas.microsoft.com/office/drawing/2014/main" id="{722AAB93-43E7-204D-3C38-74F51D19621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87" name="WordArt 68">
              <a:extLst>
                <a:ext uri="{FF2B5EF4-FFF2-40B4-BE49-F238E27FC236}">
                  <a16:creationId xmlns:a16="http://schemas.microsoft.com/office/drawing/2014/main" id="{19BC4CAD-BC73-329B-BBE2-D14F241E87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as2r1</a:t>
              </a:r>
            </a:p>
          </p:txBody>
        </p:sp>
      </p:grpSp>
      <p:sp>
        <p:nvSpPr>
          <p:cNvPr id="639" name="Oval 152">
            <a:extLst>
              <a:ext uri="{FF2B5EF4-FFF2-40B4-BE49-F238E27FC236}">
                <a16:creationId xmlns:a16="http://schemas.microsoft.com/office/drawing/2014/main" id="{1C5C878B-DC80-A501-E2F0-F30F49649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324" y="5183682"/>
            <a:ext cx="183657" cy="18365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320" name="Oval 152">
            <a:extLst>
              <a:ext uri="{FF2B5EF4-FFF2-40B4-BE49-F238E27FC236}">
                <a16:creationId xmlns:a16="http://schemas.microsoft.com/office/drawing/2014/main" id="{8C526A40-6786-324F-00FD-A8502CCD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145" y="5155144"/>
            <a:ext cx="183657" cy="18365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W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0958A158-4004-8706-23EC-9ABC646AF2F7}"/>
              </a:ext>
            </a:extLst>
          </p:cNvPr>
          <p:cNvSpPr txBox="1"/>
          <p:nvPr/>
        </p:nvSpPr>
        <p:spPr>
          <a:xfrm>
            <a:off x="9527215" y="1871850"/>
            <a:ext cx="1065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exit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2" name="Straight Arrow Connector 8">
            <a:extLst>
              <a:ext uri="{FF2B5EF4-FFF2-40B4-BE49-F238E27FC236}">
                <a16:creationId xmlns:a16="http://schemas.microsoft.com/office/drawing/2014/main" id="{8A3F984F-F540-51C5-C20D-30A60A6C3135}"/>
              </a:ext>
            </a:extLst>
          </p:cNvPr>
          <p:cNvCxnSpPr>
            <a:cxnSpLocks/>
            <a:stCxn id="321" idx="2"/>
          </p:cNvCxnSpPr>
          <p:nvPr/>
        </p:nvCxnSpPr>
        <p:spPr>
          <a:xfrm flipH="1">
            <a:off x="8964096" y="2241182"/>
            <a:ext cx="1096115" cy="3333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 Box 151">
            <a:extLst>
              <a:ext uri="{FF2B5EF4-FFF2-40B4-BE49-F238E27FC236}">
                <a16:creationId xmlns:a16="http://schemas.microsoft.com/office/drawing/2014/main" id="{7813214D-2243-0718-22EE-61634586C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849" y="4848733"/>
            <a:ext cx="57404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351A3CE6-E58F-4D06-A37B-AC267E4B97E7}"/>
              </a:ext>
            </a:extLst>
          </p:cNvPr>
          <p:cNvGrpSpPr/>
          <p:nvPr/>
        </p:nvGrpSpPr>
        <p:grpSpPr>
          <a:xfrm>
            <a:off x="7489787" y="4396110"/>
            <a:ext cx="694445" cy="397285"/>
            <a:chOff x="967835" y="2541918"/>
            <a:chExt cx="1426054" cy="463051"/>
          </a:xfrm>
        </p:grpSpPr>
        <p:grpSp>
          <p:nvGrpSpPr>
            <p:cNvPr id="329" name="Group 93">
              <a:extLst>
                <a:ext uri="{FF2B5EF4-FFF2-40B4-BE49-F238E27FC236}">
                  <a16:creationId xmlns:a16="http://schemas.microsoft.com/office/drawing/2014/main" id="{A36800C4-188C-1B3F-A7A4-D484FC0B83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1" name="Group 94">
                <a:extLst>
                  <a:ext uri="{FF2B5EF4-FFF2-40B4-BE49-F238E27FC236}">
                    <a16:creationId xmlns:a16="http://schemas.microsoft.com/office/drawing/2014/main" id="{5783FADC-D491-362B-74B7-3161C8B67ED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33" name="AutoShape 95">
                  <a:extLst>
                    <a:ext uri="{FF2B5EF4-FFF2-40B4-BE49-F238E27FC236}">
                      <a16:creationId xmlns:a16="http://schemas.microsoft.com/office/drawing/2014/main" id="{EC035339-37BE-D15E-CDEF-7D8388D36BF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4" name="Group 96">
                  <a:extLst>
                    <a:ext uri="{FF2B5EF4-FFF2-40B4-BE49-F238E27FC236}">
                      <a16:creationId xmlns:a16="http://schemas.microsoft.com/office/drawing/2014/main" id="{52FF1AFC-9004-25C5-8B50-3DDC816D5CD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35" name="Group 97">
                    <a:extLst>
                      <a:ext uri="{FF2B5EF4-FFF2-40B4-BE49-F238E27FC236}">
                        <a16:creationId xmlns:a16="http://schemas.microsoft.com/office/drawing/2014/main" id="{88C763B3-5AF5-729A-3A67-E5F89A32ED1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45" name="Freeform 98">
                      <a:extLst>
                        <a:ext uri="{FF2B5EF4-FFF2-40B4-BE49-F238E27FC236}">
                          <a16:creationId xmlns:a16="http://schemas.microsoft.com/office/drawing/2014/main" id="{EFF20735-D993-04B5-9EFF-861E448511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6" name="Freeform 99">
                      <a:extLst>
                        <a:ext uri="{FF2B5EF4-FFF2-40B4-BE49-F238E27FC236}">
                          <a16:creationId xmlns:a16="http://schemas.microsoft.com/office/drawing/2014/main" id="{13E0A6A8-8961-EF07-5D19-6D8A394A72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7" name="Freeform 100">
                      <a:extLst>
                        <a:ext uri="{FF2B5EF4-FFF2-40B4-BE49-F238E27FC236}">
                          <a16:creationId xmlns:a16="http://schemas.microsoft.com/office/drawing/2014/main" id="{A0AB1700-5BFC-1CCA-41BF-D76BBA8926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8" name="Freeform 101">
                      <a:extLst>
                        <a:ext uri="{FF2B5EF4-FFF2-40B4-BE49-F238E27FC236}">
                          <a16:creationId xmlns:a16="http://schemas.microsoft.com/office/drawing/2014/main" id="{904C973E-8D1B-062D-BF44-02B581CE71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9" name="Freeform 102">
                      <a:extLst>
                        <a:ext uri="{FF2B5EF4-FFF2-40B4-BE49-F238E27FC236}">
                          <a16:creationId xmlns:a16="http://schemas.microsoft.com/office/drawing/2014/main" id="{CF7C122C-35D4-EF6A-0AFF-BCE491A310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0" name="Freeform 103">
                      <a:extLst>
                        <a:ext uri="{FF2B5EF4-FFF2-40B4-BE49-F238E27FC236}">
                          <a16:creationId xmlns:a16="http://schemas.microsoft.com/office/drawing/2014/main" id="{94BA8C7D-D2B6-1113-6C57-4064C87A5A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1" name="Freeform 104">
                      <a:extLst>
                        <a:ext uri="{FF2B5EF4-FFF2-40B4-BE49-F238E27FC236}">
                          <a16:creationId xmlns:a16="http://schemas.microsoft.com/office/drawing/2014/main" id="{25D78CE6-F56A-4FF7-45EE-C5C8827A1F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2" name="Freeform 105">
                      <a:extLst>
                        <a:ext uri="{FF2B5EF4-FFF2-40B4-BE49-F238E27FC236}">
                          <a16:creationId xmlns:a16="http://schemas.microsoft.com/office/drawing/2014/main" id="{9AC87AAA-F611-98A6-7E8D-5F8BFAC6C2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36" name="Group 106">
                    <a:extLst>
                      <a:ext uri="{FF2B5EF4-FFF2-40B4-BE49-F238E27FC236}">
                        <a16:creationId xmlns:a16="http://schemas.microsoft.com/office/drawing/2014/main" id="{3CC3B9A0-BBF5-F8CA-EA30-40BA249DEC7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37" name="Freeform 107">
                      <a:extLst>
                        <a:ext uri="{FF2B5EF4-FFF2-40B4-BE49-F238E27FC236}">
                          <a16:creationId xmlns:a16="http://schemas.microsoft.com/office/drawing/2014/main" id="{1D1A0012-849C-D73A-775F-DC170309DA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38" name="Freeform 108">
                      <a:extLst>
                        <a:ext uri="{FF2B5EF4-FFF2-40B4-BE49-F238E27FC236}">
                          <a16:creationId xmlns:a16="http://schemas.microsoft.com/office/drawing/2014/main" id="{8C4A49AB-0F98-D8DF-A857-41C89BF409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39" name="Freeform 109">
                      <a:extLst>
                        <a:ext uri="{FF2B5EF4-FFF2-40B4-BE49-F238E27FC236}">
                          <a16:creationId xmlns:a16="http://schemas.microsoft.com/office/drawing/2014/main" id="{9A9E949B-107F-AB25-4499-A71C62107B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0" name="Freeform 110">
                      <a:extLst>
                        <a:ext uri="{FF2B5EF4-FFF2-40B4-BE49-F238E27FC236}">
                          <a16:creationId xmlns:a16="http://schemas.microsoft.com/office/drawing/2014/main" id="{7AAE07D6-C5B8-A5ED-F57D-5377BD795D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1" name="Freeform 111">
                      <a:extLst>
                        <a:ext uri="{FF2B5EF4-FFF2-40B4-BE49-F238E27FC236}">
                          <a16:creationId xmlns:a16="http://schemas.microsoft.com/office/drawing/2014/main" id="{6692C2E0-C342-6852-A78A-624534DFAF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2" name="Freeform 112">
                      <a:extLst>
                        <a:ext uri="{FF2B5EF4-FFF2-40B4-BE49-F238E27FC236}">
                          <a16:creationId xmlns:a16="http://schemas.microsoft.com/office/drawing/2014/main" id="{E789951E-A2D3-CE26-AFA4-83CC435E70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3" name="Freeform 113">
                      <a:extLst>
                        <a:ext uri="{FF2B5EF4-FFF2-40B4-BE49-F238E27FC236}">
                          <a16:creationId xmlns:a16="http://schemas.microsoft.com/office/drawing/2014/main" id="{29355E21-5089-C523-82C7-6AD5975D20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4" name="Freeform 114">
                      <a:extLst>
                        <a:ext uri="{FF2B5EF4-FFF2-40B4-BE49-F238E27FC236}">
                          <a16:creationId xmlns:a16="http://schemas.microsoft.com/office/drawing/2014/main" id="{2FB51300-C700-751E-F0F7-D00558307D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2" name="WordArt 115">
                <a:extLst>
                  <a:ext uri="{FF2B5EF4-FFF2-40B4-BE49-F238E27FC236}">
                    <a16:creationId xmlns:a16="http://schemas.microsoft.com/office/drawing/2014/main" id="{DF57CF60-79E5-7435-74D5-654A4C39636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30" name="WordArt 68">
              <a:extLst>
                <a:ext uri="{FF2B5EF4-FFF2-40B4-BE49-F238E27FC236}">
                  <a16:creationId xmlns:a16="http://schemas.microsoft.com/office/drawing/2014/main" id="{D4ACA2C0-8007-2B60-BA21-4CC29347CD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err="1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dc_exit</a:t>
              </a:r>
              <a:endParaRPr lang="en-US" sz="11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54" name="Oval 152">
            <a:extLst>
              <a:ext uri="{FF2B5EF4-FFF2-40B4-BE49-F238E27FC236}">
                <a16:creationId xmlns:a16="http://schemas.microsoft.com/office/drawing/2014/main" id="{775CF4EC-E56B-97AE-6665-6DFA8ABC3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372" y="4824172"/>
            <a:ext cx="207225" cy="207225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AC</a:t>
            </a:r>
          </a:p>
        </p:txBody>
      </p:sp>
    </p:spTree>
    <p:extLst>
      <p:ext uri="{BB962C8B-B14F-4D97-AF65-F5344CB8AC3E}">
        <p14:creationId xmlns:p14="http://schemas.microsoft.com/office/powerpoint/2010/main" val="23593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9A6D-C25A-FFFC-7624-8C463399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E3EA-B24A-208A-6FFE-C632BC30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before starting…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0DAF74C-D8F7-F7FC-2E4F-399DA6DBF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lab runs </a:t>
            </a:r>
            <a:r>
              <a:rPr lang="en-US" sz="2800" b="1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K3s</a:t>
            </a:r>
            <a:r>
              <a:rPr lang="en-US" sz="28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 lightweight Kubernetes distribution</a:t>
            </a:r>
          </a:p>
          <a:p>
            <a:pPr lvl="1"/>
            <a:r>
              <a:rPr lang="en-US" sz="24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</a:t>
            </a:r>
            <a:r>
              <a:rPr lang="en-US" sz="2400" i="0" u="none" strike="noStrike" err="1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etcd</a:t>
            </a:r>
            <a:r>
              <a:rPr lang="en-US" sz="24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(replaced with SQLite)</a:t>
            </a:r>
          </a:p>
          <a:p>
            <a:pPr lvl="1"/>
            <a:r>
              <a:rPr lang="en-US" sz="24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preconfigured CNI (Flannel)</a:t>
            </a:r>
          </a:p>
          <a:p>
            <a:r>
              <a:rPr lang="en-US" sz="28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K3s is already configured in the lab</a:t>
            </a:r>
          </a:p>
          <a:p>
            <a:pPr lvl="1"/>
            <a:r>
              <a:rPr lang="en-US" sz="2400" b="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“cloud load balancer” and the Ingress Controller are also configured</a:t>
            </a:r>
          </a:p>
          <a:p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80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 has reachability to the Ingress Controller 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hence, the applications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can access the Ingress Controller using the </a:t>
            </a:r>
            <a:r>
              <a:rPr lang="en-US" sz="240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datacenter.com</a:t>
            </a:r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hostname</a:t>
            </a:r>
            <a:endParaRPr lang="en-US" sz="240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057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1D7A-FE3D-E4B4-CF89-67E1DF8F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6A22-B08D-6536-DF25-672427A1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interacting with K8s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2E79B49-D712-5E9D-BC25-AA1824BD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kubectl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CLI-based tool to interact with the API Server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 cluster status</a:t>
            </a:r>
          </a:p>
          <a:p>
            <a:pPr lvl="1"/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deploy/</a:t>
            </a:r>
            <a:r>
              <a:rPr lang="en-US" sz="240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undeploy</a:t>
            </a:r>
            <a:r>
              <a:rPr lang="en-US" sz="24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/edit resources </a:t>
            </a:r>
          </a:p>
          <a:p>
            <a:pPr lvl="1"/>
            <a:r>
              <a:rPr lang="en-US" sz="24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inspect resources (status, errors, etc.)</a:t>
            </a:r>
          </a:p>
          <a:p>
            <a:pPr lvl="1"/>
            <a:r>
              <a:rPr lang="en-US" sz="24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troubleshoot issues</a:t>
            </a:r>
          </a:p>
          <a:p>
            <a:r>
              <a:rPr lang="en-US" sz="2800" b="0" i="0" u="none" strike="noStrike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kubectl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commonly accessed remotely (from user’s host)</a:t>
            </a:r>
          </a:p>
          <a:p>
            <a:r>
              <a:rPr lang="en-US" sz="2800" i="0" u="none" strike="noStrike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lab, we will access </a:t>
            </a:r>
            <a:r>
              <a:rPr lang="en-US" sz="2800" b="0" i="0" u="none" strike="noStrike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kubectl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through the </a:t>
            </a:r>
            <a:r>
              <a:rPr lang="en-US" sz="280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US" sz="2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node</a:t>
            </a:r>
            <a:endParaRPr lang="en-US" sz="2800" i="0" u="none" strike="noStrike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773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83CC-E2F3-F047-B4C8-60D03910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7290-820F-8A90-AA84-89FD9AE6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goal of the lab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31671A7-C470-BA97-B591-988E4C4B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to deploy two microservices</a:t>
            </a:r>
          </a:p>
          <a:p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</a:t>
            </a:r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retrieves 5 random words </a:t>
            </a:r>
          </a:p>
          <a:p>
            <a:pPr lvl="1"/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words are taken from a PostgreSQL </a:t>
            </a:r>
            <a:r>
              <a:rPr lang="en-US" sz="2400" dirty="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en-US" sz="2400" dirty="0">
              <a:solidFill>
                <a:srgbClr val="3333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</a:t>
            </a:r>
            <a:r>
              <a:rPr lang="en-US" sz="24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shou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ld be accessible by sending an HTTP request to </a:t>
            </a:r>
            <a:r>
              <a:rPr lang="en-US" sz="24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/word</a:t>
            </a:r>
            <a:endParaRPr lang="en-US" sz="2400" dirty="0">
              <a:solidFill>
                <a:srgbClr val="3333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</a:t>
            </a:r>
            <a:r>
              <a:rPr lang="en-US" sz="28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tomorrow’s weather forecast of European citie</a:t>
            </a:r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</a:p>
          <a:p>
            <a:pPr lvl="1"/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forecasts are taken from a PostgreSQL </a:t>
            </a:r>
            <a:r>
              <a:rPr lang="en-US" sz="2400" dirty="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en-US" sz="2400" i="0" u="none" strike="noStrike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shou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ld be accessible by sending an HTTP request to </a:t>
            </a:r>
            <a:r>
              <a:rPr lang="en-US" sz="24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/weather</a:t>
            </a:r>
          </a:p>
        </p:txBody>
      </p:sp>
    </p:spTree>
    <p:extLst>
      <p:ext uri="{BB962C8B-B14F-4D97-AF65-F5344CB8AC3E}">
        <p14:creationId xmlns:p14="http://schemas.microsoft.com/office/powerpoint/2010/main" val="1890259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9403-1094-77CB-E536-EB3D3711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41C5-FF66-9F6B-0F47-EE1FC5AE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 of the deployment</a:t>
            </a:r>
          </a:p>
        </p:txBody>
      </p:sp>
      <p:pic>
        <p:nvPicPr>
          <p:cNvPr id="7" name="Picture 6" descr="A blue hexagon with white arrows&#10;&#10;Description automatically generated">
            <a:extLst>
              <a:ext uri="{FF2B5EF4-FFF2-40B4-BE49-F238E27FC236}">
                <a16:creationId xmlns:a16="http://schemas.microsoft.com/office/drawing/2014/main" id="{6D22E7C7-1EDD-095A-B396-66B67ADB8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146" y="1452060"/>
            <a:ext cx="524702" cy="51035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740E91-46D1-8AFE-C9BA-4E73F7F0C506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5143848" y="1707237"/>
            <a:ext cx="1640770" cy="4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B2700B-6A60-4941-97A9-2EE4A498D84D}"/>
              </a:ext>
            </a:extLst>
          </p:cNvPr>
          <p:cNvSpPr txBox="1"/>
          <p:nvPr/>
        </p:nvSpPr>
        <p:spPr>
          <a:xfrm>
            <a:off x="5367711" y="1368968"/>
            <a:ext cx="1119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path: /word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472B2-80EF-236E-C92A-57783B88F64A}"/>
              </a:ext>
            </a:extLst>
          </p:cNvPr>
          <p:cNvCxnSpPr>
            <a:cxnSpLocks/>
            <a:stCxn id="140" idx="3"/>
            <a:endCxn id="109" idx="1"/>
          </p:cNvCxnSpPr>
          <p:nvPr/>
        </p:nvCxnSpPr>
        <p:spPr>
          <a:xfrm>
            <a:off x="5143848" y="4515966"/>
            <a:ext cx="1640770" cy="53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46AD8EA-7DBE-C7F9-AFC8-E9B276E7E360}"/>
              </a:ext>
            </a:extLst>
          </p:cNvPr>
          <p:cNvSpPr txBox="1"/>
          <p:nvPr/>
        </p:nvSpPr>
        <p:spPr>
          <a:xfrm>
            <a:off x="5254429" y="4184570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path: /weather</a:t>
            </a:r>
          </a:p>
        </p:txBody>
      </p:sp>
      <p:pic>
        <p:nvPicPr>
          <p:cNvPr id="11" name="Picture 10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D97B934A-3758-8FE3-161F-6D05C6240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618" y="1509484"/>
            <a:ext cx="415144" cy="40379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4EF240-02B4-FBE4-CC4A-B002674F6760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7199762" y="1457108"/>
            <a:ext cx="501564" cy="2542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BAF741-5819-6930-7A16-48A2B0D41680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7199762" y="1711381"/>
            <a:ext cx="501563" cy="201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9CA85DFC-FFAB-0AD8-9C63-F5476CF79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26" y="1253830"/>
            <a:ext cx="417987" cy="406558"/>
          </a:xfrm>
          <a:prstGeom prst="rect">
            <a:avLst/>
          </a:prstGeom>
        </p:spPr>
      </p:pic>
      <p:pic>
        <p:nvPicPr>
          <p:cNvPr id="27" name="Picture 26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533531AA-F1A1-FB83-9C9D-1F7D9DCE90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26" y="1709518"/>
            <a:ext cx="417987" cy="4065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82BC0AE-0106-9B74-E691-2A173ABA9E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067" y="1477774"/>
            <a:ext cx="415144" cy="403793"/>
          </a:xfrm>
          <a:prstGeom prst="rect">
            <a:avLst/>
          </a:prstGeom>
        </p:spPr>
      </p:pic>
      <p:sp>
        <p:nvSpPr>
          <p:cNvPr id="32" name="Right Brace 31">
            <a:extLst>
              <a:ext uri="{FF2B5EF4-FFF2-40B4-BE49-F238E27FC236}">
                <a16:creationId xmlns:a16="http://schemas.microsoft.com/office/drawing/2014/main" id="{16707D85-A316-9EFE-2222-81FF068A684C}"/>
              </a:ext>
            </a:extLst>
          </p:cNvPr>
          <p:cNvSpPr/>
          <p:nvPr/>
        </p:nvSpPr>
        <p:spPr>
          <a:xfrm>
            <a:off x="8175487" y="1247433"/>
            <a:ext cx="124559" cy="866898"/>
          </a:xfrm>
          <a:prstGeom prst="rightBrac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94A0EE-B407-9CE7-7EC9-414E9530758E}"/>
              </a:ext>
            </a:extLst>
          </p:cNvPr>
          <p:cNvCxnSpPr>
            <a:cxnSpLocks/>
            <a:stCxn id="31" idx="1"/>
            <a:endCxn id="32" idx="1"/>
          </p:cNvCxnSpPr>
          <p:nvPr/>
        </p:nvCxnSpPr>
        <p:spPr>
          <a:xfrm flipH="1">
            <a:off x="8300046" y="1679671"/>
            <a:ext cx="386021" cy="121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171F2755-C8B4-014C-3EE9-F39901C97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119" y="2534154"/>
            <a:ext cx="415144" cy="403792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B53D99-01DB-24EF-0FF6-D088CE5AA4D2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7206263" y="2736050"/>
            <a:ext cx="501563" cy="37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EC337BF0-A25E-16E8-B851-224699CAD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27" y="2536514"/>
            <a:ext cx="417987" cy="4065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EA6AE00-A85E-2BDC-378C-356C200E3E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147" y="2521464"/>
            <a:ext cx="415144" cy="403793"/>
          </a:xfrm>
          <a:prstGeom prst="rect">
            <a:avLst/>
          </a:prstGeom>
        </p:spPr>
      </p:pic>
      <p:sp>
        <p:nvSpPr>
          <p:cNvPr id="43" name="Right Brace 42">
            <a:extLst>
              <a:ext uri="{FF2B5EF4-FFF2-40B4-BE49-F238E27FC236}">
                <a16:creationId xmlns:a16="http://schemas.microsoft.com/office/drawing/2014/main" id="{0888BC74-1038-9BAA-2D0F-E5082444CA41}"/>
              </a:ext>
            </a:extLst>
          </p:cNvPr>
          <p:cNvSpPr/>
          <p:nvPr/>
        </p:nvSpPr>
        <p:spPr>
          <a:xfrm>
            <a:off x="8181988" y="2503651"/>
            <a:ext cx="124559" cy="439420"/>
          </a:xfrm>
          <a:prstGeom prst="rightBrac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DF069FE-16A1-0FE3-524E-57E8EF8EEE51}"/>
              </a:ext>
            </a:extLst>
          </p:cNvPr>
          <p:cNvCxnSpPr>
            <a:cxnSpLocks/>
            <a:stCxn id="42" idx="1"/>
            <a:endCxn id="43" idx="1"/>
          </p:cNvCxnSpPr>
          <p:nvPr/>
        </p:nvCxnSpPr>
        <p:spPr>
          <a:xfrm flipH="1">
            <a:off x="8306546" y="2723361"/>
            <a:ext cx="34960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3E6F881-07AE-EAF9-B5C5-EC28C253C7BE}"/>
              </a:ext>
            </a:extLst>
          </p:cNvPr>
          <p:cNvSpPr/>
          <p:nvPr/>
        </p:nvSpPr>
        <p:spPr>
          <a:xfrm>
            <a:off x="4490363" y="1163939"/>
            <a:ext cx="5733136" cy="2464097"/>
          </a:xfrm>
          <a:prstGeom prst="rect">
            <a:avLst/>
          </a:prstGeom>
          <a:noFill/>
          <a:ln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DD68C7-EDC9-EFAE-E009-98F70E8C0563}"/>
              </a:ext>
            </a:extLst>
          </p:cNvPr>
          <p:cNvSpPr txBox="1"/>
          <p:nvPr/>
        </p:nvSpPr>
        <p:spPr>
          <a:xfrm>
            <a:off x="9075497" y="1555564"/>
            <a:ext cx="860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word-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dply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E7A522-4DD6-6C83-1D74-92730143D5A2}"/>
              </a:ext>
            </a:extLst>
          </p:cNvPr>
          <p:cNvSpPr txBox="1"/>
          <p:nvPr/>
        </p:nvSpPr>
        <p:spPr>
          <a:xfrm>
            <a:off x="6736956" y="1235083"/>
            <a:ext cx="522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CF3A271-6F85-67CB-E3CD-AB9A3F1FE1A6}"/>
              </a:ext>
            </a:extLst>
          </p:cNvPr>
          <p:cNvSpPr txBox="1"/>
          <p:nvPr/>
        </p:nvSpPr>
        <p:spPr>
          <a:xfrm>
            <a:off x="6651207" y="2268029"/>
            <a:ext cx="692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worddb</a:t>
            </a:r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12EFF5-B9E9-0CA4-E2C4-CCD99111AED7}"/>
              </a:ext>
            </a:extLst>
          </p:cNvPr>
          <p:cNvSpPr txBox="1"/>
          <p:nvPr/>
        </p:nvSpPr>
        <p:spPr>
          <a:xfrm>
            <a:off x="9025984" y="2828025"/>
            <a:ext cx="1030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worddb-dply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6" name="Picture 85" descr="A blue hexagon with white outline and a square in center&#10;&#10;Description automatically generated">
            <a:extLst>
              <a:ext uri="{FF2B5EF4-FFF2-40B4-BE49-F238E27FC236}">
                <a16:creationId xmlns:a16="http://schemas.microsoft.com/office/drawing/2014/main" id="{6DE4133F-62AD-CAD7-DFA0-C2F0429AA1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926" y="1166074"/>
            <a:ext cx="415146" cy="40379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29AF43D-3A0F-CC74-D759-E46863ED1D7F}"/>
              </a:ext>
            </a:extLst>
          </p:cNvPr>
          <p:cNvSpPr txBox="1"/>
          <p:nvPr/>
        </p:nvSpPr>
        <p:spPr>
          <a:xfrm>
            <a:off x="10439872" y="1235720"/>
            <a:ext cx="733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word-ns</a:t>
            </a:r>
          </a:p>
        </p:txBody>
      </p:sp>
      <p:pic>
        <p:nvPicPr>
          <p:cNvPr id="101" name="Picture 100" descr="A blue hexagon with white outline and white text&#10;&#10;Description automatically generated">
            <a:extLst>
              <a:ext uri="{FF2B5EF4-FFF2-40B4-BE49-F238E27FC236}">
                <a16:creationId xmlns:a16="http://schemas.microsoft.com/office/drawing/2014/main" id="{37A891FC-A5F4-8C95-F85E-E4143514C9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328" y="3131590"/>
            <a:ext cx="411485" cy="400234"/>
          </a:xfrm>
          <a:prstGeom prst="rect">
            <a:avLst/>
          </a:prstGeom>
        </p:spPr>
      </p:pic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766DBA2-73E9-A0F4-C3D1-24475A59D091}"/>
              </a:ext>
            </a:extLst>
          </p:cNvPr>
          <p:cNvCxnSpPr>
            <a:cxnSpLocks/>
            <a:stCxn id="41" idx="2"/>
            <a:endCxn id="101" idx="0"/>
          </p:cNvCxnSpPr>
          <p:nvPr/>
        </p:nvCxnSpPr>
        <p:spPr>
          <a:xfrm>
            <a:off x="7916821" y="2943072"/>
            <a:ext cx="3250" cy="1885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0A4D5305-1240-7F23-BC41-6FF04EDEEAF7}"/>
              </a:ext>
            </a:extLst>
          </p:cNvPr>
          <p:cNvSpPr txBox="1"/>
          <p:nvPr/>
        </p:nvSpPr>
        <p:spPr>
          <a:xfrm>
            <a:off x="8137893" y="3159104"/>
            <a:ext cx="980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worddb-pvc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9" name="Picture 108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DE36629A-259C-1D67-9EA9-7F41E0E57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618" y="4319432"/>
            <a:ext cx="415144" cy="403792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193B7C6-8C70-0F36-886F-91AAEF77F0F0}"/>
              </a:ext>
            </a:extLst>
          </p:cNvPr>
          <p:cNvCxnSpPr>
            <a:cxnSpLocks/>
            <a:stCxn id="109" idx="3"/>
            <a:endCxn id="112" idx="1"/>
          </p:cNvCxnSpPr>
          <p:nvPr/>
        </p:nvCxnSpPr>
        <p:spPr>
          <a:xfrm flipV="1">
            <a:off x="7199762" y="4267056"/>
            <a:ext cx="501564" cy="2542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C24348-5969-418C-0045-65A13A4D6826}"/>
              </a:ext>
            </a:extLst>
          </p:cNvPr>
          <p:cNvCxnSpPr>
            <a:cxnSpLocks/>
            <a:stCxn id="109" idx="3"/>
            <a:endCxn id="113" idx="1"/>
          </p:cNvCxnSpPr>
          <p:nvPr/>
        </p:nvCxnSpPr>
        <p:spPr>
          <a:xfrm>
            <a:off x="7199762" y="4521329"/>
            <a:ext cx="501563" cy="201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Picture 111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C95D2008-3303-C66D-16FE-C0F2B9504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26" y="4063778"/>
            <a:ext cx="417987" cy="406558"/>
          </a:xfrm>
          <a:prstGeom prst="rect">
            <a:avLst/>
          </a:prstGeom>
        </p:spPr>
      </p:pic>
      <p:pic>
        <p:nvPicPr>
          <p:cNvPr id="113" name="Picture 112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1A41F022-722D-0085-12B3-A0F33BEFE3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26" y="4519466"/>
            <a:ext cx="417987" cy="406558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08245BE-9697-536B-5061-4B202FF662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646" y="4285400"/>
            <a:ext cx="415144" cy="403793"/>
          </a:xfrm>
          <a:prstGeom prst="rect">
            <a:avLst/>
          </a:prstGeom>
        </p:spPr>
      </p:pic>
      <p:sp>
        <p:nvSpPr>
          <p:cNvPr id="115" name="Right Brace 114">
            <a:extLst>
              <a:ext uri="{FF2B5EF4-FFF2-40B4-BE49-F238E27FC236}">
                <a16:creationId xmlns:a16="http://schemas.microsoft.com/office/drawing/2014/main" id="{2668FD4E-7E82-DCF2-A84C-D363C998C017}"/>
              </a:ext>
            </a:extLst>
          </p:cNvPr>
          <p:cNvSpPr/>
          <p:nvPr/>
        </p:nvSpPr>
        <p:spPr>
          <a:xfrm>
            <a:off x="8175487" y="4057381"/>
            <a:ext cx="124559" cy="863081"/>
          </a:xfrm>
          <a:prstGeom prst="rightBrac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DB57087-2DF5-6836-8445-5761EF43FC31}"/>
              </a:ext>
            </a:extLst>
          </p:cNvPr>
          <p:cNvCxnSpPr>
            <a:cxnSpLocks/>
            <a:stCxn id="114" idx="1"/>
            <a:endCxn id="115" idx="1"/>
          </p:cNvCxnSpPr>
          <p:nvPr/>
        </p:nvCxnSpPr>
        <p:spPr>
          <a:xfrm flipH="1">
            <a:off x="8300046" y="4487297"/>
            <a:ext cx="349600" cy="16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A blue hexagon with white text and white squares&#10;&#10;Description automatically generated">
            <a:extLst>
              <a:ext uri="{FF2B5EF4-FFF2-40B4-BE49-F238E27FC236}">
                <a16:creationId xmlns:a16="http://schemas.microsoft.com/office/drawing/2014/main" id="{014F3FD8-7B82-349C-3B9E-D28066895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617" y="5460181"/>
            <a:ext cx="415144" cy="403792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9FD6062-57F0-80BC-8B36-8A0EC4B7B479}"/>
              </a:ext>
            </a:extLst>
          </p:cNvPr>
          <p:cNvCxnSpPr>
            <a:cxnSpLocks/>
            <a:stCxn id="117" idx="3"/>
            <a:endCxn id="121" idx="1"/>
          </p:cNvCxnSpPr>
          <p:nvPr/>
        </p:nvCxnSpPr>
        <p:spPr>
          <a:xfrm>
            <a:off x="7199761" y="5662077"/>
            <a:ext cx="501563" cy="37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Picture 120" descr="A blue hexagon with white text and a cube&#10;&#10;Description automatically generated">
            <a:extLst>
              <a:ext uri="{FF2B5EF4-FFF2-40B4-BE49-F238E27FC236}">
                <a16:creationId xmlns:a16="http://schemas.microsoft.com/office/drawing/2014/main" id="{3CB30A56-40B6-5373-C580-D2B07C0B8E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25" y="5462541"/>
            <a:ext cx="417987" cy="40655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3FCBFDBB-DCC2-8764-6A04-4E9416687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645" y="5447491"/>
            <a:ext cx="415144" cy="403793"/>
          </a:xfrm>
          <a:prstGeom prst="rect">
            <a:avLst/>
          </a:prstGeom>
        </p:spPr>
      </p:pic>
      <p:sp>
        <p:nvSpPr>
          <p:cNvPr id="123" name="Right Brace 122">
            <a:extLst>
              <a:ext uri="{FF2B5EF4-FFF2-40B4-BE49-F238E27FC236}">
                <a16:creationId xmlns:a16="http://schemas.microsoft.com/office/drawing/2014/main" id="{769FCF7F-9572-4E69-10D7-4C2F5BDC3BF3}"/>
              </a:ext>
            </a:extLst>
          </p:cNvPr>
          <p:cNvSpPr/>
          <p:nvPr/>
        </p:nvSpPr>
        <p:spPr>
          <a:xfrm>
            <a:off x="8175486" y="5429678"/>
            <a:ext cx="124559" cy="439420"/>
          </a:xfrm>
          <a:prstGeom prst="rightBrac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5462EF0-7F9F-F15A-6BE9-AA11C6538E2A}"/>
              </a:ext>
            </a:extLst>
          </p:cNvPr>
          <p:cNvCxnSpPr>
            <a:cxnSpLocks/>
            <a:stCxn id="122" idx="1"/>
            <a:endCxn id="123" idx="1"/>
          </p:cNvCxnSpPr>
          <p:nvPr/>
        </p:nvCxnSpPr>
        <p:spPr>
          <a:xfrm flipH="1">
            <a:off x="8300044" y="5649388"/>
            <a:ext cx="34960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5BFE2BB-52C8-DB73-B373-A50CC7B8AFB9}"/>
              </a:ext>
            </a:extLst>
          </p:cNvPr>
          <p:cNvSpPr/>
          <p:nvPr/>
        </p:nvSpPr>
        <p:spPr>
          <a:xfrm>
            <a:off x="4490363" y="3973888"/>
            <a:ext cx="5733136" cy="2583030"/>
          </a:xfrm>
          <a:prstGeom prst="rect">
            <a:avLst/>
          </a:prstGeom>
          <a:noFill/>
          <a:ln>
            <a:solidFill>
              <a:srgbClr val="92D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A4B3B66-1054-6E0C-0D3B-D69E352AE5AD}"/>
              </a:ext>
            </a:extLst>
          </p:cNvPr>
          <p:cNvSpPr txBox="1"/>
          <p:nvPr/>
        </p:nvSpPr>
        <p:spPr>
          <a:xfrm>
            <a:off x="9028438" y="4363190"/>
            <a:ext cx="1072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weather-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dply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F929B66-B6F9-82B4-244F-0E97D95FA932}"/>
              </a:ext>
            </a:extLst>
          </p:cNvPr>
          <p:cNvSpPr txBox="1"/>
          <p:nvPr/>
        </p:nvSpPr>
        <p:spPr>
          <a:xfrm>
            <a:off x="6629972" y="4045031"/>
            <a:ext cx="7361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EC3A666-A067-EF2A-A4F5-BF62586E9026}"/>
              </a:ext>
            </a:extLst>
          </p:cNvPr>
          <p:cNvSpPr txBox="1"/>
          <p:nvPr/>
        </p:nvSpPr>
        <p:spPr>
          <a:xfrm>
            <a:off x="6538105" y="5194056"/>
            <a:ext cx="905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weatherdb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CB9E6C-CE76-200C-4C10-E1505157570D}"/>
              </a:ext>
            </a:extLst>
          </p:cNvPr>
          <p:cNvSpPr txBox="1"/>
          <p:nvPr/>
        </p:nvSpPr>
        <p:spPr>
          <a:xfrm>
            <a:off x="8982414" y="5512200"/>
            <a:ext cx="1292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weatherdb-dply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0" name="Picture 129" descr="A blue hexagon with white outline and a square in center&#10;&#10;Description automatically generated">
            <a:extLst>
              <a:ext uri="{FF2B5EF4-FFF2-40B4-BE49-F238E27FC236}">
                <a16:creationId xmlns:a16="http://schemas.microsoft.com/office/drawing/2014/main" id="{9E276F10-58F1-F9D1-7F2B-DE2E7B7EED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926" y="3976022"/>
            <a:ext cx="415146" cy="40379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341546E7-D7A0-D7E5-82A6-240C811AD5F8}"/>
              </a:ext>
            </a:extLst>
          </p:cNvPr>
          <p:cNvSpPr txBox="1"/>
          <p:nvPr/>
        </p:nvSpPr>
        <p:spPr>
          <a:xfrm>
            <a:off x="10365716" y="4045668"/>
            <a:ext cx="945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weather-ns</a:t>
            </a:r>
          </a:p>
        </p:txBody>
      </p:sp>
      <p:pic>
        <p:nvPicPr>
          <p:cNvPr id="132" name="Picture 131" descr="A blue hexagon with white outline and white text&#10;&#10;Description automatically generated">
            <a:extLst>
              <a:ext uri="{FF2B5EF4-FFF2-40B4-BE49-F238E27FC236}">
                <a16:creationId xmlns:a16="http://schemas.microsoft.com/office/drawing/2014/main" id="{888D5A99-61BC-A92B-ADC9-E3023AA08F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26" y="6057617"/>
            <a:ext cx="411485" cy="400234"/>
          </a:xfrm>
          <a:prstGeom prst="rect">
            <a:avLst/>
          </a:prstGeom>
        </p:spPr>
      </p:pic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7A67BE5-C558-0192-965B-F7E11FE6DBFB}"/>
              </a:ext>
            </a:extLst>
          </p:cNvPr>
          <p:cNvCxnSpPr>
            <a:cxnSpLocks/>
            <a:stCxn id="121" idx="2"/>
            <a:endCxn id="132" idx="0"/>
          </p:cNvCxnSpPr>
          <p:nvPr/>
        </p:nvCxnSpPr>
        <p:spPr>
          <a:xfrm>
            <a:off x="7910319" y="5869099"/>
            <a:ext cx="3250" cy="1885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EAB8CB67-E7AB-AFA9-B779-ADC068BEF0AB}"/>
              </a:ext>
            </a:extLst>
          </p:cNvPr>
          <p:cNvSpPr txBox="1"/>
          <p:nvPr/>
        </p:nvSpPr>
        <p:spPr>
          <a:xfrm>
            <a:off x="8024791" y="6085131"/>
            <a:ext cx="1193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weatherdb-pvc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0" name="Picture 139" descr="A blue hexagon with white arrows&#10;&#10;Description automatically generated">
            <a:extLst>
              <a:ext uri="{FF2B5EF4-FFF2-40B4-BE49-F238E27FC236}">
                <a16:creationId xmlns:a16="http://schemas.microsoft.com/office/drawing/2014/main" id="{9D2336BE-8195-5714-D86C-E090DE9B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146" y="4260789"/>
            <a:ext cx="524702" cy="510354"/>
          </a:xfrm>
          <a:prstGeom prst="rect">
            <a:avLst/>
          </a:prstGeom>
        </p:spPr>
      </p:pic>
      <p:cxnSp>
        <p:nvCxnSpPr>
          <p:cNvPr id="144" name="Curved Connector 143">
            <a:extLst>
              <a:ext uri="{FF2B5EF4-FFF2-40B4-BE49-F238E27FC236}">
                <a16:creationId xmlns:a16="http://schemas.microsoft.com/office/drawing/2014/main" id="{CD50F9B1-A81D-94A9-4C72-98041825253C}"/>
              </a:ext>
            </a:extLst>
          </p:cNvPr>
          <p:cNvCxnSpPr>
            <a:stCxn id="11" idx="2"/>
            <a:endCxn id="37" idx="1"/>
          </p:cNvCxnSpPr>
          <p:nvPr/>
        </p:nvCxnSpPr>
        <p:spPr>
          <a:xfrm rot="5400000">
            <a:off x="6480268" y="2224128"/>
            <a:ext cx="822774" cy="201071"/>
          </a:xfrm>
          <a:prstGeom prst="curvedConnector4">
            <a:avLst>
              <a:gd name="adj1" fmla="val 37731"/>
              <a:gd name="adj2" fmla="val 213691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urved Connector 144">
            <a:extLst>
              <a:ext uri="{FF2B5EF4-FFF2-40B4-BE49-F238E27FC236}">
                <a16:creationId xmlns:a16="http://schemas.microsoft.com/office/drawing/2014/main" id="{4CE0B518-AD1C-892D-F06B-41EE6A789601}"/>
              </a:ext>
            </a:extLst>
          </p:cNvPr>
          <p:cNvCxnSpPr>
            <a:cxnSpLocks/>
            <a:stCxn id="109" idx="2"/>
            <a:endCxn id="117" idx="1"/>
          </p:cNvCxnSpPr>
          <p:nvPr/>
        </p:nvCxnSpPr>
        <p:spPr>
          <a:xfrm rot="5400000">
            <a:off x="6418978" y="5088864"/>
            <a:ext cx="938853" cy="207573"/>
          </a:xfrm>
          <a:prstGeom prst="curvedConnector4">
            <a:avLst>
              <a:gd name="adj1" fmla="val 39248"/>
              <a:gd name="adj2" fmla="val 210130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8" name="Graphic 147" descr="Laptop with solid fill">
            <a:extLst>
              <a:ext uri="{FF2B5EF4-FFF2-40B4-BE49-F238E27FC236}">
                <a16:creationId xmlns:a16="http://schemas.microsoft.com/office/drawing/2014/main" id="{D2BEEFA8-7016-5C6A-AB3F-4DAE4B8C9A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5622" y="2644955"/>
            <a:ext cx="693690" cy="693690"/>
          </a:xfrm>
          <a:prstGeom prst="rect">
            <a:avLst/>
          </a:prstGeom>
        </p:spPr>
      </p:pic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0C2162D-28CB-D1AF-8242-1D97DE5D1828}"/>
              </a:ext>
            </a:extLst>
          </p:cNvPr>
          <p:cNvCxnSpPr>
            <a:cxnSpLocks/>
            <a:stCxn id="148" idx="3"/>
            <a:endCxn id="150" idx="1"/>
          </p:cNvCxnSpPr>
          <p:nvPr/>
        </p:nvCxnSpPr>
        <p:spPr>
          <a:xfrm>
            <a:off x="949312" y="2991800"/>
            <a:ext cx="6863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 descr="A blue circle with black squares and arrows&#10;&#10;Description automatically generated">
            <a:extLst>
              <a:ext uri="{FF2B5EF4-FFF2-40B4-BE49-F238E27FC236}">
                <a16:creationId xmlns:a16="http://schemas.microsoft.com/office/drawing/2014/main" id="{4FFB6C24-513E-292E-8E1C-134A225A02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30" y="2574589"/>
            <a:ext cx="834422" cy="834422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A641CD2B-29DD-9CB0-0C06-0BB121418253}"/>
              </a:ext>
            </a:extLst>
          </p:cNvPr>
          <p:cNvSpPr txBox="1"/>
          <p:nvPr/>
        </p:nvSpPr>
        <p:spPr>
          <a:xfrm>
            <a:off x="1224088" y="3436722"/>
            <a:ext cx="165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 balancer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(managed by the lab)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94AC819-99A4-EA61-FC07-8D2DC45F6DE1}"/>
              </a:ext>
            </a:extLst>
          </p:cNvPr>
          <p:cNvSpPr/>
          <p:nvPr/>
        </p:nvSpPr>
        <p:spPr>
          <a:xfrm>
            <a:off x="3013709" y="2598775"/>
            <a:ext cx="999461" cy="7966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Ingress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Controller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F43E9D0-4AF9-4879-C8FF-562E258D0E13}"/>
              </a:ext>
            </a:extLst>
          </p:cNvPr>
          <p:cNvCxnSpPr>
            <a:cxnSpLocks/>
            <a:stCxn id="150" idx="3"/>
            <a:endCxn id="154" idx="1"/>
          </p:cNvCxnSpPr>
          <p:nvPr/>
        </p:nvCxnSpPr>
        <p:spPr>
          <a:xfrm>
            <a:off x="2470052" y="2991800"/>
            <a:ext cx="543657" cy="53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9CFD4EF-9585-9382-F2DE-6A670A3032C2}"/>
              </a:ext>
            </a:extLst>
          </p:cNvPr>
          <p:cNvCxnSpPr>
            <a:cxnSpLocks/>
            <a:stCxn id="154" idx="3"/>
            <a:endCxn id="7" idx="2"/>
          </p:cNvCxnSpPr>
          <p:nvPr/>
        </p:nvCxnSpPr>
        <p:spPr>
          <a:xfrm flipV="1">
            <a:off x="4013170" y="1962414"/>
            <a:ext cx="868327" cy="10347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E67346A-683C-5E97-A438-33CCA71F59BF}"/>
              </a:ext>
            </a:extLst>
          </p:cNvPr>
          <p:cNvCxnSpPr>
            <a:cxnSpLocks/>
            <a:stCxn id="154" idx="3"/>
            <a:endCxn id="140" idx="0"/>
          </p:cNvCxnSpPr>
          <p:nvPr/>
        </p:nvCxnSpPr>
        <p:spPr>
          <a:xfrm>
            <a:off x="4013170" y="2997119"/>
            <a:ext cx="868327" cy="12636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072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68684-83FA-1208-33EB-ADA80132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B84B-47E8-D052-8D85-0C9CE8E0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 of the deployment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A4B7222-32E9-6E08-9624-8452A8A4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images of the two microservices are already provided</a:t>
            </a:r>
          </a:p>
          <a:p>
            <a:pPr lvl="1"/>
            <a:r>
              <a:rPr lang="en-US" sz="24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ik2227/words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the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microservice</a:t>
            </a:r>
          </a:p>
          <a:p>
            <a:pPr lvl="1"/>
            <a:r>
              <a:rPr lang="en-US" sz="240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ik2227/</a:t>
            </a:r>
            <a:r>
              <a:rPr lang="en-US" sz="24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the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microservice</a:t>
            </a:r>
          </a:p>
          <a:p>
            <a:r>
              <a:rPr lang="en-US" sz="28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use the </a:t>
            </a:r>
            <a:r>
              <a:rPr lang="en-US" sz="2800" i="0" u="none" strike="noStrike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postgresql</a:t>
            </a:r>
            <a:r>
              <a:rPr lang="en-US" sz="28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image for the databases</a:t>
            </a: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application connects and populates the </a:t>
            </a:r>
            <a:r>
              <a:rPr lang="en-US" sz="2800" dirty="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automatically</a:t>
            </a:r>
          </a:p>
          <a:p>
            <a:pPr lvl="1"/>
            <a:r>
              <a:rPr lang="en-US" sz="24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do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n’t have to configure it! 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</a:t>
            </a:r>
            <a:endParaRPr lang="en-US" sz="2400" i="0" u="none" strike="noStrike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information in each task</a:t>
            </a:r>
          </a:p>
        </p:txBody>
      </p:sp>
    </p:spTree>
    <p:extLst>
      <p:ext uri="{BB962C8B-B14F-4D97-AF65-F5344CB8AC3E}">
        <p14:creationId xmlns:p14="http://schemas.microsoft.com/office/powerpoint/2010/main" val="1851994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44BF-8585-0877-B715-99E09D37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77ED-E402-6442-27CA-560F2046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5C78CC-706D-301B-CF41-96159F6E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71092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lstart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--privileged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B24C-A8B7-88F2-F089-47708C5F5B57}"/>
              </a:ext>
            </a:extLst>
          </p:cNvPr>
          <p:cNvSpPr txBox="1"/>
          <p:nvPr/>
        </p:nvSpPr>
        <p:spPr>
          <a:xfrm>
            <a:off x="6677372" y="3912592"/>
            <a:ext cx="3031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devices with full root privileges (required by K8s)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44187889-FA21-3F53-5A78-97DB368F58AE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7742713" y="3183869"/>
            <a:ext cx="450513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AA24F9-D240-2FA7-FBB4-17488AF0FBDE}"/>
              </a:ext>
            </a:extLst>
          </p:cNvPr>
          <p:cNvSpPr txBox="1"/>
          <p:nvPr/>
        </p:nvSpPr>
        <p:spPr>
          <a:xfrm>
            <a:off x="3064293" y="3912592"/>
            <a:ext cx="3031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Kathará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requires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sudo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run in privileged mode</a:t>
            </a:r>
          </a:p>
        </p:txBody>
      </p:sp>
      <p:cxnSp>
        <p:nvCxnSpPr>
          <p:cNvPr id="7" name="Straight Arrow Connector 8">
            <a:extLst>
              <a:ext uri="{FF2B5EF4-FFF2-40B4-BE49-F238E27FC236}">
                <a16:creationId xmlns:a16="http://schemas.microsoft.com/office/drawing/2014/main" id="{AB5DB188-3365-1723-FED7-09C40F16331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580147" y="3183869"/>
            <a:ext cx="3084374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4EAECC-9ECA-6591-64A9-9D38F3A45C6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188396" y="3142673"/>
            <a:ext cx="2391751" cy="769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548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7762-AD22-B356-327A-EC886B60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AA-0E79-C639-87B6-4899150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verify K8s status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8B1F648-CC78-8B80-991B-A2DA2D27A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lvl="1"/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suggestion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connect into it instead of using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xterm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lab directory terminal: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kathara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connect controller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override the startup message by pressing [ENTER]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check that all the workers have joined the cluster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7151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get nodes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should see the controller and 5 workers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not, to update the status live:</a:t>
            </a:r>
          </a:p>
          <a:p>
            <a:pPr marL="0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watch "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get nodes"</a:t>
            </a:r>
          </a:p>
        </p:txBody>
      </p:sp>
    </p:spTree>
    <p:extLst>
      <p:ext uri="{BB962C8B-B14F-4D97-AF65-F5344CB8AC3E}">
        <p14:creationId xmlns:p14="http://schemas.microsoft.com/office/powerpoint/2010/main" val="2187594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0C91-D2F6-2B76-5253-0CE0633E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3B00-C6F8-26B1-1B43-02C5D81B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verify K8s status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BF01B23-9101-E31A-A5E1-A3607ECA1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K8s requires some time to boot up the control plane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check the status of the control plane services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7151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get pods -A</a:t>
            </a:r>
          </a:p>
          <a:p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-A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shows resources from all the namespaces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wait that all the Pods are in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Running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Completed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update the status live:</a:t>
            </a:r>
          </a:p>
          <a:p>
            <a:pPr marL="0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watch "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get pods -A"</a:t>
            </a:r>
          </a:p>
          <a:p>
            <a:pPr marL="0" indent="0">
              <a:buNone/>
            </a:pP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401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73EF-8780-2065-A7A8-9B2D21F9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36D1-BBA2-A95F-FB06-4FA08DF3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create Namespaces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A755F4CA-B9ED-BD74-EE25-A63775B1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once the control plane is ready, we create our resources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two namespaces required by the microservices</a:t>
            </a:r>
          </a:p>
          <a:p>
            <a:pPr lvl="1"/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 </a:t>
            </a:r>
          </a:p>
          <a:p>
            <a:pPr lvl="1"/>
            <a:r>
              <a:rPr lang="en-US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ns.yaml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the Namespaces specification</a:t>
            </a:r>
          </a:p>
          <a:p>
            <a:pPr lvl="1"/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from now on, create files into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shared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on your host (with any text editor), so that they are accessible in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/shared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of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</p:txBody>
      </p:sp>
    </p:spTree>
    <p:extLst>
      <p:ext uri="{BB962C8B-B14F-4D97-AF65-F5344CB8AC3E}">
        <p14:creationId xmlns:p14="http://schemas.microsoft.com/office/powerpoint/2010/main" val="1803849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87D0-F905-9F57-94BE-78BB27C1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932A-8B1D-9E76-E90C-CB9A923A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create Namespaces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79451BC-2854-B54E-28AB-1D56B716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814673"/>
          </a:xfrm>
        </p:spPr>
        <p:txBody>
          <a:bodyPr/>
          <a:lstStyle/>
          <a:p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you can specify multiple resources in the same YAML file, by separating them with triple dashes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for the Namespaces: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95C1D9C1-39A5-92FE-4C81-6918C95215E4}"/>
              </a:ext>
            </a:extLst>
          </p:cNvPr>
          <p:cNvGrpSpPr>
            <a:grpSpLocks/>
          </p:cNvGrpSpPr>
          <p:nvPr/>
        </p:nvGrpSpPr>
        <p:grpSpPr bwMode="auto">
          <a:xfrm>
            <a:off x="1071821" y="3380595"/>
            <a:ext cx="5747659" cy="3049588"/>
            <a:chOff x="126" y="2432"/>
            <a:chExt cx="7604" cy="1921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3E15959-0105-D3B4-E506-B67609999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172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None/>
              </a:pP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apiVersion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 v1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kind: Namespace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metadata: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name: word-ns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---</a:t>
              </a:r>
            </a:p>
            <a:p>
              <a:pPr>
                <a:buNone/>
              </a:pP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apiVersion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 v1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kind: Namespace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metadata: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name: weather-ns</a:t>
              </a:r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C2EF781D-AF76-D952-EB54-DEC64ADDA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ns.yaml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8A81361-D0D4-A36E-66B1-1428C995BFF6}"/>
              </a:ext>
            </a:extLst>
          </p:cNvPr>
          <p:cNvSpPr txBox="1"/>
          <p:nvPr/>
        </p:nvSpPr>
        <p:spPr>
          <a:xfrm>
            <a:off x="6904183" y="4835106"/>
            <a:ext cx="4815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separates resources specifications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1D0124-2A1A-07F3-216F-6CBCB99DB4F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643865" y="5019772"/>
            <a:ext cx="52603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13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45183-1C39-05CF-A0EC-9A87C573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CE2C-7E4D-CB5D-6C67-E17B3170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deploy Namespaces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AC5F706-F674-B415-0CCC-6888C2AE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ns.yaml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ns.yaml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now check if the two Namespaces are created: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get namespaces</a:t>
            </a:r>
          </a:p>
          <a:p>
            <a:pPr marL="0" indent="0" algn="ctr">
              <a:buNone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get ns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48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D9D8-B692-06E4-1E64-3EBA5A8A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9D5E-5DDB-44D7-8E71-89862CA5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3: create </a:t>
            </a:r>
            <a:r>
              <a:rPr lang="en-GB" sz="4000" dirty="0" err="1"/>
              <a:t>PersistentVolumeClaims</a:t>
            </a:r>
            <a:endParaRPr lang="en-GB" sz="40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0591565-192C-DDB2-8FCC-9A98A7BAF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pvc.yaml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the PVC specification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worddb-pvc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err="1"/>
              <a:t>PersistentVolumeClaim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access mode is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ReadWriteOnce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request 1MB of storage (specified as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1Mi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class is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ssd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PV is already allocated in the lab</a:t>
            </a:r>
          </a:p>
        </p:txBody>
      </p:sp>
    </p:spTree>
    <p:extLst>
      <p:ext uri="{BB962C8B-B14F-4D97-AF65-F5344CB8AC3E}">
        <p14:creationId xmlns:p14="http://schemas.microsoft.com/office/powerpoint/2010/main" val="4027361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9A5A-4C89-7E37-7A52-817248BA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65CA8-2DED-2301-87A2-312DCF8B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3: create </a:t>
            </a:r>
            <a:r>
              <a:rPr lang="en-GB" sz="4000" dirty="0" err="1"/>
              <a:t>PersistentVolumeClaims</a:t>
            </a:r>
            <a:endParaRPr lang="en-GB" sz="40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7435B29-ABD0-D8E4-10A0-DDE27EAE3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weatherdb-pvc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err="1"/>
              <a:t>PersistentVolumeClaim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access mode is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ReadWriteOnce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request 1MB of storage (specified as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1Mi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class is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ssd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PV already allocated in the lab</a:t>
            </a:r>
          </a:p>
        </p:txBody>
      </p:sp>
    </p:spTree>
    <p:extLst>
      <p:ext uri="{BB962C8B-B14F-4D97-AF65-F5344CB8AC3E}">
        <p14:creationId xmlns:p14="http://schemas.microsoft.com/office/powerpoint/2010/main" val="639160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163F-A6BA-806B-E239-AED91062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53A7-AA5D-8CD8-B59C-7F98CA6C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3: deploy </a:t>
            </a:r>
            <a:r>
              <a:rPr lang="en-GB" sz="4000" dirty="0" err="1"/>
              <a:t>PersistentVolumeClaims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155AF30D-7493-6D9F-2530-353A36B35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pvc.yaml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pvc.yaml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now check if the two PVCs are created: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get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pvc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-n weather-ns get </a:t>
            </a:r>
            <a:r>
              <a:rPr lang="en-GB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pvc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B7B13-F4B8-CFE5-EE90-776398113FF0}"/>
              </a:ext>
            </a:extLst>
          </p:cNvPr>
          <p:cNvSpPr txBox="1"/>
          <p:nvPr/>
        </p:nvSpPr>
        <p:spPr>
          <a:xfrm>
            <a:off x="4903583" y="5941501"/>
            <a:ext cx="243497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the Namespace to query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D1D5B686-5CFE-0DB0-4B97-7C056F69B56D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6121071" y="5468208"/>
            <a:ext cx="0" cy="4732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DABEF8-F29C-CAD2-BC17-C93D40A2CD42}"/>
              </a:ext>
            </a:extLst>
          </p:cNvPr>
          <p:cNvSpPr/>
          <p:nvPr/>
        </p:nvSpPr>
        <p:spPr>
          <a:xfrm>
            <a:off x="4649540" y="5017429"/>
            <a:ext cx="2943062" cy="45077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84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9BB5-C4D5-B837-33DD-F151A71E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979D-C9E9-2D5D-2DB5-7E0FF4B0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4: create Services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9A5C65E-A349-B9F6-43F5-DC5039A2C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svc.yaml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dirty="0"/>
              <a:t>Service</a:t>
            </a:r>
          </a:p>
          <a:p>
            <a:pPr lvl="1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should forward traffic from port=5001 to container port=5000 with protocol TCP</a:t>
            </a:r>
          </a:p>
          <a:p>
            <a:pPr lvl="1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assign a node port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must be associated with Pods having the label</a:t>
            </a:r>
          </a:p>
          <a:p>
            <a:pPr marL="0" indent="0" algn="ctr">
              <a:buNone/>
            </a:pP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word</a:t>
            </a:r>
          </a:p>
          <a:p>
            <a:r>
              <a:rPr lang="en-GB" sz="2400" dirty="0"/>
              <a:t>do not specify a Service type </a:t>
            </a:r>
          </a:p>
          <a:p>
            <a:pPr lvl="1"/>
            <a:r>
              <a:rPr lang="en-GB" sz="2000" dirty="0"/>
              <a:t>it will be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ClusterIP</a:t>
            </a:r>
            <a:r>
              <a:rPr lang="en-GB" sz="2000" dirty="0"/>
              <a:t> by default</a:t>
            </a:r>
          </a:p>
          <a:p>
            <a:pPr lvl="1"/>
            <a:r>
              <a:rPr lang="en-GB" sz="2000" dirty="0"/>
              <a:t>we rely on the Ingress Controller to expose the Service</a:t>
            </a:r>
          </a:p>
        </p:txBody>
      </p:sp>
    </p:spTree>
    <p:extLst>
      <p:ext uri="{BB962C8B-B14F-4D97-AF65-F5344CB8AC3E}">
        <p14:creationId xmlns:p14="http://schemas.microsoft.com/office/powerpoint/2010/main" val="1499243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AEF9-D26A-36DB-EC3D-D6332216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72D4-A707-5214-7D0C-6A0DCB8D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4: create Services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3FAAD16-2CCC-8CF7-5E4B-6952C466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800" dirty="0"/>
              <a:t>Service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should forward traffic from port=5432 to container port=5432 with protocol TCP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assign a node port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must be associated with Pods having the label</a:t>
            </a:r>
          </a:p>
          <a:p>
            <a:pPr marL="0" indent="0" algn="ctr">
              <a:buNone/>
            </a:pP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/>
              <a:t>do not specify a Service type </a:t>
            </a:r>
          </a:p>
          <a:p>
            <a:pPr lvl="1"/>
            <a:r>
              <a:rPr lang="en-GB" sz="2400" dirty="0"/>
              <a:t>it will be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ClusterIP</a:t>
            </a:r>
            <a:r>
              <a:rPr lang="en-GB" sz="2400" dirty="0"/>
              <a:t> by default</a:t>
            </a:r>
          </a:p>
          <a:p>
            <a:pPr lvl="1"/>
            <a:r>
              <a:rPr lang="en-GB" sz="2400" dirty="0"/>
              <a:t>the database must be only accessible within the cluster </a:t>
            </a:r>
          </a:p>
          <a:p>
            <a:pPr lvl="2"/>
            <a:r>
              <a:rPr lang="en-GB" sz="2000" dirty="0"/>
              <a:t>by the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GB" sz="2000" dirty="0"/>
              <a:t> Service</a:t>
            </a:r>
          </a:p>
        </p:txBody>
      </p:sp>
    </p:spTree>
    <p:extLst>
      <p:ext uri="{BB962C8B-B14F-4D97-AF65-F5344CB8AC3E}">
        <p14:creationId xmlns:p14="http://schemas.microsoft.com/office/powerpoint/2010/main" val="2177592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E979F-8B29-A9BC-C2AF-39AAD9F2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849E-5EB6-E551-432B-A51B7ED8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4: create Services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8AD61193-7DDF-70D5-8828-6BFEC4DB8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800" dirty="0"/>
              <a:t>Service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should forward traffic from port=5001 to container port=5000 with protocol TCP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assign a node port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must be associated with Pods having the label</a:t>
            </a:r>
          </a:p>
          <a:p>
            <a:pPr marL="0" indent="0" algn="ctr">
              <a:buNone/>
            </a:pP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weather</a:t>
            </a:r>
          </a:p>
          <a:p>
            <a:r>
              <a:rPr lang="en-GB" sz="2800" dirty="0"/>
              <a:t>do not specify a Service type </a:t>
            </a:r>
          </a:p>
          <a:p>
            <a:pPr lvl="1"/>
            <a:r>
              <a:rPr lang="en-GB" sz="2400" dirty="0"/>
              <a:t>it will be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ClusterIP</a:t>
            </a:r>
            <a:r>
              <a:rPr lang="en-GB" sz="2400" dirty="0"/>
              <a:t> by default</a:t>
            </a:r>
          </a:p>
          <a:p>
            <a:pPr lvl="1"/>
            <a:r>
              <a:rPr lang="en-GB" sz="2400" dirty="0"/>
              <a:t>we rely on the Ingress Controller to expose the Service</a:t>
            </a:r>
          </a:p>
        </p:txBody>
      </p:sp>
    </p:spTree>
    <p:extLst>
      <p:ext uri="{BB962C8B-B14F-4D97-AF65-F5344CB8AC3E}">
        <p14:creationId xmlns:p14="http://schemas.microsoft.com/office/powerpoint/2010/main" val="22374916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45FB-78CB-02DF-A846-D3A44E17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4D1B-F2D7-8C3F-5E92-F4502FE7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4: create Services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334C7975-8414-C898-5C5C-64E54FDA9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800" dirty="0"/>
              <a:t>Service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should forward traffic from port=5432 to container port=5432 with protocol TCP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assign a node port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 must be associated with Pods having the label</a:t>
            </a:r>
          </a:p>
          <a:p>
            <a:pPr marL="0" indent="0" algn="ctr">
              <a:buNone/>
            </a:pP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/>
              <a:t>do not specify a Service type </a:t>
            </a:r>
          </a:p>
          <a:p>
            <a:pPr lvl="1"/>
            <a:r>
              <a:rPr lang="en-GB" sz="2400" dirty="0"/>
              <a:t>it will be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ClusterIP</a:t>
            </a:r>
            <a:r>
              <a:rPr lang="en-GB" sz="2400" dirty="0"/>
              <a:t> by default</a:t>
            </a:r>
          </a:p>
          <a:p>
            <a:pPr lvl="1"/>
            <a:r>
              <a:rPr lang="en-GB" sz="2400" dirty="0"/>
              <a:t>the database must be only accessible within the cluster </a:t>
            </a:r>
          </a:p>
          <a:p>
            <a:pPr lvl="2"/>
            <a:r>
              <a:rPr lang="en-GB" sz="2000" dirty="0"/>
              <a:t>by the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weather</a:t>
            </a:r>
            <a:r>
              <a:rPr lang="en-GB" sz="2000" dirty="0"/>
              <a:t> Service</a:t>
            </a:r>
          </a:p>
        </p:txBody>
      </p:sp>
    </p:spTree>
    <p:extLst>
      <p:ext uri="{BB962C8B-B14F-4D97-AF65-F5344CB8AC3E}">
        <p14:creationId xmlns:p14="http://schemas.microsoft.com/office/powerpoint/2010/main" val="1853097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E76A-AF60-36F9-E59E-C4D148DF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052A-668F-C816-37D8-A3AC3DC2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4: deploy and inspect Services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1190A8-5D54-0A17-AEFA-2A9F1119C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svc.yaml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svc.yaml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now check several things: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Services are created</a:t>
            </a:r>
          </a:p>
          <a:p>
            <a:pPr lvl="2"/>
            <a:r>
              <a:rPr lang="en-GB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get svc -o wide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 should be </a:t>
            </a:r>
            <a:r>
              <a:rPr lang="en-GB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ClusterIP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has a “CLUSTER-IP” assigned, which is the Service IP reachable within the cluster</a:t>
            </a:r>
          </a:p>
          <a:p>
            <a:pPr lvl="2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“EXTERNAL-IP” should be assigned (the Service is not exposed to the outside)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port mapping correct?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selector working? is it associated with the correct Pod label?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B99D5-D4E6-4AD8-9BFA-57D2E9EAB0A6}"/>
              </a:ext>
            </a:extLst>
          </p:cNvPr>
          <p:cNvSpPr txBox="1"/>
          <p:nvPr/>
        </p:nvSpPr>
        <p:spPr>
          <a:xfrm>
            <a:off x="7152608" y="3215162"/>
            <a:ext cx="243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detailed output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B72692AD-9895-5F98-9AD1-AE55CDA40E0A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8370096" y="3584494"/>
            <a:ext cx="0" cy="261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FEE4015-FD18-EBCF-70B6-D59CB5B662CF}"/>
              </a:ext>
            </a:extLst>
          </p:cNvPr>
          <p:cNvSpPr/>
          <p:nvPr/>
        </p:nvSpPr>
        <p:spPr>
          <a:xfrm>
            <a:off x="7812965" y="3845732"/>
            <a:ext cx="1114262" cy="45077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37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D384-C0CD-2026-68B8-A67C70A4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54E9-17A8-AC48-51E8-53F4AE13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create database Deployments (1)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FB383B17-A446-822E-2D69-005435D09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deploy_db.yaml</a:t>
            </a: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worddb-dply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Deployment</a:t>
            </a:r>
          </a:p>
          <a:p>
            <a:pPr lvl="1"/>
            <a:r>
              <a:rPr lang="en-GB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1 Pod replica</a:t>
            </a: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use the image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</a:t>
            </a:r>
            <a:endParaRPr lang="en-GB" sz="20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expose port 5432</a:t>
            </a: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mount a volume in 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/var/lib/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postgresql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/data</a:t>
            </a:r>
          </a:p>
          <a:p>
            <a:pPr lvl="1"/>
            <a:r>
              <a:rPr lang="en-GB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 the volume a name of your choice (</a:t>
            </a:r>
            <a:r>
              <a:rPr lang="en-GB" sz="1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</a:t>
            </a:r>
            <a:r>
              <a:rPr lang="en-GB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1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</a:t>
            </a:r>
            <a:r>
              <a:rPr lang="en-GB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-storage</a:t>
            </a:r>
            <a:r>
              <a:rPr lang="en-GB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containers’ definition, give the container a name of your choice </a:t>
            </a:r>
          </a:p>
          <a:p>
            <a:pPr lvl="1"/>
            <a:r>
              <a:rPr lang="en-GB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</a:t>
            </a:r>
            <a:r>
              <a:rPr lang="en-GB" sz="1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</a:t>
            </a:r>
            <a:r>
              <a:rPr lang="en-GB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-container</a:t>
            </a:r>
            <a:endParaRPr lang="en-GB" sz="20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is connected to the PVC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worddb-pvc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</a:t>
            </a:r>
          </a:p>
          <a:p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should match Pod containers with the label</a:t>
            </a:r>
          </a:p>
          <a:p>
            <a:pPr marL="0" indent="0" algn="ctr">
              <a:buNone/>
            </a:pP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worddb</a:t>
            </a:r>
            <a:endParaRPr lang="en-GB" sz="20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3757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C40E-4415-8C80-629B-D0E4F1CE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A88D-E88A-DCCB-10B1-E3328F38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create database Deployments (2)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89104A0F-DB13-12BE-4209-5BF8295EB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032472"/>
          </a:xfrm>
        </p:spPr>
        <p:txBody>
          <a:bodyPr/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image requires some environment variables to work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into the Pod container definition, after defining the port, add the following</a:t>
            </a: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5ABFDF1-CE13-EAAB-BCFA-04F6D9161EC2}"/>
              </a:ext>
            </a:extLst>
          </p:cNvPr>
          <p:cNvGrpSpPr>
            <a:grpSpLocks/>
          </p:cNvGrpSpPr>
          <p:nvPr/>
        </p:nvGrpSpPr>
        <p:grpSpPr bwMode="auto">
          <a:xfrm>
            <a:off x="3222170" y="2598394"/>
            <a:ext cx="5747659" cy="3719513"/>
            <a:chOff x="126" y="2432"/>
            <a:chExt cx="7604" cy="2343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92797792-2CC2-E92E-F9A4-1578B7E22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2149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ports: 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- 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containerPort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 5432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env: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POSTGRES_DB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</a:t>
              </a:r>
              <a:r>
                <a:rPr lang="en-US" sz="1600" b="1" dirty="0" err="1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worddb</a:t>
              </a: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POSTGRES_USER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root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POSTGRES_PASSWORD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root</a:t>
              </a:r>
            </a:p>
          </p:txBody>
        </p:sp>
        <p:sp>
          <p:nvSpPr>
            <p:cNvPr id="5" name="AutoShape 9">
              <a:extLst>
                <a:ext uri="{FF2B5EF4-FFF2-40B4-BE49-F238E27FC236}">
                  <a16:creationId xmlns:a16="http://schemas.microsoft.com/office/drawing/2014/main" id="{0D59E6DC-0FF1-DFEE-396F-1F5AE5993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deploy_db.yaml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0072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B170-324C-9420-5882-E0696582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7562-0352-A65A-6A38-FC22BB44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create database Deployments (3)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F8715867-9998-6D22-840C-283ADE46E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weatherdb-dply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Deployment</a:t>
            </a:r>
          </a:p>
          <a:p>
            <a:pPr lvl="1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1 Pod replica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use the image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</a:t>
            </a:r>
            <a:endParaRPr lang="en-GB" sz="24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expose port 5432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 containers must mount a volume in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/var/lib/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postgresql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/data</a:t>
            </a:r>
          </a:p>
          <a:p>
            <a:pPr lvl="1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 the volume a name of your choice (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-storage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containers’ definition, give the container a name of your choice </a:t>
            </a:r>
          </a:p>
          <a:p>
            <a:pPr lvl="1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</a:t>
            </a:r>
            <a:r>
              <a:rPr lang="en-GB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</a:t>
            </a:r>
            <a:r>
              <a:rPr lang="en-GB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-container</a:t>
            </a:r>
            <a:endParaRPr lang="en-GB" sz="24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is connected to the PVC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weatherdb-pvc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should match Pod containers with the label</a:t>
            </a:r>
          </a:p>
          <a:p>
            <a:pPr marL="0" indent="0" algn="ctr">
              <a:buNone/>
            </a:pP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</a:t>
            </a:r>
            <a:r>
              <a:rPr lang="en-GB" sz="24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weatherdb</a:t>
            </a:r>
            <a:endParaRPr lang="en-GB" sz="24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6769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3EF5-3A61-095B-3495-1AFDD262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D930-D5A9-2C78-FFEE-BF2B5B6E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create database Deployments (4)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4431C1B-1AF0-E5B8-CEA4-06767840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032472"/>
          </a:xfrm>
        </p:spPr>
        <p:txBody>
          <a:bodyPr/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into the Pod container definition, after defining the port, add the following</a:t>
            </a: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B387303B-8993-719C-12BD-C7D270DB369E}"/>
              </a:ext>
            </a:extLst>
          </p:cNvPr>
          <p:cNvGrpSpPr>
            <a:grpSpLocks/>
          </p:cNvGrpSpPr>
          <p:nvPr/>
        </p:nvGrpSpPr>
        <p:grpSpPr bwMode="auto">
          <a:xfrm>
            <a:off x="3222170" y="2372363"/>
            <a:ext cx="5747659" cy="3719513"/>
            <a:chOff x="126" y="2432"/>
            <a:chExt cx="7604" cy="2343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22E8F6B5-6716-1CD8-2210-F09998F26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2149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ports: </a:t>
              </a:r>
            </a:p>
            <a:p>
              <a:pPr>
                <a:buNone/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- 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containerPort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 5432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env: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POSTGRES_DB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</a:t>
              </a:r>
              <a:r>
                <a:rPr lang="en-US" sz="1600" b="1" dirty="0" err="1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weatherdb</a:t>
              </a: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POSTGRES_USER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root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- name: POSTGRES_PASSWORD </a:t>
              </a:r>
            </a:p>
            <a:p>
              <a:pPr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value: root</a:t>
              </a:r>
            </a:p>
          </p:txBody>
        </p:sp>
        <p:sp>
          <p:nvSpPr>
            <p:cNvPr id="5" name="AutoShape 9">
              <a:extLst>
                <a:ext uri="{FF2B5EF4-FFF2-40B4-BE49-F238E27FC236}">
                  <a16:creationId xmlns:a16="http://schemas.microsoft.com/office/drawing/2014/main" id="{5602EDF9-4B2C-5AFD-F4F4-637C17F63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deploy_db.yaml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3851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E00C-79DB-0FFA-16A9-82D5D350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8665-4A66-CC55-DBDF-38CE5F46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deploy and inspect Deployments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A299A9D-B722-1D10-F025-C4D180FA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deploy_db.yaml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deploy_db.yaml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dig into the Deployments later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1858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C635-F72E-38EC-5FB1-0DC3A470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5C30-834B-009A-1144-D6C860E3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create app. Deployments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15096B24-A0AD-D482-E9A6-BCD56AEC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deploy_app.yaml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dply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Deployment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2 Pod replicas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Pod containers must use the image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ik2227/word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Pod containers must expose port 5000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containers’ definition, give the container a name of your choice 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word-container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should match Pod containers with the label</a:t>
            </a:r>
          </a:p>
          <a:p>
            <a:pPr marL="0" indent="0" algn="ctr">
              <a:buNone/>
            </a:pP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word</a:t>
            </a:r>
          </a:p>
        </p:txBody>
      </p:sp>
    </p:spTree>
    <p:extLst>
      <p:ext uri="{BB962C8B-B14F-4D97-AF65-F5344CB8AC3E}">
        <p14:creationId xmlns:p14="http://schemas.microsoft.com/office/powerpoint/2010/main" val="175323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BF68-DB25-0C65-31B8-A3FC66DE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404B-2813-246B-F0E1-48A0FD4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create app. Deployments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0C29BF68-C8DF-746A-F2EC-ADAF83EFB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dply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Deployment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2 Pod replicas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Pod containers must use the image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ik2227/weather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Pod containers must expose port 5000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containers’ definition, give the container a name of your choice 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weather-container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should match Pod containers with the label</a:t>
            </a:r>
          </a:p>
          <a:p>
            <a:pPr marL="0" indent="0" algn="ctr">
              <a:buNone/>
            </a:pP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app: weather</a:t>
            </a:r>
          </a:p>
        </p:txBody>
      </p:sp>
    </p:spTree>
    <p:extLst>
      <p:ext uri="{BB962C8B-B14F-4D97-AF65-F5344CB8AC3E}">
        <p14:creationId xmlns:p14="http://schemas.microsoft.com/office/powerpoint/2010/main" val="1438348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E6CD-2E89-0BFA-22AF-5888E4338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3417-A082-DCB3-FB1C-DD778572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deploy and inspect Deployments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009251C-AC82-719E-D4A1-77FB0BB21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deploy_app.yaml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deploy_app.yaml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now check several things: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Deployments are created</a:t>
            </a:r>
          </a:p>
          <a:p>
            <a:pPr lvl="2"/>
            <a:r>
              <a:rPr lang="en-GB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get deploy -o wide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number of replicas and how many are ready</a:t>
            </a:r>
          </a:p>
          <a:p>
            <a:pPr lvl="2"/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Deployment is healthy when “READY” and “AVAILABLE” are the same number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container image and if the label selector matches what you defined in the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328621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2EED-4F37-5C83-1FAC-78676F52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96B8-9569-C5B1-7591-03D6BED9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deploy and inspect Deployments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A7A8FE9-113B-0CC9-CB4E-64E39E49D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Pods composing the Deployment</a:t>
            </a:r>
          </a:p>
          <a:p>
            <a:pPr marL="0" indent="0" algn="ctr">
              <a:buNone/>
            </a:pP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get pods -o wide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 Pods healthy (status should be “Running”)?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number of Pods matching the number of replicas of each Deployment?</a:t>
            </a:r>
          </a:p>
          <a:p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from the “IP” and “NODE” columns, you can get information about the IP of the Pod in the Pod subnet and the worker node where the Pod is running!</a:t>
            </a:r>
          </a:p>
        </p:txBody>
      </p:sp>
    </p:spTree>
    <p:extLst>
      <p:ext uri="{BB962C8B-B14F-4D97-AF65-F5344CB8AC3E}">
        <p14:creationId xmlns:p14="http://schemas.microsoft.com/office/powerpoint/2010/main" val="35188627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B328C-A5E3-5A9E-DCFF-1D5C519C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627D-8E6E-5144-F882-E5A3218A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5: deploy and inspect Services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6CD3252-C12B-3726-EBCF-8BCE9CF3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now inspect the connection between Services and Deployments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detailed information of a Service of your choice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describe svc &lt;name&gt;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example: 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describe svc word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command will show detailed information of the Service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“Endpoints” row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number of listed endpoints correct (it is connected to the number of replicas of the Deployment)?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which entities are the IPs listed associated?</a:t>
            </a:r>
          </a:p>
        </p:txBody>
      </p:sp>
    </p:spTree>
    <p:extLst>
      <p:ext uri="{BB962C8B-B14F-4D97-AF65-F5344CB8AC3E}">
        <p14:creationId xmlns:p14="http://schemas.microsoft.com/office/powerpoint/2010/main" val="14888231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A478-643F-FEFF-714D-DB7B6E43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2CE9-C7A2-AC60-FF2D-FC8ECC14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6: create Ingress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102D5A41-F444-46AB-BCDA-63ADF2ECF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ing.yaml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Ingress rule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rule must match the host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datacenter.com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rule must match the prefix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/word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forward to the service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 port=5001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ingressClassName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nginx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it’s the Ingress Controller deployed in the lab</a:t>
            </a:r>
          </a:p>
        </p:txBody>
      </p:sp>
    </p:spTree>
    <p:extLst>
      <p:ext uri="{BB962C8B-B14F-4D97-AF65-F5344CB8AC3E}">
        <p14:creationId xmlns:p14="http://schemas.microsoft.com/office/powerpoint/2010/main" val="20539818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8E41-DFC3-AF3E-9DA7-D7E3361E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C3D2-38F6-5FA2-F9C5-1911D7F0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6: create Ingress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C4BCE829-BD2B-0A76-8200-507E7EA8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YAML file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ing.yaml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Ingress rule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should be assigned to the Namespace </a:t>
            </a:r>
            <a:r>
              <a:rPr lang="en-GB" sz="24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weather-ns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rule must match the host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datacenter.com</a:t>
            </a:r>
            <a:endParaRPr lang="en-GB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rule must match the prefix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/weather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forward to the service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weather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 port=5001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ingressClassName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nginx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it’s the Ingress Controller deployed in the lab</a:t>
            </a:r>
            <a:endParaRPr lang="en-GB" sz="24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8365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770C-0A5C-4DB7-D1E5-6DA968FE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B9E0-0BDA-ED7C-AE70-684A9777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6: deploy Ingress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C2AB0963-E512-7769-78AB-2B7D51D3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filling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ing.yaml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let’s deploy it in K8s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pPr marL="0" indent="0" algn="ctr">
              <a:buNone/>
            </a:pP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ing.yaml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now check if the Ingress is created: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get ingress -o wide</a:t>
            </a:r>
          </a:p>
        </p:txBody>
      </p:sp>
    </p:spTree>
    <p:extLst>
      <p:ext uri="{BB962C8B-B14F-4D97-AF65-F5344CB8AC3E}">
        <p14:creationId xmlns:p14="http://schemas.microsoft.com/office/powerpoint/2010/main" val="10952224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1A66-272D-FDF4-ADC5-669BF28E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8AEA-9C9B-1BB9-3C84-E80829B9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6: inspect Ingress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389CBDEA-1390-D854-0FA8-987638177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detailed information of the Ingress</a:t>
            </a:r>
          </a:p>
          <a:p>
            <a:pPr marL="0" indent="0" algn="ctr">
              <a:buNone/>
            </a:pP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(or weather-ns) describe ingress &lt;name&gt;</a:t>
            </a:r>
          </a:p>
          <a:p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example: </a:t>
            </a:r>
          </a:p>
          <a:p>
            <a:pPr lvl="1"/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describe ingress word-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ing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check all the rules under the “Rules” entry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 rules correct?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each path pointing to the right backend? to the right port?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 IP addresses listed correct (for each Service)?</a:t>
            </a:r>
          </a:p>
        </p:txBody>
      </p:sp>
    </p:spTree>
    <p:extLst>
      <p:ext uri="{BB962C8B-B14F-4D97-AF65-F5344CB8AC3E}">
        <p14:creationId xmlns:p14="http://schemas.microsoft.com/office/powerpoint/2010/main" val="7233035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0D5B-AD1E-138F-9309-AD1DFA2C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2DD2-629B-FA92-0C04-03B241E8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7: testing!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434E7B8-2743-C779-743E-8E7FD0678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services are now correctly deployed and exposed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run: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curl http://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datacenter.com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/word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JSON list of 5 words will be printed on screen!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run: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curl http://datacenter.com/weather?location=Rome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JSON with the weather forecast for Rome will be printed on screen!</a:t>
            </a:r>
          </a:p>
        </p:txBody>
      </p:sp>
    </p:spTree>
    <p:extLst>
      <p:ext uri="{BB962C8B-B14F-4D97-AF65-F5344CB8AC3E}">
        <p14:creationId xmlns:p14="http://schemas.microsoft.com/office/powerpoint/2010/main" val="30769256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2C0D-96F2-B624-537A-D7831FDC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C941-8497-E6F7-E0C0-6080F7B5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8: Deployment update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2D7FAD85-A4DC-76AA-BDFB-1753CB15C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assume that we want to roll an update for the </a:t>
            </a:r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 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 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to swap it with the </a:t>
            </a:r>
            <a:r>
              <a:rPr lang="en-GB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drow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service</a:t>
            </a:r>
          </a:p>
          <a:p>
            <a:pPr lvl="1"/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retrieves 5 random reversed words from the </a:t>
            </a:r>
            <a:r>
              <a:rPr lang="en-US" sz="2400" dirty="0" err="1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r>
              <a:rPr lang="en-US" sz="24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file </a:t>
            </a:r>
            <a:r>
              <a:rPr lang="en-US" sz="28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deploy_app_rev.yaml</a:t>
            </a:r>
            <a:endParaRPr lang="en-US" sz="2800" dirty="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the </a:t>
            </a:r>
            <a:r>
              <a:rPr lang="en-US" sz="28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</a:t>
            </a:r>
            <a:r>
              <a:rPr lang="en-US" sz="28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dply</a:t>
            </a:r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from the </a:t>
            </a:r>
            <a:r>
              <a:rPr lang="en-US" sz="28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deploy_app.yaml</a:t>
            </a:r>
            <a:endParaRPr lang="en-US" sz="2800" dirty="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image to </a:t>
            </a:r>
            <a:r>
              <a:rPr lang="en-US" sz="28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ik2227/</a:t>
            </a:r>
            <a:r>
              <a:rPr lang="en-US" sz="28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drow</a:t>
            </a:r>
            <a:endParaRPr lang="en-US" sz="2800" dirty="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619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6E89-F4D4-E610-CA3A-5821FA98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D463-F5E8-62C8-B8D4-C89BD39D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8: Deployment update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CED388F-DA12-E953-B69A-66594FD0B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another terminal connect to the </a:t>
            </a:r>
            <a:r>
              <a:rPr lang="en-US" sz="2800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controller</a:t>
            </a:r>
          </a:p>
          <a:p>
            <a:pPr marL="0" indent="0" algn="ctr">
              <a:buNone/>
            </a:pPr>
            <a:r>
              <a:rPr lang="en-US" sz="28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kathara</a:t>
            </a:r>
            <a:r>
              <a:rPr lang="en-US" sz="2800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connect controller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 the resources of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word-ns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namespace:</a:t>
            </a:r>
          </a:p>
          <a:p>
            <a:pPr marL="0" indent="0" algn="ctr">
              <a:buNone/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watch "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-n word-ns get all -o wide"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 the Deployment (without stopping the watch):</a:t>
            </a:r>
          </a:p>
          <a:p>
            <a:pPr marL="0" indent="0" algn="ctr">
              <a:buNone/>
            </a:pP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apply -f /shared/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deploy_app_rev.yaml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 the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word-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dply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Deployment and the associated Pods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new Deployment rolling incrementally?</a:t>
            </a:r>
          </a:p>
          <a:p>
            <a:pPr lvl="2"/>
            <a:r>
              <a:rPr lang="en-GB" sz="20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check the status of the rollout by checking the </a:t>
            </a:r>
            <a:r>
              <a:rPr lang="en-GB" sz="2000" dirty="0" err="1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replicaset.apps</a:t>
            </a:r>
            <a:r>
              <a:rPr lang="en-GB" sz="20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section</a:t>
            </a:r>
          </a:p>
          <a:p>
            <a:pPr lvl="2"/>
            <a:r>
              <a:rPr lang="en-GB" sz="2000" noProof="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at the “IMAGES” </a:t>
            </a:r>
            <a:r>
              <a:rPr lang="en-GB" sz="20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 to distinguish the two Deployment versions</a:t>
            </a:r>
            <a:endParaRPr lang="en-US" sz="2000" noProof="0" dirty="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0871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31CE-1ECF-6843-5A62-20725C31F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ACAE-DC54-C67F-9E7D-6B081B0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8: Deployment update</a:t>
            </a:r>
            <a:endParaRPr lang="en-GB" sz="4400" dirty="0"/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C511DE37-8F78-3272-6F54-D9FD45878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the new Deployment is ready, focus on </a:t>
            </a:r>
            <a:r>
              <a:rPr lang="en-US" sz="2800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</a:t>
            </a:r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</a:t>
            </a:r>
            <a:r>
              <a:rPr lang="en-GB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GB" sz="280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curl 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http://</a:t>
            </a:r>
            <a:r>
              <a:rPr lang="en-GB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datacenter.com</a:t>
            </a:r>
            <a:r>
              <a:rPr lang="en-GB" sz="2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/word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JSON list of 5 reversed words will be printed on screen!</a:t>
            </a:r>
          </a:p>
        </p:txBody>
      </p:sp>
    </p:spTree>
    <p:extLst>
      <p:ext uri="{BB962C8B-B14F-4D97-AF65-F5344CB8AC3E}">
        <p14:creationId xmlns:p14="http://schemas.microsoft.com/office/powerpoint/2010/main" val="40987004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AD-7AFA-D51E-B88F-9CCCB6A3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9040-1F0B-A446-4435-28D82FC7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899B9F9-570E-7981-C334-C80F11DE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3420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Kathara Template.potx" id="{67086D06-3C1B-4740-8490-890E3B31593B}" vid="{4E3C4B13-5F46-4568-B1F8-FF7AEBCEBC5E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</Template>
  <TotalTime>8155</TotalTime>
  <Words>5152</Words>
  <Application>Microsoft Macintosh PowerPoint</Application>
  <PresentationFormat>Widescreen</PresentationFormat>
  <Paragraphs>973</Paragraphs>
  <Slides>74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Consolas</vt:lpstr>
      <vt:lpstr>Courier New</vt:lpstr>
      <vt:lpstr>Tahoma</vt:lpstr>
      <vt:lpstr>Wingdings</vt:lpstr>
      <vt:lpstr>slides-template</vt:lpstr>
      <vt:lpstr>1_slides-template</vt:lpstr>
      <vt:lpstr>IK2227 – Lab 3: Kubernetes</vt:lpstr>
      <vt:lpstr>recap on Kubernetes</vt:lpstr>
      <vt:lpstr>Kubernetes at high-level</vt:lpstr>
      <vt:lpstr>Kubernetes Controller node</vt:lpstr>
      <vt:lpstr>Kubernetes Worker node</vt:lpstr>
      <vt:lpstr>main Kubernetes resources</vt:lpstr>
      <vt:lpstr>Pod</vt:lpstr>
      <vt:lpstr>example Pod</vt:lpstr>
      <vt:lpstr>example Pod definition</vt:lpstr>
      <vt:lpstr>example Pod definition</vt:lpstr>
      <vt:lpstr>Deployment</vt:lpstr>
      <vt:lpstr>example Deployment</vt:lpstr>
      <vt:lpstr>example Deployment</vt:lpstr>
      <vt:lpstr>example Deployment definition</vt:lpstr>
      <vt:lpstr>Service</vt:lpstr>
      <vt:lpstr>types of Service</vt:lpstr>
      <vt:lpstr>types of Service</vt:lpstr>
      <vt:lpstr>types of Service – NodePort drawbacks</vt:lpstr>
      <vt:lpstr>types of Service</vt:lpstr>
      <vt:lpstr>example Service definition</vt:lpstr>
      <vt:lpstr>example Service definition</vt:lpstr>
      <vt:lpstr>Ingress</vt:lpstr>
      <vt:lpstr>example of Ingress</vt:lpstr>
      <vt:lpstr>example of Ingress</vt:lpstr>
      <vt:lpstr>example of Ingress</vt:lpstr>
      <vt:lpstr>example Ingress definition</vt:lpstr>
      <vt:lpstr>PersistentVolumeClaim (PVC)</vt:lpstr>
      <vt:lpstr>example of PersistentVolumeClaim</vt:lpstr>
      <vt:lpstr>example PVC definition</vt:lpstr>
      <vt:lpstr>assign PVC to Pod</vt:lpstr>
      <vt:lpstr>Namespace</vt:lpstr>
      <vt:lpstr>example of Namespace</vt:lpstr>
      <vt:lpstr>example Namespace definition</vt:lpstr>
      <vt:lpstr>lab deep dive</vt:lpstr>
      <vt:lpstr>lab pre-conditions</vt:lpstr>
      <vt:lpstr>lab topology</vt:lpstr>
      <vt:lpstr>before starting…</vt:lpstr>
      <vt:lpstr>interacting with K8s</vt:lpstr>
      <vt:lpstr>goal of the lab</vt:lpstr>
      <vt:lpstr>overview of the deployment</vt:lpstr>
      <vt:lpstr>overview of the deployment</vt:lpstr>
      <vt:lpstr>start the lab</vt:lpstr>
      <vt:lpstr>task 1: verify K8s status</vt:lpstr>
      <vt:lpstr>task 1: verify K8s status</vt:lpstr>
      <vt:lpstr>task 2: create Namespaces</vt:lpstr>
      <vt:lpstr>task 2: create Namespaces</vt:lpstr>
      <vt:lpstr>task 2: deploy Namespaces</vt:lpstr>
      <vt:lpstr>task 3: create PersistentVolumeClaims</vt:lpstr>
      <vt:lpstr>task 3: create PersistentVolumeClaims</vt:lpstr>
      <vt:lpstr>task 3: deploy PersistentVolumeClaims</vt:lpstr>
      <vt:lpstr>task 4: create Services</vt:lpstr>
      <vt:lpstr>task 4: create Services</vt:lpstr>
      <vt:lpstr>task 4: create Services</vt:lpstr>
      <vt:lpstr>task 4: create Services</vt:lpstr>
      <vt:lpstr>task 4: deploy and inspect Services</vt:lpstr>
      <vt:lpstr>task 5: create database Deployments (1)</vt:lpstr>
      <vt:lpstr>task 5: create database Deployments (2)</vt:lpstr>
      <vt:lpstr>task 5: create database Deployments (3)</vt:lpstr>
      <vt:lpstr>task 5: create database Deployments (4)</vt:lpstr>
      <vt:lpstr>task 5: deploy and inspect Deployments</vt:lpstr>
      <vt:lpstr>task 5: create app. Deployments</vt:lpstr>
      <vt:lpstr>task 5: create app. Deployments</vt:lpstr>
      <vt:lpstr>task 5: deploy and inspect Deployments</vt:lpstr>
      <vt:lpstr>task 5: deploy and inspect Deployments</vt:lpstr>
      <vt:lpstr>task 5: deploy and inspect Services</vt:lpstr>
      <vt:lpstr>task 6: create Ingress</vt:lpstr>
      <vt:lpstr>task 6: create Ingress</vt:lpstr>
      <vt:lpstr>task 6: deploy Ingress</vt:lpstr>
      <vt:lpstr>task 6: inspect Ingress</vt:lpstr>
      <vt:lpstr>task 7: testing!</vt:lpstr>
      <vt:lpstr>task 8: Deployment update</vt:lpstr>
      <vt:lpstr>task 8: Deployment update</vt:lpstr>
      <vt:lpstr>task 8: Deployment update</vt:lpstr>
      <vt:lpstr>stop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</dc:creator>
  <cp:lastModifiedBy>Mariano Scazzariello</cp:lastModifiedBy>
  <cp:revision>144</cp:revision>
  <cp:lastPrinted>2022-12-21T17:46:04Z</cp:lastPrinted>
  <dcterms:created xsi:type="dcterms:W3CDTF">1601-01-01T00:00:00Z</dcterms:created>
  <dcterms:modified xsi:type="dcterms:W3CDTF">2025-02-22T18:49:51Z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680afd86-dcf7-4483-b9eb-5af1dcd104e1_Enabled">
    <vt:lpwstr>true</vt:lpwstr>
  </property>
  <property fmtid="{D5CDD505-2E9C-101B-9397-08002B2CF9AE}" pid="4" name="MSIP_Label_680afd86-dcf7-4483-b9eb-5af1dcd104e1_SetDate">
    <vt:lpwstr>2025-02-03T09:09:09Z</vt:lpwstr>
  </property>
  <property fmtid="{D5CDD505-2E9C-101B-9397-08002B2CF9AE}" pid="5" name="MSIP_Label_680afd86-dcf7-4483-b9eb-5af1dcd104e1_Method">
    <vt:lpwstr>Standard</vt:lpwstr>
  </property>
  <property fmtid="{D5CDD505-2E9C-101B-9397-08002B2CF9AE}" pid="6" name="MSIP_Label_680afd86-dcf7-4483-b9eb-5af1dcd104e1_Name">
    <vt:lpwstr>K2 Intern</vt:lpwstr>
  </property>
  <property fmtid="{D5CDD505-2E9C-101B-9397-08002B2CF9AE}" pid="7" name="MSIP_Label_680afd86-dcf7-4483-b9eb-5af1dcd104e1_SiteId">
    <vt:lpwstr>5a9809cf-0bcb-413a-838a-09ecc40cc9e8</vt:lpwstr>
  </property>
  <property fmtid="{D5CDD505-2E9C-101B-9397-08002B2CF9AE}" pid="8" name="MSIP_Label_680afd86-dcf7-4483-b9eb-5af1dcd104e1_ActionId">
    <vt:lpwstr>4d0b69d4-1706-4eb2-bde5-34bf0753f193</vt:lpwstr>
  </property>
  <property fmtid="{D5CDD505-2E9C-101B-9397-08002B2CF9AE}" pid="9" name="MSIP_Label_680afd86-dcf7-4483-b9eb-5af1dcd104e1_ContentBits">
    <vt:lpwstr>0</vt:lpwstr>
  </property>
</Properties>
</file>